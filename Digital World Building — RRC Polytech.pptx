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hands-on: by the end you'll have scoped a world of your own and built it in the browser, no code needed. First, some foundations: what digital worlds are, where the metaverse idea came from, how worlds tell stories, and who owns what inside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I'm a hands-on developer who started a studio. BSD XR does applied AI and spatial computing for construction, aerospace, mining, defence and utilities, plus a lot of education work. I teach in the ACE Project Space here at RRC Polytech and chair New Media Manitoba. Today I'll show you how we think about building worlds, then you'll build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version of my story. Tell it in your own words: how you got into development, why you started BSD XR, a project that changed things. The point for students: the path wasn't planned, and the skills you're building today are the same ones I use. The 4 Ds come back in Part 2 when we scope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Part 1 is about 50 minutes of context so we share a vocabulary. Part 2 is hands-on in groups of three. You'll leave with a World Brief of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definition for today. The key word is "in". A world gives you presence and agency. It has rules, even if the only rule is gravity. And it has a purpose, whether that's fun, learning, training or connection. Ask: what's a digital world you've spent real time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craft, different purposes. Every image here is a world BSD XR has built or worked on. Notice that most of these aren't games: they're for learning, training, gathering and remembering. The skills transfer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these five in mind. We'll expand them into ten design considerations in Part 2. Presence is the one that's unique to worlds: a feeling of being somewhere, which VR makes stronger but a good desktop world can create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is older than most of you. Stephenson imagined a single shared virtual street. Since then we've had waves: Second Life's virtual economy, Roblox and Minecraft turning players into creators, Fortnite turning a game into a venue, the 2021 hype peak when Facebook became Meta, and now the industry mostly says "spatial computing" instead. The idea keeps coming back because people keep wanting shared places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Matthew Ball's definition is the most useful one I know. Most worlds today hit the first four. The last two, interoperability and continuity, are the hard part, and they're mostly unsolved: your Roblox avatar doesn't walk into Fortnite. That gap is exactly where the identity and ownership questions come from, which we'll get to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XR, extended reality, is the umbrella term. Think of it as a dial rather than three boxes: from the real world with a little digital on top, through mixed reality where virtual objects sit on your real table, to VR where you're fully somewhere else. Today's headsets slide along the whole dial using passthrough cameras.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Ball's properties: XR is what makes "presence" real. On a screen you watch a world; in XR you're in it, and your body becomes the input. And with AR and MR the metaverse stops being somewhere else: it gets anchored to real places, like the fossil centre in Morden or a CN rail yard. All three examples are BSD XR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feed straight into the ten considerations later: platform, space, comfort and access. They're also why the World Seed editor works in real 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take from the studio side. The hype cycle crashed, but the useful parts kept growing quietly. Every successful world I've worked on had a clear job: train a rail worker, teach a language, preserve a museum collection, bring people together. That's the lens for today: purpose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shift from linear media. In a film the director controls the camera and the order. In a world, the visitor controls both. So the story has to live in the space itself: in what's placed where, what's left behind, what happens when you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Jenkins' four types are a great toolkit. Most good worlds mix them. When you build your own world today, try one embedded clue: an object left behind that tells part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core mechanic IS the story. You don't read about reconnecting with language; you do it, word by word. Also a model for cultural work: built with and for community, with the language and stories led by the people they belong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worlds tell stories too. The story here is "the day I almost didn't look". A safe, memorable near miss builds the muscle memory that prevents a real one. Consequence is one of the strongest storytelling tools a world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in a world has layers. The avatar is the visible one. Presence is how your real body shows up: tracked hands, voice, where you look. Persistence is the record. Research by Yee and Bailenson found people given taller or more attractive avatars behaved more confidently. So identity design isn't cosmetic; it changes how people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are surprised by this table. In nearly every platform, what you "buy" is a licence. What you build is governed by terms of service. XR also collects unusually personal data: how you move and where you look. NFTs tried to solve portability and mostly became speculation, but the underlying question is real and still unanswered. As builders, we get to decide how fair our worlds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isn't only about skins and land. Projects like the Myera Farms digital twin carry Indigenous Traditional Knowledge. OCAP, from the First Nations Information Governance Centre, sets out that communities own, control, access and possess their own data. For anyone building worlds in Manitoba, that's a design requirement from day one, not a legal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go straight into the scoping document you'll write later. They sit under "Culture &amp; ethics" and "Constraints". Answer them early; they're expensive to retrofit.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set I showed at UCN Linkages. Near Miss is the hero: mixed reality on the Pico 4 Ultra Enterprise, where you physically throw a switch. Chainsaw VR was built with MCSC and funded by WCB: PPE, inspection, then cutting at a logging site, with "harm consequences" like a slow-motion replay when you make a dangerous mistake. Power Drill VR is the opposite end: cartoonish and playful, a digital open house to get kids excited about the trades. Same craft, very different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shows the value of thinking at the world level, not the scene level. Tracks, switches, yards and bridges are a kit. Each new module is a new story told in the same world, which makes each one faster and cheaper to build. We'll talk about modular kits in the best-practices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Communities Economic Development Fund. Real artifacts, like a mine detonator, a bear and a typewriter, were scanned and reconstructed, then placed in designed exhibit rooms. Capture gives you authenticity; world design gives you the visit. It also raises the ownership questions from earlier: whose artifacts, whose stories, who decides how they're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worlds are designed around people, not tasks. Notice the embedded storytelling on the VWS timeline wall, and the identity layer in the Hawaiian world: language on every object says whose place this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lessons from my Linkages keynote, framed for world builders. Every one of these shows up in your scoping work today: 01 is Purpose, 02 is Culture and consultation, 03 is Interactions, 04 is Scope, 05 is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World Seed demo on the projector. Start with the Learn section: walk through how a WebXR world is put together, so the ten considerations that follow have something concrete to point at. Then tell the room the plan: after scoping they'll use the Create section to build their own world in the browser, no code needed. For anyone who wants more, there's an optional challenge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the five ingredients into ten working questions. Discussion: name a world you love — which of the ten did it nail, which did it ignore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scoping stack. Today we focus on layer 1, the World Brief, because everything else grows from it. Groups taking on the optional challenge will want layers 3 to 6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destination, two routes. The 4 Ds keep AI useful: Direction before you prompt, Description through a chain of prompts, Discernment on every output, and a clear line on what you Delegate.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first, so groups own the pillars before AI touches them. Then AI: interview, draft, critique. The compare step is where the learning happens. Groups keep their briefs: it's the plan they build from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start the World Seed editor (node server.mjs in the demo folder) or open the GitHub Pages link, and check it loads on a participant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best engine, only the best fit. Godot is free, MIT-licensed, tiny and friendly; great for learning and stylised worlds. Unity is what BSD XR uses most: the widest XR and mobile support and the biggest tutorial library; the runtime fee was cancelled in 2024 and it's seat-based now. Unreal is free until a title earns a million dollars, then 5%; it's the visual high end, and Blueprints let non-coders build. The web, which is what our demo uses, runs from a link with no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to the Platform and Scope considerations. The engine is a consequence of the brief, not the first decision. Teams pick engines by habit and then fight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we'll demo. Start from the asset list, generate a concept or a rough mesh in ComfyUI, then use Claude driving Blender to build or clean it up, set real-world scale, name it, and export a GLB. Then test in the engine. CC0 libraries like Poly Haven and Kenney are always a valid shortcut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my Linkages keynote. AI makes building look cheap, so the first version is now expected to be finished, integrated and ready to scale. That's a trap for world builders: the greybox stage is where you learn whether the layout, scale and story work. Use AI to get to a testable first version faster, then playtest it, rather than polishing something nobody has walked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Blender with Claude connected. Prompt something like: "Build a low-poly wooden lantern post for a park path: 2.2 metres tall, warm amber light at the top, under 800 triangles, pivot at the base. Name it dock_lantern_a." Show Claude inspecting the scene, writing the code and taking a screenshot to check its work. Then ask it to export a self-contained GLB with embedded textures and no Draco compression, which is what the World Seed editor imports, and drop it in. Safety note: MCP runs the code Claude writes in Blender without guards, so save first and demo on a copy. The official server is from Blender Lab; the community one adds asset libraries and generation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ComfyUI. Image: generate a concept of one building from a group's brief, using its palette and mood words. Video: turn that frame into a short mood clip. 3D: feed a clean object image, such as the lantern, into an image-to-3D workflow; TRELLIS.2 and Pixal3D are now native in ComfyUI and output textured meshes. Open the result in Blender and compare it with what Claude built. Point out that the graph itself is the documentation. Model choices change monthly, so pick and test the exact models a day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back to identity and ownership in Part 1. Generative tools make it easy to produce something that isn't yours to use. Same discernment as the brief: does it serve the pillars, is it ours to use, is it buildable.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build in the World Seed editor, start with plain primitives: that's your greybox. Greybox is the most skipped and most valuable stage. Point out true scale: one unit equals one metre, eye height 1.6 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Scale is the number-one immersion breaker. Budgets matter most on headsets: aim for 72 to 90 frames per second on a 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build the world they scoped, in the Create section of World Seed. No code. Push them to greybox first with plain shapes at real scale, metres, before decorating. Groups that made a model in the Blender or ComfyUI demos can import it as a GLB. Save often and export a JSON copy before the playtest. About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optional challenge with this. Karpathy coined "vibe coding" in February 2025: give in to the vibes and forget the code exists. Great for a weekend prototype, risky for anything someone relies on. If you extend the World Seed tool with Claude Code, co-author it: your brief gives direction, Claude drafts the code, and you read the diff and walk the world before you accept it. The METR finding is why: feeling fast is not being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students who finish early or want to keep going after today. Fork the repo, run the editor locally, then use Claude Code to add one feature your world actually needs. Write it down as a short brief first: what the feature does and how you'll know it works. Then build a bigger world with it and publish it with GitHub Pages so anyone can open it from a link. Bring it to the ACE Project Space if you want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or the Quest. Two minutes per group. Tie every note back to one of the ten considerations: confusion is usually wayfinding or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arc in one breath. Mention the ACE Project Space for anyone who wants to keep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Invite people to connect and to share what they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4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088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181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78521"/>
            <a:ext cx="10566400" cy="4066679"/>
          </a:xfrm>
          <a:prstGeom prst="rect">
            <a:avLst/>
          </a:prstGeom>
          <a:noFill/>
          <a:ln/>
        </p:spPr>
        <p:txBody>
          <a:bodyPr wrap="square" lIns="0" tIns="0" rIns="0" bIns="0" rtlCol="0" anchor="t"/>
          <a:lstStyle>
            <a:lvl1pPr algn="l" indent="0" marL="0">
              <a:lnSpc>
                <a:spcPct val="140000"/>
              </a:lnSpc>
              <a:buNone/>
              <a:defRPr lang="en-US" sz="1600" dirty="0">
                <a:solidFill>
                  <a:srgbClr val="14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4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088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181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78521"/>
            <a:ext cx="10566400" cy="4066679"/>
          </a:xfrm>
          <a:prstGeom prst="rect">
            <a:avLst/>
          </a:prstGeom>
          <a:noFill/>
          <a:ln/>
        </p:spPr>
        <p:txBody>
          <a:bodyPr wrap="square" lIns="0" tIns="0" rIns="0" bIns="0" rtlCol="0" anchor="t"/>
          <a:lstStyle>
            <a:lvl1pPr algn="l" indent="0" marL="0">
              <a:lnSpc>
                <a:spcPct val="140000"/>
              </a:lnSpc>
              <a:buNone/>
              <a:defRPr lang="en-US" sz="1600" dirty="0">
                <a:solidFill>
                  <a:srgbClr val="14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image" Target="../media/image-6-5.jpeg"/><Relationship Id="rId6" Type="http://schemas.openxmlformats.org/officeDocument/2006/relationships/image" Target="../media/image-6-6.jpe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image" Target="../media/image-22-4.jpeg"/><Relationship Id="rId5" Type="http://schemas.openxmlformats.org/officeDocument/2006/relationships/image" Target="../media/image-22-5.jpe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jpe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2.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2.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2.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317"/>
        </a:solidFill>
      </p:bgPr>
    </p:bg>
    <p:spTree>
      <p:nvGrpSpPr>
        <p:cNvPr id="1" name=""/>
        <p:cNvGrpSpPr/>
        <p:nvPr/>
      </p:nvGrpSpPr>
      <p:grpSpPr>
        <a:xfrm>
          <a:off x="0" y="0"/>
          <a:ext cx="0" cy="0"/>
          <a:chOff x="0" y="0"/>
          <a:chExt cx="0" cy="0"/>
        </a:xfrm>
      </p:grpSpPr>
      <p:pic>
        <p:nvPicPr>
          <p:cNvPr id="2" name="Image 0" descr="A stylised forest world with a stream, trees and a small cabin, built by BSD XR">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01317">
                  <a:alpha val="94000"/>
                </a:srgbClr>
              </a:gs>
              <a:gs pos="45000">
                <a:srgbClr val="101317">
                  <a:alpha val="82000"/>
                </a:srgbClr>
              </a:gs>
              <a:gs pos="100000">
                <a:srgbClr val="101317">
                  <a:alpha val="15000"/>
                </a:srgbClr>
              </a:gs>
            </a:gsLst>
            <a:lin ang="0" scaled="0"/>
          </a:gradFill>
          <a:ln/>
        </p:spPr>
      </p:sp>
      <p:sp>
        <p:nvSpPr>
          <p:cNvPr id="4" name="Text 1"/>
          <p:cNvSpPr/>
          <p:nvPr/>
        </p:nvSpPr>
        <p:spPr>
          <a:xfrm>
            <a:off x="812800" y="2669778"/>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RED RIVER COLLEGE POLYTECHNIC · WORKSHOP</a:t>
            </a:r>
            <a:endParaRPr lang="en-US" sz="1300" dirty="0"/>
          </a:p>
        </p:txBody>
      </p:sp>
      <p:sp>
        <p:nvSpPr>
          <p:cNvPr id="5" name="Text 2"/>
          <p:cNvSpPr/>
          <p:nvPr>
            <p:ph type="title"/>
          </p:nvPr>
        </p:nvSpPr>
        <p:spPr>
          <a:xfrm>
            <a:off x="812800" y="3104059"/>
            <a:ext cx="7194550" cy="1549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F4F6"/>
                </a:solidFill>
                <a:latin typeface="Space Grotesk" pitchFamily="34" charset="0"/>
                <a:ea typeface="Space Grotesk" pitchFamily="34" charset="-122"/>
                <a:cs typeface="Space Grotesk" pitchFamily="34" charset="-120"/>
              </a:rPr>
              <a:t>Digital World Building</a:t>
            </a:r>
            <a:endParaRPr lang="en-US" sz="6000" dirty="0"/>
          </a:p>
        </p:txBody>
      </p:sp>
      <p:sp>
        <p:nvSpPr>
          <p:cNvPr id="6" name="Text 3"/>
          <p:cNvSpPr/>
          <p:nvPr/>
        </p:nvSpPr>
        <p:spPr>
          <a:xfrm>
            <a:off x="812800" y="4831259"/>
            <a:ext cx="6867525"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7C0CC"/>
                </a:solidFill>
                <a:latin typeface="IBM Plex Sans" pitchFamily="34" charset="0"/>
                <a:ea typeface="IBM Plex Sans" pitchFamily="34" charset="-122"/>
                <a:cs typeface="IBM Plex Sans" pitchFamily="34" charset="-120"/>
              </a:rPr>
              <a:t>Consider → Scope → Build: from an idea to an explorable world</a:t>
            </a:r>
            <a:endParaRPr lang="en-US" sz="2200" dirty="0"/>
          </a:p>
        </p:txBody>
      </p:sp>
      <p:sp>
        <p:nvSpPr>
          <p:cNvPr id="7" name="Text 4"/>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4F6"/>
                </a:solidFill>
                <a:latin typeface="IBM Plex Sans" pitchFamily="34" charset="0"/>
                <a:ea typeface="IBM Plex Sans" pitchFamily="34" charset="-122"/>
                <a:cs typeface="IBM Plex Sans" pitchFamily="34" charset="-120"/>
              </a:rPr>
              <a:t>Dann Blair</a:t>
            </a:r>
            <a:r>
              <a:rPr lang="en-US" sz="1600" dirty="0">
                <a:solidFill>
                  <a:srgbClr val="F3F4F6"/>
                </a:solidFill>
                <a:latin typeface="IBM Plex Sans" pitchFamily="34" charset="0"/>
                <a:ea typeface="IBM Plex Sans" pitchFamily="34" charset="-122"/>
                <a:cs typeface="IBM Plex Sans" pitchFamily="34" charset="-120"/>
              </a:rPr>
              <a:t> · Founder &amp; CTO, BSD XR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317"/>
        </a:solidFill>
      </p:bgPr>
    </p:bg>
    <p:spTree>
      <p:nvGrpSpPr>
        <p:cNvPr id="1" name=""/>
        <p:cNvGrpSpPr/>
        <p:nvPr/>
      </p:nvGrpSpPr>
      <p:grpSpPr>
        <a:xfrm>
          <a:off x="0" y="0"/>
          <a:ext cx="0" cy="0"/>
          <a:chOff x="0" y="0"/>
          <a:chExt cx="0" cy="0"/>
        </a:xfrm>
      </p:grpSpPr>
      <p:pic>
        <p:nvPicPr>
          <p:cNvPr id="2" name="Image 0" descr="Dann Blair, smiling, in sunglasses and a backwards cap">    </p:cNvPr>
          <p:cNvPicPr>
            <a:picLocks noChangeAspect="1"/>
          </p:cNvPicPr>
          <p:nvPr/>
        </p:nvPicPr>
        <p:blipFill>
          <a:blip r:embed="rId1"/>
          <a:srcRect l="5168" r="5168" t="0" b="0"/>
          <a:stretch/>
        </p:blipFill>
        <p:spPr>
          <a:xfrm>
            <a:off x="831850" y="971550"/>
            <a:ext cx="4406900" cy="4914900"/>
          </a:xfrm>
          <a:prstGeom prst="roundRect">
            <a:avLst>
              <a:gd name="adj" fmla="val 3026"/>
            </a:avLst>
          </a:prstGeom>
        </p:spPr>
      </p:pic>
      <p:sp>
        <p:nvSpPr>
          <p:cNvPr id="3" name="Shape 0"/>
          <p:cNvSpPr/>
          <p:nvPr/>
        </p:nvSpPr>
        <p:spPr>
          <a:xfrm>
            <a:off x="822325" y="962025"/>
            <a:ext cx="4425950" cy="4933950"/>
          </a:xfrm>
          <a:prstGeom prst="roundRect">
            <a:avLst>
              <a:gd name="adj" fmla="val 3228"/>
            </a:avLst>
          </a:prstGeom>
          <a:noFill/>
          <a:ln w="19050">
            <a:solidFill>
              <a:srgbClr val="3D7FE8"/>
            </a:solidFill>
            <a:prstDash val="solid"/>
          </a:ln>
        </p:spPr>
      </p:sp>
      <p:sp>
        <p:nvSpPr>
          <p:cNvPr id="4" name="Text 1"/>
          <p:cNvSpPr/>
          <p:nvPr/>
        </p:nvSpPr>
        <p:spPr>
          <a:xfrm>
            <a:off x="5765800" y="1499394"/>
            <a:ext cx="578180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 HELLO, I'M DANN</a:t>
            </a:r>
            <a:endParaRPr lang="en-US" sz="1300" dirty="0"/>
          </a:p>
        </p:txBody>
      </p:sp>
      <p:sp>
        <p:nvSpPr>
          <p:cNvPr id="5" name="Text 2"/>
          <p:cNvSpPr/>
          <p:nvPr>
            <p:ph type="title"/>
          </p:nvPr>
        </p:nvSpPr>
        <p:spPr>
          <a:xfrm>
            <a:off x="5765800" y="1908274"/>
            <a:ext cx="578180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Daniel Blair</a:t>
            </a:r>
            <a:endParaRPr lang="en-US" sz="3600" dirty="0"/>
          </a:p>
        </p:txBody>
      </p:sp>
      <p:sp>
        <p:nvSpPr>
          <p:cNvPr id="6" name="Text 3"/>
          <p:cNvSpPr/>
          <p:nvPr/>
        </p:nvSpPr>
        <p:spPr>
          <a:xfrm>
            <a:off x="5765800" y="2487315"/>
            <a:ext cx="578180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A8E8"/>
                </a:solidFill>
                <a:latin typeface="IBM Plex Sans" pitchFamily="34" charset="0"/>
                <a:ea typeface="IBM Plex Sans" pitchFamily="34" charset="-122"/>
                <a:cs typeface="IBM Plex Sans" pitchFamily="34" charset="-120"/>
              </a:rPr>
              <a:t>Educator · Researcher · Technologist</a:t>
            </a:r>
            <a:endParaRPr lang="en-US" sz="1600" dirty="0"/>
          </a:p>
        </p:txBody>
      </p:sp>
      <p:sp>
        <p:nvSpPr>
          <p:cNvPr id="7" name="Shape 4"/>
          <p:cNvSpPr/>
          <p:nvPr/>
        </p:nvSpPr>
        <p:spPr>
          <a:xfrm>
            <a:off x="5765800" y="2952750"/>
            <a:ext cx="5613400" cy="0"/>
          </a:xfrm>
          <a:prstGeom prst="line">
            <a:avLst/>
          </a:prstGeom>
          <a:noFill/>
          <a:ln w="6350">
            <a:solidFill>
              <a:srgbClr val="2C323A"/>
            </a:solidFill>
            <a:prstDash val="solid"/>
          </a:ln>
        </p:spPr>
      </p:sp>
      <p:sp>
        <p:nvSpPr>
          <p:cNvPr id="8" name="Text 5"/>
          <p:cNvSpPr/>
          <p:nvPr/>
        </p:nvSpPr>
        <p:spPr>
          <a:xfrm>
            <a:off x="5765800" y="309622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A6E8"/>
                </a:solidFill>
                <a:latin typeface="JetBrains Mono" pitchFamily="49" charset="0"/>
                <a:ea typeface="JetBrains Mono" pitchFamily="49" charset="-122"/>
                <a:cs typeface="JetBrains Mono" pitchFamily="49" charset="-120"/>
              </a:rPr>
              <a:t>FOUNDER &amp; CTO</a:t>
            </a:r>
            <a:endParaRPr lang="en-US" sz="1200" dirty="0"/>
          </a:p>
        </p:txBody>
      </p:sp>
      <p:sp>
        <p:nvSpPr>
          <p:cNvPr id="9" name="Text 6"/>
          <p:cNvSpPr/>
          <p:nvPr/>
        </p:nvSpPr>
        <p:spPr>
          <a:xfrm>
            <a:off x="7531100" y="3082925"/>
            <a:ext cx="38481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3F4F6"/>
                </a:solidFill>
                <a:latin typeface="IBM Plex Sans" pitchFamily="34" charset="0"/>
                <a:ea typeface="IBM Plex Sans" pitchFamily="34" charset="-122"/>
                <a:cs typeface="IBM Plex Sans" pitchFamily="34" charset="-120"/>
              </a:rPr>
              <a:t>BSD XR — applied AI + spatial computing</a:t>
            </a:r>
            <a:endParaRPr lang="en-US" sz="1400" dirty="0"/>
          </a:p>
        </p:txBody>
      </p:sp>
      <p:sp>
        <p:nvSpPr>
          <p:cNvPr id="10" name="Shape 7"/>
          <p:cNvSpPr/>
          <p:nvPr/>
        </p:nvSpPr>
        <p:spPr>
          <a:xfrm>
            <a:off x="5765800" y="3453110"/>
            <a:ext cx="5613400" cy="0"/>
          </a:xfrm>
          <a:prstGeom prst="line">
            <a:avLst/>
          </a:prstGeom>
          <a:noFill/>
          <a:ln w="6350">
            <a:solidFill>
              <a:srgbClr val="2C323A"/>
            </a:solidFill>
            <a:prstDash val="solid"/>
          </a:ln>
        </p:spPr>
      </p:sp>
      <p:sp>
        <p:nvSpPr>
          <p:cNvPr id="11" name="Text 8"/>
          <p:cNvSpPr/>
          <p:nvPr/>
        </p:nvSpPr>
        <p:spPr>
          <a:xfrm>
            <a:off x="5765800" y="3596580"/>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A6E8"/>
                </a:solidFill>
                <a:latin typeface="JetBrains Mono" pitchFamily="49" charset="0"/>
                <a:ea typeface="JetBrains Mono" pitchFamily="49" charset="-122"/>
                <a:cs typeface="JetBrains Mono" pitchFamily="49" charset="-120"/>
              </a:rPr>
              <a:t>INSTRUCTOR</a:t>
            </a:r>
            <a:endParaRPr lang="en-US" sz="1200" dirty="0"/>
          </a:p>
        </p:txBody>
      </p:sp>
      <p:sp>
        <p:nvSpPr>
          <p:cNvPr id="12" name="Text 9"/>
          <p:cNvSpPr/>
          <p:nvPr/>
        </p:nvSpPr>
        <p:spPr>
          <a:xfrm>
            <a:off x="7531100" y="3583285"/>
            <a:ext cx="3137059"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3F4F6"/>
                </a:solidFill>
                <a:latin typeface="IBM Plex Sans" pitchFamily="34" charset="0"/>
                <a:ea typeface="IBM Plex Sans" pitchFamily="34" charset="-122"/>
                <a:cs typeface="IBM Plex Sans" pitchFamily="34" charset="-120"/>
              </a:rPr>
              <a:t>ACE Project Space, RRC Polytech</a:t>
            </a:r>
            <a:endParaRPr lang="en-US" sz="1400" dirty="0"/>
          </a:p>
        </p:txBody>
      </p:sp>
      <p:sp>
        <p:nvSpPr>
          <p:cNvPr id="13" name="Shape 10"/>
          <p:cNvSpPr/>
          <p:nvPr/>
        </p:nvSpPr>
        <p:spPr>
          <a:xfrm>
            <a:off x="5765800" y="3953470"/>
            <a:ext cx="5613400" cy="0"/>
          </a:xfrm>
          <a:prstGeom prst="line">
            <a:avLst/>
          </a:prstGeom>
          <a:noFill/>
          <a:ln w="6350">
            <a:solidFill>
              <a:srgbClr val="2C323A"/>
            </a:solidFill>
            <a:prstDash val="solid"/>
          </a:ln>
        </p:spPr>
      </p:sp>
      <p:sp>
        <p:nvSpPr>
          <p:cNvPr id="14" name="Shape 11"/>
          <p:cNvSpPr/>
          <p:nvPr/>
        </p:nvSpPr>
        <p:spPr>
          <a:xfrm>
            <a:off x="5765800" y="4453830"/>
            <a:ext cx="5613400" cy="0"/>
          </a:xfrm>
          <a:prstGeom prst="line">
            <a:avLst/>
          </a:prstGeom>
          <a:noFill/>
          <a:ln w="6350">
            <a:solidFill>
              <a:srgbClr val="2C323A"/>
            </a:solidFill>
            <a:prstDash val="solid"/>
          </a:ln>
        </p:spPr>
      </p:sp>
      <p:sp>
        <p:nvSpPr>
          <p:cNvPr id="15" name="Text 12"/>
          <p:cNvSpPr/>
          <p:nvPr/>
        </p:nvSpPr>
        <p:spPr>
          <a:xfrm>
            <a:off x="5765800" y="4096941"/>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A6E8"/>
                </a:solidFill>
                <a:latin typeface="JetBrains Mono" pitchFamily="49" charset="0"/>
                <a:ea typeface="JetBrains Mono" pitchFamily="49" charset="-122"/>
                <a:cs typeface="JetBrains Mono" pitchFamily="49" charset="-120"/>
              </a:rPr>
              <a:t>BOARD CHAIR</a:t>
            </a:r>
            <a:endParaRPr lang="en-US" sz="1200" dirty="0"/>
          </a:p>
        </p:txBody>
      </p:sp>
      <p:sp>
        <p:nvSpPr>
          <p:cNvPr id="16" name="Text 13"/>
          <p:cNvSpPr/>
          <p:nvPr/>
        </p:nvSpPr>
        <p:spPr>
          <a:xfrm>
            <a:off x="7531100" y="4083645"/>
            <a:ext cx="200584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3F4F6"/>
                </a:solidFill>
                <a:latin typeface="IBM Plex Sans" pitchFamily="34" charset="0"/>
                <a:ea typeface="IBM Plex Sans" pitchFamily="34" charset="-122"/>
                <a:cs typeface="IBM Plex Sans" pitchFamily="34" charset="-120"/>
              </a:rPr>
              <a:t>New Media Manitoba</a:t>
            </a:r>
            <a:endParaRPr lang="en-US" sz="1400" dirty="0"/>
          </a:p>
        </p:txBody>
      </p:sp>
      <p:sp>
        <p:nvSpPr>
          <p:cNvPr id="17" name="Text 14"/>
          <p:cNvSpPr/>
          <p:nvPr/>
        </p:nvSpPr>
        <p:spPr>
          <a:xfrm>
            <a:off x="5765800" y="4634805"/>
            <a:ext cx="1079103" cy="314920"/>
          </a:xfrm>
          <a:prstGeom prst="roundRect">
            <a:avLst>
              <a:gd name="adj" fmla="val 16131"/>
            </a:avLst>
          </a:prstGeom>
          <a:solidFill>
            <a:srgbClr val="1B3D9E"/>
          </a:solidFill>
          <a:ln/>
        </p:spPr>
        <p:txBody>
          <a:bodyPr wrap="none" lIns="0" tIns="0" rIns="0" bIns="0" rtlCol="0" anchor="ctr">
            <a:normAutofit/>
          </a:bodyPr>
          <a:lstStyle/>
          <a:p>
            <a:pPr algn="ctr" indent="0" marL="0">
              <a:lnSpc>
                <a:spcPts val="1680"/>
              </a:lnSpc>
              <a:buNone/>
            </a:pPr>
            <a:r>
              <a:rPr lang="en-US" sz="1200" dirty="0">
                <a:solidFill>
                  <a:srgbClr val="F3F4F6"/>
                </a:solidFill>
                <a:latin typeface="IBM Plex Sans" pitchFamily="34" charset="0"/>
                <a:ea typeface="IBM Plex Sans" pitchFamily="34" charset="-122"/>
                <a:cs typeface="IBM Plex Sans" pitchFamily="34" charset="-120"/>
              </a:rPr>
              <a:t>Construction</a:t>
            </a:r>
            <a:endParaRPr lang="en-US" sz="1200" dirty="0"/>
          </a:p>
        </p:txBody>
      </p:sp>
      <p:sp>
        <p:nvSpPr>
          <p:cNvPr id="18" name="Text 15"/>
          <p:cNvSpPr/>
          <p:nvPr/>
        </p:nvSpPr>
        <p:spPr>
          <a:xfrm>
            <a:off x="6921103" y="4634805"/>
            <a:ext cx="928489" cy="314920"/>
          </a:xfrm>
          <a:prstGeom prst="roundRect">
            <a:avLst>
              <a:gd name="adj" fmla="val 16131"/>
            </a:avLst>
          </a:prstGeom>
          <a:solidFill>
            <a:srgbClr val="1B3D9E"/>
          </a:solidFill>
          <a:ln/>
        </p:spPr>
        <p:txBody>
          <a:bodyPr wrap="none" lIns="0" tIns="0" rIns="0" bIns="0" rtlCol="0" anchor="ctr">
            <a:normAutofit/>
          </a:bodyPr>
          <a:lstStyle/>
          <a:p>
            <a:pPr algn="ctr" indent="0" marL="0">
              <a:lnSpc>
                <a:spcPts val="1680"/>
              </a:lnSpc>
              <a:buNone/>
            </a:pPr>
            <a:r>
              <a:rPr lang="en-US" sz="1200" dirty="0">
                <a:solidFill>
                  <a:srgbClr val="F3F4F6"/>
                </a:solidFill>
                <a:latin typeface="IBM Plex Sans" pitchFamily="34" charset="0"/>
                <a:ea typeface="IBM Plex Sans" pitchFamily="34" charset="-122"/>
                <a:cs typeface="IBM Plex Sans" pitchFamily="34" charset="-120"/>
              </a:rPr>
              <a:t>Aerospace</a:t>
            </a:r>
            <a:endParaRPr lang="en-US" sz="1200" dirty="0"/>
          </a:p>
        </p:txBody>
      </p:sp>
      <p:sp>
        <p:nvSpPr>
          <p:cNvPr id="19" name="Text 16"/>
          <p:cNvSpPr/>
          <p:nvPr/>
        </p:nvSpPr>
        <p:spPr>
          <a:xfrm>
            <a:off x="7925792" y="4634805"/>
            <a:ext cx="656828" cy="314920"/>
          </a:xfrm>
          <a:prstGeom prst="roundRect">
            <a:avLst>
              <a:gd name="adj" fmla="val 16131"/>
            </a:avLst>
          </a:prstGeom>
          <a:solidFill>
            <a:srgbClr val="1B3D9E"/>
          </a:solidFill>
          <a:ln/>
        </p:spPr>
        <p:txBody>
          <a:bodyPr wrap="none" lIns="0" tIns="0" rIns="0" bIns="0" rtlCol="0" anchor="ctr">
            <a:normAutofit/>
          </a:bodyPr>
          <a:lstStyle/>
          <a:p>
            <a:pPr algn="ctr" indent="0" marL="0">
              <a:lnSpc>
                <a:spcPts val="1680"/>
              </a:lnSpc>
              <a:buNone/>
            </a:pPr>
            <a:r>
              <a:rPr lang="en-US" sz="1200" dirty="0">
                <a:solidFill>
                  <a:srgbClr val="F3F4F6"/>
                </a:solidFill>
                <a:latin typeface="IBM Plex Sans" pitchFamily="34" charset="0"/>
                <a:ea typeface="IBM Plex Sans" pitchFamily="34" charset="-122"/>
                <a:cs typeface="IBM Plex Sans" pitchFamily="34" charset="-120"/>
              </a:rPr>
              <a:t>Mining</a:t>
            </a:r>
            <a:endParaRPr lang="en-US" sz="1200" dirty="0"/>
          </a:p>
        </p:txBody>
      </p:sp>
      <p:sp>
        <p:nvSpPr>
          <p:cNvPr id="20" name="Text 17"/>
          <p:cNvSpPr/>
          <p:nvPr/>
        </p:nvSpPr>
        <p:spPr>
          <a:xfrm>
            <a:off x="8658820" y="4634805"/>
            <a:ext cx="767556" cy="314920"/>
          </a:xfrm>
          <a:prstGeom prst="roundRect">
            <a:avLst>
              <a:gd name="adj" fmla="val 16131"/>
            </a:avLst>
          </a:prstGeom>
          <a:solidFill>
            <a:srgbClr val="1B3D9E"/>
          </a:solidFill>
          <a:ln/>
        </p:spPr>
        <p:txBody>
          <a:bodyPr wrap="none" lIns="0" tIns="0" rIns="0" bIns="0" rtlCol="0" anchor="ctr">
            <a:normAutofit/>
          </a:bodyPr>
          <a:lstStyle/>
          <a:p>
            <a:pPr algn="ctr" indent="0" marL="0">
              <a:lnSpc>
                <a:spcPts val="1680"/>
              </a:lnSpc>
              <a:buNone/>
            </a:pPr>
            <a:r>
              <a:rPr lang="en-US" sz="1200" dirty="0">
                <a:solidFill>
                  <a:srgbClr val="F3F4F6"/>
                </a:solidFill>
                <a:latin typeface="IBM Plex Sans" pitchFamily="34" charset="0"/>
                <a:ea typeface="IBM Plex Sans" pitchFamily="34" charset="-122"/>
                <a:cs typeface="IBM Plex Sans" pitchFamily="34" charset="-120"/>
              </a:rPr>
              <a:t>Defence</a:t>
            </a:r>
            <a:endParaRPr lang="en-US" sz="1200" dirty="0"/>
          </a:p>
        </p:txBody>
      </p:sp>
      <p:sp>
        <p:nvSpPr>
          <p:cNvPr id="21" name="Text 18"/>
          <p:cNvSpPr/>
          <p:nvPr/>
        </p:nvSpPr>
        <p:spPr>
          <a:xfrm>
            <a:off x="9502577" y="4634805"/>
            <a:ext cx="727174" cy="314920"/>
          </a:xfrm>
          <a:prstGeom prst="roundRect">
            <a:avLst>
              <a:gd name="adj" fmla="val 16131"/>
            </a:avLst>
          </a:prstGeom>
          <a:solidFill>
            <a:srgbClr val="1B3D9E"/>
          </a:solidFill>
          <a:ln/>
        </p:spPr>
        <p:txBody>
          <a:bodyPr wrap="none" lIns="0" tIns="0" rIns="0" bIns="0" rtlCol="0" anchor="ctr">
            <a:normAutofit/>
          </a:bodyPr>
          <a:lstStyle/>
          <a:p>
            <a:pPr algn="ctr" indent="0" marL="0">
              <a:lnSpc>
                <a:spcPts val="1680"/>
              </a:lnSpc>
              <a:buNone/>
            </a:pPr>
            <a:r>
              <a:rPr lang="en-US" sz="1200" dirty="0">
                <a:solidFill>
                  <a:srgbClr val="F3F4F6"/>
                </a:solidFill>
                <a:latin typeface="IBM Plex Sans" pitchFamily="34" charset="0"/>
                <a:ea typeface="IBM Plex Sans" pitchFamily="34" charset="-122"/>
                <a:cs typeface="IBM Plex Sans" pitchFamily="34" charset="-120"/>
              </a:rPr>
              <a:t>Utilities</a:t>
            </a:r>
            <a:endParaRPr lang="en-US" sz="1200" dirty="0"/>
          </a:p>
        </p:txBody>
      </p:sp>
      <p:sp>
        <p:nvSpPr>
          <p:cNvPr id="22" name="Text 19"/>
          <p:cNvSpPr/>
          <p:nvPr/>
        </p:nvSpPr>
        <p:spPr>
          <a:xfrm>
            <a:off x="5765800" y="5127526"/>
            <a:ext cx="5781802" cy="2564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B7C0CC"/>
                </a:solidFill>
                <a:latin typeface="IBM Plex Sans" pitchFamily="34" charset="0"/>
                <a:ea typeface="IBM Plex Sans" pitchFamily="34" charset="-122"/>
                <a:cs typeface="IBM Plex Sans" pitchFamily="34" charset="-120"/>
              </a:rPr>
              <a:t>Award-winning entrepreneur and developer. Technology with purpose.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My path: developer, founder, educator</a:t>
            </a:r>
            <a:endParaRPr lang="en-US" sz="3600" dirty="0"/>
          </a:p>
        </p:txBody>
      </p:sp>
      <p:sp>
        <p:nvSpPr>
          <p:cNvPr id="3" name="Shape 1"/>
          <p:cNvSpPr/>
          <p:nvPr/>
        </p:nvSpPr>
        <p:spPr>
          <a:xfrm>
            <a:off x="812800" y="1741091"/>
            <a:ext cx="2527300" cy="0"/>
          </a:xfrm>
          <a:prstGeom prst="line">
            <a:avLst/>
          </a:prstGeom>
          <a:noFill/>
          <a:ln w="38100">
            <a:solidFill>
              <a:srgbClr val="2A64C8"/>
            </a:solidFill>
            <a:prstDash val="solid"/>
          </a:ln>
        </p:spPr>
      </p:sp>
      <p:sp>
        <p:nvSpPr>
          <p:cNvPr id="4" name="Text 2"/>
          <p:cNvSpPr/>
          <p:nvPr/>
        </p:nvSpPr>
        <p:spPr>
          <a:xfrm>
            <a:off x="812800" y="1937941"/>
            <a:ext cx="260311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Build</a:t>
            </a:r>
            <a:endParaRPr lang="en-US" sz="2200" dirty="0"/>
          </a:p>
        </p:txBody>
      </p:sp>
      <p:sp>
        <p:nvSpPr>
          <p:cNvPr id="5" name="Text 3"/>
          <p:cNvSpPr/>
          <p:nvPr/>
        </p:nvSpPr>
        <p:spPr>
          <a:xfrm>
            <a:off x="812800" y="2374801"/>
            <a:ext cx="2603119"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Hands-on developer first, with roots that predate the studio</a:t>
            </a:r>
            <a:endParaRPr lang="en-US" sz="1600" dirty="0"/>
          </a:p>
        </p:txBody>
      </p:sp>
      <p:sp>
        <p:nvSpPr>
          <p:cNvPr id="6" name="Shape 4"/>
          <p:cNvSpPr/>
          <p:nvPr/>
        </p:nvSpPr>
        <p:spPr>
          <a:xfrm>
            <a:off x="3492500" y="1741091"/>
            <a:ext cx="2527300" cy="0"/>
          </a:xfrm>
          <a:prstGeom prst="line">
            <a:avLst/>
          </a:prstGeom>
          <a:noFill/>
          <a:ln w="38100">
            <a:solidFill>
              <a:srgbClr val="2A64C8"/>
            </a:solidFill>
            <a:prstDash val="solid"/>
          </a:ln>
        </p:spPr>
      </p:sp>
      <p:sp>
        <p:nvSpPr>
          <p:cNvPr id="7" name="Text 5"/>
          <p:cNvSpPr/>
          <p:nvPr/>
        </p:nvSpPr>
        <p:spPr>
          <a:xfrm>
            <a:off x="3492500" y="1937941"/>
            <a:ext cx="260311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Found</a:t>
            </a:r>
            <a:endParaRPr lang="en-US" sz="2200" dirty="0"/>
          </a:p>
        </p:txBody>
      </p:sp>
      <p:sp>
        <p:nvSpPr>
          <p:cNvPr id="8" name="Text 6"/>
          <p:cNvSpPr/>
          <p:nvPr/>
        </p:nvSpPr>
        <p:spPr>
          <a:xfrm>
            <a:off x="3492500" y="2374801"/>
            <a:ext cx="2603119"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Started BSD XR; Clutch Top 15 Global AR/VR Developer and Top Unity Developer 2024</a:t>
            </a:r>
            <a:endParaRPr lang="en-US" sz="1600" dirty="0"/>
          </a:p>
        </p:txBody>
      </p:sp>
      <p:sp>
        <p:nvSpPr>
          <p:cNvPr id="9" name="Shape 7"/>
          <p:cNvSpPr/>
          <p:nvPr/>
        </p:nvSpPr>
        <p:spPr>
          <a:xfrm>
            <a:off x="6172200" y="1741091"/>
            <a:ext cx="2527300" cy="0"/>
          </a:xfrm>
          <a:prstGeom prst="line">
            <a:avLst/>
          </a:prstGeom>
          <a:noFill/>
          <a:ln w="38100">
            <a:solidFill>
              <a:srgbClr val="2A64C8"/>
            </a:solidFill>
            <a:prstDash val="solid"/>
          </a:ln>
        </p:spPr>
      </p:sp>
      <p:sp>
        <p:nvSpPr>
          <p:cNvPr id="10" name="Text 8"/>
          <p:cNvSpPr/>
          <p:nvPr/>
        </p:nvSpPr>
        <p:spPr>
          <a:xfrm>
            <a:off x="6172200" y="1937941"/>
            <a:ext cx="260311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Share</a:t>
            </a:r>
            <a:endParaRPr lang="en-US" sz="2200" dirty="0"/>
          </a:p>
        </p:txBody>
      </p:sp>
      <p:sp>
        <p:nvSpPr>
          <p:cNvPr id="11" name="Text 9"/>
          <p:cNvSpPr/>
          <p:nvPr/>
        </p:nvSpPr>
        <p:spPr>
          <a:xfrm>
            <a:off x="6172200" y="2374801"/>
            <a:ext cx="2603119"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TEDx Winnipeg · MIT Reality Hack panelist · Future Leaders of Manitoba Award</a:t>
            </a:r>
            <a:endParaRPr lang="en-US" sz="1600" dirty="0"/>
          </a:p>
        </p:txBody>
      </p:sp>
      <p:sp>
        <p:nvSpPr>
          <p:cNvPr id="12" name="Shape 10"/>
          <p:cNvSpPr/>
          <p:nvPr/>
        </p:nvSpPr>
        <p:spPr>
          <a:xfrm>
            <a:off x="8851900" y="1741091"/>
            <a:ext cx="2527300" cy="0"/>
          </a:xfrm>
          <a:prstGeom prst="line">
            <a:avLst/>
          </a:prstGeom>
          <a:noFill/>
          <a:ln w="38100">
            <a:solidFill>
              <a:srgbClr val="2A64C8"/>
            </a:solidFill>
            <a:prstDash val="solid"/>
          </a:ln>
        </p:spPr>
      </p:sp>
      <p:sp>
        <p:nvSpPr>
          <p:cNvPr id="13" name="Text 11"/>
          <p:cNvSpPr/>
          <p:nvPr/>
        </p:nvSpPr>
        <p:spPr>
          <a:xfrm>
            <a:off x="8851900" y="1937941"/>
            <a:ext cx="260311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Teach</a:t>
            </a:r>
            <a:endParaRPr lang="en-US" sz="2200" dirty="0"/>
          </a:p>
        </p:txBody>
      </p:sp>
      <p:sp>
        <p:nvSpPr>
          <p:cNvPr id="14" name="Text 12"/>
          <p:cNvSpPr/>
          <p:nvPr/>
        </p:nvSpPr>
        <p:spPr>
          <a:xfrm>
            <a:off x="8851900" y="2374801"/>
            <a:ext cx="2603119"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Instructor, ACE Project Space, RRC Polytech · Board Chair, New Media Manitoba</a:t>
            </a:r>
            <a:endParaRPr lang="en-US" sz="1600" dirty="0"/>
          </a:p>
        </p:txBody>
      </p:sp>
      <p:sp>
        <p:nvSpPr>
          <p:cNvPr id="15" name="Text 13"/>
          <p:cNvSpPr/>
          <p:nvPr/>
        </p:nvSpPr>
        <p:spPr>
          <a:xfrm>
            <a:off x="812800" y="391904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I don't vibe code. I call it </a:t>
            </a:r>
            <a:r>
              <a:rPr lang="en-US" sz="1600" b="1" dirty="0">
                <a:solidFill>
                  <a:srgbClr val="2A64C8"/>
                </a:solidFill>
                <a:latin typeface="IBM Plex Sans" pitchFamily="34" charset="0"/>
                <a:ea typeface="IBM Plex Sans" pitchFamily="34" charset="-122"/>
                <a:cs typeface="IBM Plex Sans" pitchFamily="34" charset="-120"/>
              </a:rPr>
              <a:t>AI co-authoring</a:t>
            </a:r>
            <a:r>
              <a:rPr lang="en-US" sz="1600" dirty="0">
                <a:solidFill>
                  <a:srgbClr val="14181D"/>
                </a:solidFill>
                <a:latin typeface="IBM Plex Sans" pitchFamily="34" charset="0"/>
                <a:ea typeface="IBM Plex Sans" pitchFamily="34" charset="-122"/>
                <a:cs typeface="IBM Plex Sans" pitchFamily="34" charset="-120"/>
              </a:rPr>
              <a:t>: AI drafts, I stay the author, guided by the 4 Ds.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TODAY</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Foundations first, then we build</a:t>
            </a:r>
            <a:endParaRPr lang="en-US" sz="3600" dirty="0"/>
          </a:p>
        </p:txBody>
      </p:sp>
      <p:sp>
        <p:nvSpPr>
          <p:cNvPr id="4" name="Shape 2"/>
          <p:cNvSpPr/>
          <p:nvPr/>
        </p:nvSpPr>
        <p:spPr>
          <a:xfrm>
            <a:off x="812800" y="2029321"/>
            <a:ext cx="5207000" cy="2494260"/>
          </a:xfrm>
          <a:prstGeom prst="roundRect">
            <a:avLst>
              <a:gd name="adj" fmla="val 5092"/>
            </a:avLst>
          </a:prstGeom>
          <a:solidFill>
            <a:srgbClr val="1A1E24"/>
          </a:solidFill>
          <a:ln/>
        </p:spPr>
      </p:sp>
      <p:sp>
        <p:nvSpPr>
          <p:cNvPr id="5" name="Shape 3"/>
          <p:cNvSpPr/>
          <p:nvPr/>
        </p:nvSpPr>
        <p:spPr>
          <a:xfrm>
            <a:off x="812800" y="2029321"/>
            <a:ext cx="5207000" cy="2494260"/>
          </a:xfrm>
          <a:custGeom>
            <a:avLst/>
            <a:gdLst/>
            <a:ahLst/>
            <a:cxnLst/>
            <a:rect l="l" t="t" r="r" b="b"/>
            <a:pathLst>
              <a:path w="5207000" h="2494260">
                <a:moveTo>
                  <a:pt x="0" y="127000"/>
                </a:moveTo>
                <a:lnTo>
                  <a:pt x="0" y="127000"/>
                </a:lnTo>
                <a:arcTo hR="127000" wR="127000" stAng="10800000" swAng="5400000"/>
                <a:lnTo>
                  <a:pt x="5080000" y="0"/>
                </a:lnTo>
                <a:arcTo hR="127000" wR="127000" stAng="16200000" swAng="5400000"/>
                <a:lnTo>
                  <a:pt x="5207000" y="127000"/>
                </a:lnTo>
                <a:arcTo hR="101600" wR="127000" stAng="0" swAng="-5400000"/>
                <a:lnTo>
                  <a:pt x="127000" y="25400"/>
                </a:lnTo>
                <a:arcTo hR="101600" wR="127000" stAng="16200000" swAng="-5400000"/>
                <a:close/>
              </a:path>
            </a:pathLst>
          </a:custGeom>
          <a:solidFill>
            <a:srgbClr val="00A8E8"/>
          </a:solidFill>
          <a:ln/>
        </p:spPr>
      </p:sp>
      <p:sp>
        <p:nvSpPr>
          <p:cNvPr id="6" name="Text 4"/>
          <p:cNvSpPr/>
          <p:nvPr/>
        </p:nvSpPr>
        <p:spPr>
          <a:xfrm>
            <a:off x="1066800" y="2308721"/>
            <a:ext cx="483997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Part 1 · Foundations</a:t>
            </a:r>
            <a:endParaRPr lang="en-US" sz="2200" dirty="0"/>
          </a:p>
        </p:txBody>
      </p:sp>
      <p:sp>
        <p:nvSpPr>
          <p:cNvPr id="7" name="Text 5"/>
          <p:cNvSpPr/>
          <p:nvPr/>
        </p:nvSpPr>
        <p:spPr>
          <a:xfrm>
            <a:off x="1066800" y="2745581"/>
            <a:ext cx="4839970" cy="15494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What are digital worlds?</a:t>
            </a:r>
            <a:endParaRPr lang="en-US" sz="1600" dirty="0"/>
          </a:p>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The metaverse</a:t>
            </a:r>
            <a:endParaRPr lang="en-US" sz="1600" dirty="0"/>
          </a:p>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Digital storytelling</a:t>
            </a:r>
            <a:endParaRPr lang="en-US" sz="1600" dirty="0"/>
          </a:p>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Digital identity &amp; ownership</a:t>
            </a:r>
            <a:endParaRPr lang="en-US" sz="1600" dirty="0"/>
          </a:p>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BSD XR: the worlds we build</a:t>
            </a:r>
            <a:endParaRPr lang="en-US" sz="1600" dirty="0"/>
          </a:p>
        </p:txBody>
      </p:sp>
      <p:sp>
        <p:nvSpPr>
          <p:cNvPr id="8" name="Shape 6"/>
          <p:cNvSpPr/>
          <p:nvPr/>
        </p:nvSpPr>
        <p:spPr>
          <a:xfrm>
            <a:off x="6172200" y="2029321"/>
            <a:ext cx="5207000" cy="2494260"/>
          </a:xfrm>
          <a:prstGeom prst="roundRect">
            <a:avLst>
              <a:gd name="adj" fmla="val 5092"/>
            </a:avLst>
          </a:prstGeom>
          <a:solidFill>
            <a:srgbClr val="1A1E24"/>
          </a:solidFill>
          <a:ln/>
        </p:spPr>
      </p:sp>
      <p:sp>
        <p:nvSpPr>
          <p:cNvPr id="9" name="Shape 7"/>
          <p:cNvSpPr/>
          <p:nvPr/>
        </p:nvSpPr>
        <p:spPr>
          <a:xfrm>
            <a:off x="6172200" y="2029321"/>
            <a:ext cx="5207000" cy="2494260"/>
          </a:xfrm>
          <a:custGeom>
            <a:avLst/>
            <a:gdLst/>
            <a:ahLst/>
            <a:cxnLst/>
            <a:rect l="l" t="t" r="r" b="b"/>
            <a:pathLst>
              <a:path w="5207000" h="2494260">
                <a:moveTo>
                  <a:pt x="0" y="127000"/>
                </a:moveTo>
                <a:lnTo>
                  <a:pt x="0" y="127000"/>
                </a:lnTo>
                <a:arcTo hR="127000" wR="127000" stAng="10800000" swAng="5400000"/>
                <a:lnTo>
                  <a:pt x="5080000" y="0"/>
                </a:lnTo>
                <a:arcTo hR="127000" wR="127000" stAng="16200000" swAng="5400000"/>
                <a:lnTo>
                  <a:pt x="5207000" y="127000"/>
                </a:lnTo>
                <a:arcTo hR="101600" wR="127000" stAng="0" swAng="-5400000"/>
                <a:lnTo>
                  <a:pt x="127000" y="25400"/>
                </a:lnTo>
                <a:arcTo hR="101600" wR="127000" stAng="16200000" swAng="-5400000"/>
                <a:close/>
              </a:path>
            </a:pathLst>
          </a:custGeom>
          <a:solidFill>
            <a:srgbClr val="3D7FE8"/>
          </a:solidFill>
          <a:ln/>
        </p:spPr>
      </p:sp>
      <p:sp>
        <p:nvSpPr>
          <p:cNvPr id="10" name="Text 8"/>
          <p:cNvSpPr/>
          <p:nvPr/>
        </p:nvSpPr>
        <p:spPr>
          <a:xfrm>
            <a:off x="6426200" y="2308721"/>
            <a:ext cx="483997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Part 2 · Workshop</a:t>
            </a:r>
            <a:endParaRPr lang="en-US" sz="2200" dirty="0"/>
          </a:p>
        </p:txBody>
      </p:sp>
      <p:sp>
        <p:nvSpPr>
          <p:cNvPr id="11" name="Text 9"/>
          <p:cNvSpPr/>
          <p:nvPr/>
        </p:nvSpPr>
        <p:spPr>
          <a:xfrm>
            <a:off x="6426200" y="2745581"/>
            <a:ext cx="4839970" cy="15494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F3F4F6"/>
                </a:solidFill>
                <a:latin typeface="IBM Plex Sans" pitchFamily="34" charset="0"/>
                <a:ea typeface="IBM Plex Sans" pitchFamily="34" charset="-122"/>
                <a:cs typeface="IBM Plex Sans" pitchFamily="34" charset="-120"/>
              </a:rPr>
              <a:t>Consider</a:t>
            </a:r>
            <a:r>
              <a:rPr lang="en-US" sz="1600" dirty="0">
                <a:solidFill>
                  <a:srgbClr val="B7C0CC"/>
                </a:solidFill>
                <a:latin typeface="IBM Plex Sans" pitchFamily="34" charset="0"/>
                <a:ea typeface="IBM Plex Sans" pitchFamily="34" charset="-122"/>
                <a:cs typeface="IBM Plex Sans" pitchFamily="34" charset="-120"/>
              </a:rPr>
              <a:t> — the decisions behind a world</a:t>
            </a:r>
            <a:endParaRPr lang="en-US" sz="1600" dirty="0"/>
          </a:p>
          <a:p>
            <a:pPr algn="l" indent="0" marL="0">
              <a:lnSpc>
                <a:spcPts val="2400"/>
              </a:lnSpc>
              <a:buNone/>
            </a:pPr>
            <a:r>
              <a:rPr lang="en-US" sz="1600" b="1" dirty="0">
                <a:solidFill>
                  <a:srgbClr val="F3F4F6"/>
                </a:solidFill>
                <a:latin typeface="IBM Plex Sans" pitchFamily="34" charset="0"/>
                <a:ea typeface="IBM Plex Sans" pitchFamily="34" charset="-122"/>
                <a:cs typeface="IBM Plex Sans" pitchFamily="34" charset="-120"/>
              </a:rPr>
              <a:t>Scope</a:t>
            </a:r>
            <a:r>
              <a:rPr lang="en-US" sz="1600" dirty="0">
                <a:solidFill>
                  <a:srgbClr val="B7C0CC"/>
                </a:solidFill>
                <a:latin typeface="IBM Plex Sans" pitchFamily="34" charset="0"/>
                <a:ea typeface="IBM Plex Sans" pitchFamily="34" charset="-122"/>
                <a:cs typeface="IBM Plex Sans" pitchFamily="34" charset="-120"/>
              </a:rPr>
              <a:t> — write it down, by hand and with AI</a:t>
            </a:r>
            <a:endParaRPr lang="en-US" sz="1600" dirty="0"/>
          </a:p>
          <a:p>
            <a:pPr algn="l" indent="0" marL="0">
              <a:lnSpc>
                <a:spcPts val="2400"/>
              </a:lnSpc>
              <a:buNone/>
            </a:pPr>
            <a:r>
              <a:rPr lang="en-US" sz="1600" b="1" dirty="0">
                <a:solidFill>
                  <a:srgbClr val="F3F4F6"/>
                </a:solidFill>
                <a:latin typeface="IBM Plex Sans" pitchFamily="34" charset="0"/>
                <a:ea typeface="IBM Plex Sans" pitchFamily="34" charset="-122"/>
                <a:cs typeface="IBM Plex Sans" pitchFamily="34" charset="-120"/>
              </a:rPr>
              <a:t>Tools</a:t>
            </a:r>
            <a:r>
              <a:rPr lang="en-US" sz="1600" dirty="0">
                <a:solidFill>
                  <a:srgbClr val="B7C0CC"/>
                </a:solidFill>
                <a:latin typeface="IBM Plex Sans" pitchFamily="34" charset="0"/>
                <a:ea typeface="IBM Plex Sans" pitchFamily="34" charset="-122"/>
                <a:cs typeface="IBM Plex Sans" pitchFamily="34" charset="-120"/>
              </a:rPr>
              <a:t> — engines, Blender + Claude, ComfyUI</a:t>
            </a:r>
            <a:endParaRPr lang="en-US" sz="1600" dirty="0"/>
          </a:p>
          <a:p>
            <a:pPr algn="l" indent="0" marL="0">
              <a:lnSpc>
                <a:spcPts val="2400"/>
              </a:lnSpc>
              <a:buNone/>
            </a:pPr>
            <a:r>
              <a:rPr lang="en-US" sz="1600" b="1" dirty="0">
                <a:solidFill>
                  <a:srgbClr val="F3F4F6"/>
                </a:solidFill>
                <a:latin typeface="IBM Plex Sans" pitchFamily="34" charset="0"/>
                <a:ea typeface="IBM Plex Sans" pitchFamily="34" charset="-122"/>
                <a:cs typeface="IBM Plex Sans" pitchFamily="34" charset="-120"/>
              </a:rPr>
              <a:t>Build</a:t>
            </a:r>
            <a:r>
              <a:rPr lang="en-US" sz="1600" dirty="0">
                <a:solidFill>
                  <a:srgbClr val="B7C0CC"/>
                </a:solidFill>
                <a:latin typeface="IBM Plex Sans" pitchFamily="34" charset="0"/>
                <a:ea typeface="IBM Plex Sans" pitchFamily="34" charset="-122"/>
                <a:cs typeface="IBM Plex Sans" pitchFamily="34" charset="-120"/>
              </a:rPr>
              <a:t> — best practices, then create your world</a:t>
            </a:r>
            <a:endParaRPr lang="en-US" sz="1600" dirty="0"/>
          </a:p>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Playtest &amp; wrap</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193555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01 · WHAT ARE DIGITAL WORLDS?</a:t>
            </a:r>
            <a:endParaRPr lang="en-US" sz="1300" dirty="0"/>
          </a:p>
        </p:txBody>
      </p:sp>
      <p:sp>
        <p:nvSpPr>
          <p:cNvPr id="3" name="Text 1"/>
          <p:cNvSpPr/>
          <p:nvPr>
            <p:ph type="title"/>
          </p:nvPr>
        </p:nvSpPr>
        <p:spPr>
          <a:xfrm>
            <a:off x="812800" y="2471440"/>
            <a:ext cx="9810750" cy="16026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181D"/>
                </a:solidFill>
                <a:latin typeface="Space Grotesk" pitchFamily="34" charset="0"/>
                <a:ea typeface="Space Grotesk" pitchFamily="34" charset="-122"/>
                <a:cs typeface="Space Grotesk" pitchFamily="34" charset="-120"/>
              </a:rPr>
              <a:t>A digital world is a space you can be </a:t>
            </a:r>
            <a:r>
              <a:rPr lang="en-US" sz="3600" b="1" i="0" dirty="0">
                <a:solidFill>
                  <a:srgbClr val="2A64C8"/>
                </a:solidFill>
                <a:latin typeface="Space Grotesk" pitchFamily="34" charset="0"/>
                <a:ea typeface="Space Grotesk" pitchFamily="34" charset="-122"/>
                <a:cs typeface="Space Grotesk" pitchFamily="34" charset="-120"/>
              </a:rPr>
              <a:t>in</a:t>
            </a:r>
            <a:r>
              <a:rPr lang="en-US" sz="3600" b="1" i="0" dirty="0">
                <a:solidFill>
                  <a:srgbClr val="14181D"/>
                </a:solidFill>
                <a:latin typeface="Space Grotesk" pitchFamily="34" charset="0"/>
                <a:ea typeface="Space Grotesk" pitchFamily="34" charset="-122"/>
                <a:cs typeface="Space Grotesk" pitchFamily="34" charset="-120"/>
              </a:rPr>
              <a:t> — with its own rules, its own story, and a reason to be there.</a:t>
            </a:r>
            <a:endParaRPr lang="en-US" sz="3600" dirty="0"/>
          </a:p>
        </p:txBody>
      </p:sp>
      <p:sp>
        <p:nvSpPr>
          <p:cNvPr id="4" name="Text 2"/>
          <p:cNvSpPr/>
          <p:nvPr/>
        </p:nvSpPr>
        <p:spPr>
          <a:xfrm>
            <a:off x="812800" y="4353520"/>
            <a:ext cx="85026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Not a website you read or a video you watch. A place you move through, act in, and come back to.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Worlds come in many kinds</a:t>
            </a:r>
            <a:endParaRPr lang="en-US" sz="3600" dirty="0"/>
          </a:p>
        </p:txBody>
      </p:sp>
      <p:sp>
        <p:nvSpPr>
          <p:cNvPr id="3" name="Shape 1"/>
          <p:cNvSpPr/>
          <p:nvPr/>
        </p:nvSpPr>
        <p:spPr>
          <a:xfrm>
            <a:off x="815975" y="1522016"/>
            <a:ext cx="3414117" cy="1709341"/>
          </a:xfrm>
          <a:prstGeom prst="roundRect">
            <a:avLst>
              <a:gd name="adj" fmla="val 5758"/>
            </a:avLst>
          </a:prstGeom>
          <a:solidFill>
            <a:srgbClr val="FBFBFC"/>
          </a:solidFill>
          <a:ln w="6350">
            <a:solidFill>
              <a:srgbClr val="DDE1E6"/>
            </a:solidFill>
            <a:prstDash val="solid"/>
          </a:ln>
        </p:spPr>
      </p:sp>
      <p:pic>
        <p:nvPicPr>
          <p:cNvPr id="4" name="Image 0" descr="Stylised forest game environment">    </p:cNvPr>
          <p:cNvPicPr>
            <a:picLocks noChangeAspect="1"/>
          </p:cNvPicPr>
          <p:nvPr/>
        </p:nvPicPr>
        <p:blipFill>
          <a:blip r:embed="rId1"/>
          <a:srcRect l="3" r="3" t="0" b="0"/>
          <a:stretch/>
        </p:blipFill>
        <p:spPr>
          <a:xfrm>
            <a:off x="819150" y="1525191"/>
            <a:ext cx="1580356" cy="889000"/>
          </a:xfrm>
          <a:custGeom>
            <a:avLst/>
            <a:gdLst/>
            <a:ahLst/>
            <a:cxnLst/>
            <a:rect l="l" t="t" r="r" b="b"/>
            <a:pathLst>
              <a:path w="1580356" h="889000">
                <a:moveTo>
                  <a:pt x="0" y="95250"/>
                </a:moveTo>
                <a:arcTo wR="95250" hR="95250" stAng="10800000" swAng="5400000"/>
                <a:lnTo>
                  <a:pt x="1580356" y="0"/>
                </a:lnTo>
                <a:lnTo>
                  <a:pt x="1580356" y="889000"/>
                </a:lnTo>
                <a:lnTo>
                  <a:pt x="0" y="889000"/>
                </a:lnTo>
                <a:close/>
              </a:path>
            </a:pathLst>
          </a:custGeom>
        </p:spPr>
      </p:pic>
      <p:sp>
        <p:nvSpPr>
          <p:cNvPr id="5" name="Text 2"/>
          <p:cNvSpPr/>
          <p:nvPr/>
        </p:nvSpPr>
        <p:spPr>
          <a:xfrm>
            <a:off x="996950" y="2566591"/>
            <a:ext cx="31437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Games</a:t>
            </a:r>
            <a:endParaRPr lang="en-US" sz="1600" dirty="0"/>
          </a:p>
        </p:txBody>
      </p:sp>
      <p:sp>
        <p:nvSpPr>
          <p:cNvPr id="6" name="Text 3"/>
          <p:cNvSpPr/>
          <p:nvPr/>
        </p:nvSpPr>
        <p:spPr>
          <a:xfrm>
            <a:off x="996950" y="2861171"/>
            <a:ext cx="314373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260"/>
                </a:solidFill>
                <a:latin typeface="IBM Plex Sans" pitchFamily="34" charset="0"/>
                <a:ea typeface="IBM Plex Sans" pitchFamily="34" charset="-122"/>
                <a:cs typeface="IBM Plex Sans" pitchFamily="34" charset="-120"/>
              </a:rPr>
              <a:t>Play, challenge, adventure</a:t>
            </a:r>
            <a:endParaRPr lang="en-US" sz="1300" dirty="0"/>
          </a:p>
        </p:txBody>
      </p:sp>
      <p:sp>
        <p:nvSpPr>
          <p:cNvPr id="7" name="Shape 4"/>
          <p:cNvSpPr/>
          <p:nvPr/>
        </p:nvSpPr>
        <p:spPr>
          <a:xfrm>
            <a:off x="4388842" y="1522016"/>
            <a:ext cx="3414216" cy="1709341"/>
          </a:xfrm>
          <a:prstGeom prst="roundRect">
            <a:avLst>
              <a:gd name="adj" fmla="val 5758"/>
            </a:avLst>
          </a:prstGeom>
          <a:solidFill>
            <a:srgbClr val="FBFBFC"/>
          </a:solidFill>
          <a:ln w="6350">
            <a:solidFill>
              <a:srgbClr val="DDE1E6"/>
            </a:solidFill>
            <a:prstDash val="solid"/>
          </a:ln>
        </p:spPr>
      </p:sp>
      <p:pic>
        <p:nvPicPr>
          <p:cNvPr id="8" name="Image 1" descr="Virtual amphitheater for the Virtual World Society">    </p:cNvPr>
          <p:cNvPicPr>
            <a:picLocks noChangeAspect="1"/>
          </p:cNvPicPr>
          <p:nvPr/>
        </p:nvPicPr>
        <p:blipFill>
          <a:blip r:embed="rId2"/>
          <a:srcRect l="2" r="2" t="0" b="0"/>
          <a:stretch/>
        </p:blipFill>
        <p:spPr>
          <a:xfrm>
            <a:off x="4392017" y="1525191"/>
            <a:ext cx="1599704" cy="889000"/>
          </a:xfrm>
          <a:custGeom>
            <a:avLst/>
            <a:gdLst/>
            <a:ahLst/>
            <a:cxnLst/>
            <a:rect l="l" t="t" r="r" b="b"/>
            <a:pathLst>
              <a:path w="1599704" h="889000">
                <a:moveTo>
                  <a:pt x="0" y="95250"/>
                </a:moveTo>
                <a:arcTo wR="95250" hR="95250" stAng="10800000" swAng="5400000"/>
                <a:lnTo>
                  <a:pt x="1599704" y="0"/>
                </a:lnTo>
                <a:lnTo>
                  <a:pt x="1599704" y="889000"/>
                </a:lnTo>
                <a:lnTo>
                  <a:pt x="0" y="889000"/>
                </a:lnTo>
                <a:close/>
              </a:path>
            </a:pathLst>
          </a:custGeom>
        </p:spPr>
      </p:pic>
      <p:sp>
        <p:nvSpPr>
          <p:cNvPr id="9" name="Text 5"/>
          <p:cNvSpPr/>
          <p:nvPr/>
        </p:nvSpPr>
        <p:spPr>
          <a:xfrm>
            <a:off x="4569817" y="2566591"/>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Social spaces</a:t>
            </a:r>
            <a:endParaRPr lang="en-US" sz="1600" dirty="0"/>
          </a:p>
        </p:txBody>
      </p:sp>
      <p:sp>
        <p:nvSpPr>
          <p:cNvPr id="10" name="Text 6"/>
          <p:cNvSpPr/>
          <p:nvPr/>
        </p:nvSpPr>
        <p:spPr>
          <a:xfrm>
            <a:off x="4569817" y="2861171"/>
            <a:ext cx="314383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260"/>
                </a:solidFill>
                <a:latin typeface="IBM Plex Sans" pitchFamily="34" charset="0"/>
                <a:ea typeface="IBM Plex Sans" pitchFamily="34" charset="-122"/>
                <a:cs typeface="IBM Plex Sans" pitchFamily="34" charset="-120"/>
              </a:rPr>
              <a:t>Meet, gather, perform</a:t>
            </a:r>
            <a:endParaRPr lang="en-US" sz="1300" dirty="0"/>
          </a:p>
        </p:txBody>
      </p:sp>
      <p:sp>
        <p:nvSpPr>
          <p:cNvPr id="11" name="Shape 7"/>
          <p:cNvSpPr/>
          <p:nvPr/>
        </p:nvSpPr>
        <p:spPr>
          <a:xfrm>
            <a:off x="7961809" y="1522016"/>
            <a:ext cx="3414216" cy="1709341"/>
          </a:xfrm>
          <a:prstGeom prst="roundRect">
            <a:avLst>
              <a:gd name="adj" fmla="val 5758"/>
            </a:avLst>
          </a:prstGeom>
          <a:solidFill>
            <a:srgbClr val="FBFBFC"/>
          </a:solidFill>
          <a:ln w="6350">
            <a:solidFill>
              <a:srgbClr val="DDE1E6"/>
            </a:solidFill>
            <a:prstDash val="solid"/>
          </a:ln>
        </p:spPr>
      </p:sp>
      <p:pic>
        <p:nvPicPr>
          <p:cNvPr id="12" name="Image 2" descr="VR rail bridge used for working-at-heights training">    </p:cNvPr>
          <p:cNvPicPr>
            <a:picLocks noChangeAspect="1"/>
          </p:cNvPicPr>
          <p:nvPr/>
        </p:nvPicPr>
        <p:blipFill>
          <a:blip r:embed="rId3"/>
          <a:srcRect l="3" r="3" t="0" b="0"/>
          <a:stretch/>
        </p:blipFill>
        <p:spPr>
          <a:xfrm>
            <a:off x="7964984" y="1525191"/>
            <a:ext cx="1580356" cy="889000"/>
          </a:xfrm>
          <a:custGeom>
            <a:avLst/>
            <a:gdLst/>
            <a:ahLst/>
            <a:cxnLst/>
            <a:rect l="l" t="t" r="r" b="b"/>
            <a:pathLst>
              <a:path w="1580356" h="889000">
                <a:moveTo>
                  <a:pt x="0" y="95250"/>
                </a:moveTo>
                <a:arcTo wR="95250" hR="95250" stAng="10800000" swAng="5400000"/>
                <a:lnTo>
                  <a:pt x="1580356" y="0"/>
                </a:lnTo>
                <a:lnTo>
                  <a:pt x="1580356" y="889000"/>
                </a:lnTo>
                <a:lnTo>
                  <a:pt x="0" y="889000"/>
                </a:lnTo>
                <a:close/>
              </a:path>
            </a:pathLst>
          </a:custGeom>
        </p:spPr>
      </p:pic>
      <p:sp>
        <p:nvSpPr>
          <p:cNvPr id="13" name="Text 8"/>
          <p:cNvSpPr/>
          <p:nvPr/>
        </p:nvSpPr>
        <p:spPr>
          <a:xfrm>
            <a:off x="8142784" y="2566591"/>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Training simulations</a:t>
            </a:r>
            <a:endParaRPr lang="en-US" sz="1600" dirty="0"/>
          </a:p>
        </p:txBody>
      </p:sp>
      <p:sp>
        <p:nvSpPr>
          <p:cNvPr id="14" name="Text 9"/>
          <p:cNvSpPr/>
          <p:nvPr/>
        </p:nvSpPr>
        <p:spPr>
          <a:xfrm>
            <a:off x="8142784" y="2861171"/>
            <a:ext cx="314383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260"/>
                </a:solidFill>
                <a:latin typeface="IBM Plex Sans" pitchFamily="34" charset="0"/>
                <a:ea typeface="IBM Plex Sans" pitchFamily="34" charset="-122"/>
                <a:cs typeface="IBM Plex Sans" pitchFamily="34" charset="-120"/>
              </a:rPr>
              <a:t>Practise the dangerous safely</a:t>
            </a:r>
            <a:endParaRPr lang="en-US" sz="1300" dirty="0"/>
          </a:p>
        </p:txBody>
      </p:sp>
      <p:sp>
        <p:nvSpPr>
          <p:cNvPr id="15" name="Shape 10"/>
          <p:cNvSpPr/>
          <p:nvPr/>
        </p:nvSpPr>
        <p:spPr>
          <a:xfrm>
            <a:off x="815975" y="3390106"/>
            <a:ext cx="3414117" cy="1709341"/>
          </a:xfrm>
          <a:prstGeom prst="roundRect">
            <a:avLst>
              <a:gd name="adj" fmla="val 5758"/>
            </a:avLst>
          </a:prstGeom>
          <a:solidFill>
            <a:srgbClr val="FBFBFC"/>
          </a:solidFill>
          <a:ln w="6350">
            <a:solidFill>
              <a:srgbClr val="DDE1E6"/>
            </a:solidFill>
            <a:prstDash val="solid"/>
          </a:ln>
        </p:spPr>
      </p:sp>
      <p:pic>
        <p:nvPicPr>
          <p:cNvPr id="16" name="Image 3" descr="Hands harvesting corn in the Myera Farms digital twin">    </p:cNvPr>
          <p:cNvPicPr>
            <a:picLocks noChangeAspect="1"/>
          </p:cNvPicPr>
          <p:nvPr/>
        </p:nvPicPr>
        <p:blipFill>
          <a:blip r:embed="rId4"/>
          <a:srcRect l="3" r="3" t="0" b="0"/>
          <a:stretch/>
        </p:blipFill>
        <p:spPr>
          <a:xfrm>
            <a:off x="819150" y="3393281"/>
            <a:ext cx="1580356" cy="889000"/>
          </a:xfrm>
          <a:custGeom>
            <a:avLst/>
            <a:gdLst/>
            <a:ahLst/>
            <a:cxnLst/>
            <a:rect l="l" t="t" r="r" b="b"/>
            <a:pathLst>
              <a:path w="1580356" h="889000">
                <a:moveTo>
                  <a:pt x="0" y="95250"/>
                </a:moveTo>
                <a:arcTo wR="95250" hR="95250" stAng="10800000" swAng="5400000"/>
                <a:lnTo>
                  <a:pt x="1580356" y="0"/>
                </a:lnTo>
                <a:lnTo>
                  <a:pt x="1580356" y="889000"/>
                </a:lnTo>
                <a:lnTo>
                  <a:pt x="0" y="889000"/>
                </a:lnTo>
                <a:close/>
              </a:path>
            </a:pathLst>
          </a:custGeom>
        </p:spPr>
      </p:pic>
      <p:sp>
        <p:nvSpPr>
          <p:cNvPr id="17" name="Text 11"/>
          <p:cNvSpPr/>
          <p:nvPr/>
        </p:nvSpPr>
        <p:spPr>
          <a:xfrm>
            <a:off x="996950" y="4434681"/>
            <a:ext cx="31437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Digital twins</a:t>
            </a:r>
            <a:endParaRPr lang="en-US" sz="1600" dirty="0"/>
          </a:p>
        </p:txBody>
      </p:sp>
      <p:sp>
        <p:nvSpPr>
          <p:cNvPr id="18" name="Text 12"/>
          <p:cNvSpPr/>
          <p:nvPr/>
        </p:nvSpPr>
        <p:spPr>
          <a:xfrm>
            <a:off x="996950" y="4729262"/>
            <a:ext cx="314373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260"/>
                </a:solidFill>
                <a:latin typeface="IBM Plex Sans" pitchFamily="34" charset="0"/>
                <a:ea typeface="IBM Plex Sans" pitchFamily="34" charset="-122"/>
                <a:cs typeface="IBM Plex Sans" pitchFamily="34" charset="-120"/>
              </a:rPr>
              <a:t>Mirror a real place or system</a:t>
            </a:r>
            <a:endParaRPr lang="en-US" sz="1300" dirty="0"/>
          </a:p>
        </p:txBody>
      </p:sp>
      <p:sp>
        <p:nvSpPr>
          <p:cNvPr id="19" name="Shape 13"/>
          <p:cNvSpPr/>
          <p:nvPr/>
        </p:nvSpPr>
        <p:spPr>
          <a:xfrm>
            <a:off x="4388842" y="3390106"/>
            <a:ext cx="3414216" cy="1709341"/>
          </a:xfrm>
          <a:prstGeom prst="roundRect">
            <a:avLst>
              <a:gd name="adj" fmla="val 5758"/>
            </a:avLst>
          </a:prstGeom>
          <a:solidFill>
            <a:srgbClr val="FBFBFC"/>
          </a:solidFill>
          <a:ln w="6350">
            <a:solidFill>
              <a:srgbClr val="DDE1E6"/>
            </a:solidFill>
            <a:prstDash val="solid"/>
          </a:ln>
        </p:spPr>
      </p:sp>
      <p:pic>
        <p:nvPicPr>
          <p:cNvPr id="20" name="Image 4" descr="Virtual museum room with scanned artifacts">    </p:cNvPr>
          <p:cNvPicPr>
            <a:picLocks noChangeAspect="1"/>
          </p:cNvPicPr>
          <p:nvPr/>
        </p:nvPicPr>
        <p:blipFill>
          <a:blip r:embed="rId5"/>
          <a:srcRect l="2" r="2" t="0" b="0"/>
          <a:stretch/>
        </p:blipFill>
        <p:spPr>
          <a:xfrm>
            <a:off x="4392017" y="3393281"/>
            <a:ext cx="1953419" cy="889000"/>
          </a:xfrm>
          <a:custGeom>
            <a:avLst/>
            <a:gdLst/>
            <a:ahLst/>
            <a:cxnLst/>
            <a:rect l="l" t="t" r="r" b="b"/>
            <a:pathLst>
              <a:path w="1953419" h="889000">
                <a:moveTo>
                  <a:pt x="0" y="95250"/>
                </a:moveTo>
                <a:arcTo wR="95250" hR="95250" stAng="10800000" swAng="5400000"/>
                <a:lnTo>
                  <a:pt x="1953419" y="0"/>
                </a:lnTo>
                <a:lnTo>
                  <a:pt x="1953419" y="889000"/>
                </a:lnTo>
                <a:lnTo>
                  <a:pt x="0" y="889000"/>
                </a:lnTo>
                <a:close/>
              </a:path>
            </a:pathLst>
          </a:custGeom>
        </p:spPr>
      </p:pic>
      <p:sp>
        <p:nvSpPr>
          <p:cNvPr id="21" name="Text 14"/>
          <p:cNvSpPr/>
          <p:nvPr/>
        </p:nvSpPr>
        <p:spPr>
          <a:xfrm>
            <a:off x="4569817" y="4434681"/>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Museums &amp; heritage</a:t>
            </a:r>
            <a:endParaRPr lang="en-US" sz="1600" dirty="0"/>
          </a:p>
        </p:txBody>
      </p:sp>
      <p:sp>
        <p:nvSpPr>
          <p:cNvPr id="22" name="Text 15"/>
          <p:cNvSpPr/>
          <p:nvPr/>
        </p:nvSpPr>
        <p:spPr>
          <a:xfrm>
            <a:off x="4569817" y="4729262"/>
            <a:ext cx="314383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260"/>
                </a:solidFill>
                <a:latin typeface="IBM Plex Sans" pitchFamily="34" charset="0"/>
                <a:ea typeface="IBM Plex Sans" pitchFamily="34" charset="-122"/>
                <a:cs typeface="IBM Plex Sans" pitchFamily="34" charset="-120"/>
              </a:rPr>
              <a:t>Preserve and share the past</a:t>
            </a:r>
            <a:endParaRPr lang="en-US" sz="1300" dirty="0"/>
          </a:p>
        </p:txBody>
      </p:sp>
      <p:sp>
        <p:nvSpPr>
          <p:cNvPr id="23" name="Shape 16"/>
          <p:cNvSpPr/>
          <p:nvPr/>
        </p:nvSpPr>
        <p:spPr>
          <a:xfrm>
            <a:off x="7961809" y="3390106"/>
            <a:ext cx="3414216" cy="1709341"/>
          </a:xfrm>
          <a:prstGeom prst="roundRect">
            <a:avLst>
              <a:gd name="adj" fmla="val 5758"/>
            </a:avLst>
          </a:prstGeom>
          <a:solidFill>
            <a:srgbClr val="FBFBFC"/>
          </a:solidFill>
          <a:ln w="6350">
            <a:solidFill>
              <a:srgbClr val="DDE1E6"/>
            </a:solidFill>
            <a:prstDash val="solid"/>
          </a:ln>
        </p:spPr>
      </p:sp>
      <p:pic>
        <p:nvPicPr>
          <p:cNvPr id="24" name="Image 5" descr="Browser-based 3D city scene in the MetaVRse editor">    </p:cNvPr>
          <p:cNvPicPr>
            <a:picLocks noChangeAspect="1"/>
          </p:cNvPicPr>
          <p:nvPr/>
        </p:nvPicPr>
        <p:blipFill>
          <a:blip r:embed="rId6"/>
          <a:srcRect l="1" r="1" t="0" b="0"/>
          <a:stretch/>
        </p:blipFill>
        <p:spPr>
          <a:xfrm>
            <a:off x="7964984" y="3393281"/>
            <a:ext cx="2847181" cy="889000"/>
          </a:xfrm>
          <a:custGeom>
            <a:avLst/>
            <a:gdLst/>
            <a:ahLst/>
            <a:cxnLst/>
            <a:rect l="l" t="t" r="r" b="b"/>
            <a:pathLst>
              <a:path w="2847181" h="889000">
                <a:moveTo>
                  <a:pt x="0" y="95250"/>
                </a:moveTo>
                <a:arcTo wR="95250" hR="95250" stAng="10800000" swAng="5400000"/>
                <a:lnTo>
                  <a:pt x="2847181" y="0"/>
                </a:lnTo>
                <a:lnTo>
                  <a:pt x="2847181" y="889000"/>
                </a:lnTo>
                <a:lnTo>
                  <a:pt x="0" y="889000"/>
                </a:lnTo>
                <a:close/>
              </a:path>
            </a:pathLst>
          </a:custGeom>
        </p:spPr>
      </p:pic>
      <p:sp>
        <p:nvSpPr>
          <p:cNvPr id="25" name="Text 17"/>
          <p:cNvSpPr/>
          <p:nvPr/>
        </p:nvSpPr>
        <p:spPr>
          <a:xfrm>
            <a:off x="8142784" y="4434681"/>
            <a:ext cx="314383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The spatial web</a:t>
            </a:r>
            <a:endParaRPr lang="en-US" sz="1600" dirty="0"/>
          </a:p>
        </p:txBody>
      </p:sp>
      <p:sp>
        <p:nvSpPr>
          <p:cNvPr id="26" name="Text 18"/>
          <p:cNvSpPr/>
          <p:nvPr/>
        </p:nvSpPr>
        <p:spPr>
          <a:xfrm>
            <a:off x="8142784" y="4729262"/>
            <a:ext cx="314383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260"/>
                </a:solidFill>
                <a:latin typeface="IBM Plex Sans" pitchFamily="34" charset="0"/>
                <a:ea typeface="IBM Plex Sans" pitchFamily="34" charset="-122"/>
                <a:cs typeface="IBM Plex Sans" pitchFamily="34" charset="-120"/>
              </a:rPr>
              <a:t>Worlds behind a link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31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Five ingredients every world shares</a:t>
            </a:r>
            <a:endParaRPr lang="en-US" sz="3600" dirty="0"/>
          </a:p>
        </p:txBody>
      </p:sp>
      <p:sp>
        <p:nvSpPr>
          <p:cNvPr id="3" name="Shape 1"/>
          <p:cNvSpPr/>
          <p:nvPr/>
        </p:nvSpPr>
        <p:spPr>
          <a:xfrm>
            <a:off x="812800" y="1671241"/>
            <a:ext cx="2011660" cy="2069902"/>
          </a:xfrm>
          <a:prstGeom prst="roundRect">
            <a:avLst>
              <a:gd name="adj" fmla="val 5051"/>
            </a:avLst>
          </a:prstGeom>
          <a:solidFill>
            <a:srgbClr val="1A1E24"/>
          </a:solidFill>
          <a:ln/>
        </p:spPr>
      </p:sp>
      <p:sp>
        <p:nvSpPr>
          <p:cNvPr id="4" name="Shape 2"/>
          <p:cNvSpPr/>
          <p:nvPr/>
        </p:nvSpPr>
        <p:spPr>
          <a:xfrm>
            <a:off x="812800" y="1671241"/>
            <a:ext cx="2011660" cy="2069902"/>
          </a:xfrm>
          <a:custGeom>
            <a:avLst/>
            <a:gdLst/>
            <a:ahLst/>
            <a:cxnLst/>
            <a:rect l="l" t="t" r="r" b="b"/>
            <a:pathLst>
              <a:path w="2011660" h="2069902">
                <a:moveTo>
                  <a:pt x="0" y="101600"/>
                </a:moveTo>
                <a:lnTo>
                  <a:pt x="0" y="101600"/>
                </a:lnTo>
                <a:arcTo hR="101600" wR="101600" stAng="10800000" swAng="5400000"/>
                <a:lnTo>
                  <a:pt x="1910060" y="0"/>
                </a:lnTo>
                <a:arcTo hR="101600" wR="101600" stAng="16200000" swAng="5400000"/>
                <a:lnTo>
                  <a:pt x="2011660" y="101600"/>
                </a:lnTo>
                <a:arcTo hR="76200" wR="101600" stAng="0" swAng="-5400000"/>
                <a:lnTo>
                  <a:pt x="101600" y="25400"/>
                </a:lnTo>
                <a:arcTo hR="76200" wR="101600" stAng="16200000" swAng="-5400000"/>
                <a:close/>
              </a:path>
            </a:pathLst>
          </a:custGeom>
          <a:solidFill>
            <a:srgbClr val="00A8E8"/>
          </a:solidFill>
          <a:ln/>
        </p:spPr>
      </p:sp>
      <p:pic>
        <p:nvPicPr>
          <p:cNvPr id="5" name="Image 0" descr="Globe">    </p:cNvPr>
          <p:cNvPicPr>
            <a:picLocks noChangeAspect="1"/>
          </p:cNvPicPr>
          <p:nvPr/>
        </p:nvPicPr>
        <p:blipFill>
          <a:blip r:embed="rId1"/>
          <a:srcRect l="0" r="0" t="0" b="0"/>
          <a:stretch/>
        </p:blipFill>
        <p:spPr>
          <a:xfrm>
            <a:off x="990600" y="1925241"/>
            <a:ext cx="355600" cy="355600"/>
          </a:xfrm>
          <a:prstGeom prst="rect">
            <a:avLst/>
          </a:prstGeom>
        </p:spPr>
      </p:pic>
      <p:sp>
        <p:nvSpPr>
          <p:cNvPr id="6" name="Text 3"/>
          <p:cNvSpPr/>
          <p:nvPr/>
        </p:nvSpPr>
        <p:spPr>
          <a:xfrm>
            <a:off x="990600" y="2382441"/>
            <a:ext cx="17068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Space</a:t>
            </a:r>
            <a:endParaRPr lang="en-US" sz="2200" dirty="0"/>
          </a:p>
        </p:txBody>
      </p:sp>
      <p:sp>
        <p:nvSpPr>
          <p:cNvPr id="7" name="Text 4"/>
          <p:cNvSpPr/>
          <p:nvPr/>
        </p:nvSpPr>
        <p:spPr>
          <a:xfrm>
            <a:off x="990600" y="2819301"/>
            <a:ext cx="170686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Somewhere to be, with scale and layout</a:t>
            </a:r>
            <a:endParaRPr lang="en-US" sz="1300" dirty="0"/>
          </a:p>
        </p:txBody>
      </p:sp>
      <p:sp>
        <p:nvSpPr>
          <p:cNvPr id="8" name="Shape 5"/>
          <p:cNvSpPr/>
          <p:nvPr/>
        </p:nvSpPr>
        <p:spPr>
          <a:xfrm>
            <a:off x="2951460" y="1671241"/>
            <a:ext cx="2011660" cy="2069902"/>
          </a:xfrm>
          <a:prstGeom prst="roundRect">
            <a:avLst>
              <a:gd name="adj" fmla="val 5051"/>
            </a:avLst>
          </a:prstGeom>
          <a:solidFill>
            <a:srgbClr val="1A1E24"/>
          </a:solidFill>
          <a:ln/>
        </p:spPr>
      </p:sp>
      <p:sp>
        <p:nvSpPr>
          <p:cNvPr id="9" name="Shape 6"/>
          <p:cNvSpPr/>
          <p:nvPr/>
        </p:nvSpPr>
        <p:spPr>
          <a:xfrm>
            <a:off x="2951460" y="1671241"/>
            <a:ext cx="2011660" cy="2069902"/>
          </a:xfrm>
          <a:custGeom>
            <a:avLst/>
            <a:gdLst/>
            <a:ahLst/>
            <a:cxnLst/>
            <a:rect l="l" t="t" r="r" b="b"/>
            <a:pathLst>
              <a:path w="2011660" h="2069902">
                <a:moveTo>
                  <a:pt x="0" y="101600"/>
                </a:moveTo>
                <a:lnTo>
                  <a:pt x="0" y="101600"/>
                </a:lnTo>
                <a:arcTo hR="101600" wR="101600" stAng="10800000" swAng="5400000"/>
                <a:lnTo>
                  <a:pt x="1910060" y="0"/>
                </a:lnTo>
                <a:arcTo hR="101600" wR="101600" stAng="16200000" swAng="5400000"/>
                <a:lnTo>
                  <a:pt x="2011660" y="101600"/>
                </a:lnTo>
                <a:arcTo hR="76200" wR="101600" stAng="0" swAng="-5400000"/>
                <a:lnTo>
                  <a:pt x="101600" y="25400"/>
                </a:lnTo>
                <a:arcTo hR="76200" wR="101600" stAng="16200000" swAng="-5400000"/>
                <a:close/>
              </a:path>
            </a:pathLst>
          </a:custGeom>
          <a:solidFill>
            <a:srgbClr val="00A8E8"/>
          </a:solidFill>
          <a:ln/>
        </p:spPr>
      </p:sp>
      <p:pic>
        <p:nvPicPr>
          <p:cNvPr id="10" name="Image 1" descr="Users">    </p:cNvPr>
          <p:cNvPicPr>
            <a:picLocks noChangeAspect="1"/>
          </p:cNvPicPr>
          <p:nvPr/>
        </p:nvPicPr>
        <p:blipFill>
          <a:blip r:embed="rId2"/>
          <a:srcRect l="0" r="0" t="0" b="0"/>
          <a:stretch/>
        </p:blipFill>
        <p:spPr>
          <a:xfrm>
            <a:off x="3129260" y="1925241"/>
            <a:ext cx="355600" cy="355600"/>
          </a:xfrm>
          <a:prstGeom prst="rect">
            <a:avLst/>
          </a:prstGeom>
        </p:spPr>
      </p:pic>
      <p:sp>
        <p:nvSpPr>
          <p:cNvPr id="11" name="Text 7"/>
          <p:cNvSpPr/>
          <p:nvPr/>
        </p:nvSpPr>
        <p:spPr>
          <a:xfrm>
            <a:off x="3129260" y="2382441"/>
            <a:ext cx="17068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Presence</a:t>
            </a:r>
            <a:endParaRPr lang="en-US" sz="2200" dirty="0"/>
          </a:p>
        </p:txBody>
      </p:sp>
      <p:sp>
        <p:nvSpPr>
          <p:cNvPr id="12" name="Text 8"/>
          <p:cNvSpPr/>
          <p:nvPr/>
        </p:nvSpPr>
        <p:spPr>
          <a:xfrm>
            <a:off x="3129260" y="2819301"/>
            <a:ext cx="170686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The feeling that you are there</a:t>
            </a:r>
            <a:endParaRPr lang="en-US" sz="1300" dirty="0"/>
          </a:p>
        </p:txBody>
      </p:sp>
      <p:sp>
        <p:nvSpPr>
          <p:cNvPr id="13" name="Shape 9"/>
          <p:cNvSpPr/>
          <p:nvPr/>
        </p:nvSpPr>
        <p:spPr>
          <a:xfrm>
            <a:off x="5090120" y="1671241"/>
            <a:ext cx="2011660" cy="2069902"/>
          </a:xfrm>
          <a:prstGeom prst="roundRect">
            <a:avLst>
              <a:gd name="adj" fmla="val 5051"/>
            </a:avLst>
          </a:prstGeom>
          <a:solidFill>
            <a:srgbClr val="1A1E24"/>
          </a:solidFill>
          <a:ln/>
        </p:spPr>
      </p:sp>
      <p:sp>
        <p:nvSpPr>
          <p:cNvPr id="14" name="Shape 10"/>
          <p:cNvSpPr/>
          <p:nvPr/>
        </p:nvSpPr>
        <p:spPr>
          <a:xfrm>
            <a:off x="5090120" y="1671241"/>
            <a:ext cx="2011660" cy="2069902"/>
          </a:xfrm>
          <a:custGeom>
            <a:avLst/>
            <a:gdLst/>
            <a:ahLst/>
            <a:cxnLst/>
            <a:rect l="l" t="t" r="r" b="b"/>
            <a:pathLst>
              <a:path w="2011660" h="2069902">
                <a:moveTo>
                  <a:pt x="0" y="101600"/>
                </a:moveTo>
                <a:lnTo>
                  <a:pt x="0" y="101600"/>
                </a:lnTo>
                <a:arcTo hR="101600" wR="101600" stAng="10800000" swAng="5400000"/>
                <a:lnTo>
                  <a:pt x="1910060" y="0"/>
                </a:lnTo>
                <a:arcTo hR="101600" wR="101600" stAng="16200000" swAng="5400000"/>
                <a:lnTo>
                  <a:pt x="2011660" y="101600"/>
                </a:lnTo>
                <a:arcTo hR="76200" wR="101600" stAng="0" swAng="-5400000"/>
                <a:lnTo>
                  <a:pt x="101600" y="25400"/>
                </a:lnTo>
                <a:arcTo hR="76200" wR="101600" stAng="16200000" swAng="-5400000"/>
                <a:close/>
              </a:path>
            </a:pathLst>
          </a:custGeom>
          <a:solidFill>
            <a:srgbClr val="00A8E8"/>
          </a:solidFill>
          <a:ln/>
        </p:spPr>
      </p:sp>
      <p:pic>
        <p:nvPicPr>
          <p:cNvPr id="15" name="Image 2" descr="Settings">    </p:cNvPr>
          <p:cNvPicPr>
            <a:picLocks noChangeAspect="1"/>
          </p:cNvPicPr>
          <p:nvPr/>
        </p:nvPicPr>
        <p:blipFill>
          <a:blip r:embed="rId3"/>
          <a:srcRect l="0" r="0" t="0" b="0"/>
          <a:stretch/>
        </p:blipFill>
        <p:spPr>
          <a:xfrm>
            <a:off x="5267920" y="1925241"/>
            <a:ext cx="355600" cy="355600"/>
          </a:xfrm>
          <a:prstGeom prst="rect">
            <a:avLst/>
          </a:prstGeom>
        </p:spPr>
      </p:pic>
      <p:sp>
        <p:nvSpPr>
          <p:cNvPr id="16" name="Text 11"/>
          <p:cNvSpPr/>
          <p:nvPr/>
        </p:nvSpPr>
        <p:spPr>
          <a:xfrm>
            <a:off x="5267920" y="2382441"/>
            <a:ext cx="17068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Rules</a:t>
            </a:r>
            <a:endParaRPr lang="en-US" sz="2200" dirty="0"/>
          </a:p>
        </p:txBody>
      </p:sp>
      <p:sp>
        <p:nvSpPr>
          <p:cNvPr id="17" name="Text 12"/>
          <p:cNvSpPr/>
          <p:nvPr/>
        </p:nvSpPr>
        <p:spPr>
          <a:xfrm>
            <a:off x="5267920" y="2819301"/>
            <a:ext cx="170686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What's possible, and what happens when you act</a:t>
            </a:r>
            <a:endParaRPr lang="en-US" sz="1300" dirty="0"/>
          </a:p>
        </p:txBody>
      </p:sp>
      <p:sp>
        <p:nvSpPr>
          <p:cNvPr id="18" name="Shape 13"/>
          <p:cNvSpPr/>
          <p:nvPr/>
        </p:nvSpPr>
        <p:spPr>
          <a:xfrm>
            <a:off x="7228780" y="1671241"/>
            <a:ext cx="2011660" cy="2069902"/>
          </a:xfrm>
          <a:prstGeom prst="roundRect">
            <a:avLst>
              <a:gd name="adj" fmla="val 5051"/>
            </a:avLst>
          </a:prstGeom>
          <a:solidFill>
            <a:srgbClr val="1A1E24"/>
          </a:solidFill>
          <a:ln/>
        </p:spPr>
      </p:sp>
      <p:sp>
        <p:nvSpPr>
          <p:cNvPr id="19" name="Shape 14"/>
          <p:cNvSpPr/>
          <p:nvPr/>
        </p:nvSpPr>
        <p:spPr>
          <a:xfrm>
            <a:off x="7228780" y="1671241"/>
            <a:ext cx="2011660" cy="2069902"/>
          </a:xfrm>
          <a:custGeom>
            <a:avLst/>
            <a:gdLst/>
            <a:ahLst/>
            <a:cxnLst/>
            <a:rect l="l" t="t" r="r" b="b"/>
            <a:pathLst>
              <a:path w="2011660" h="2069902">
                <a:moveTo>
                  <a:pt x="0" y="101600"/>
                </a:moveTo>
                <a:lnTo>
                  <a:pt x="0" y="101600"/>
                </a:lnTo>
                <a:arcTo hR="101600" wR="101600" stAng="10800000" swAng="5400000"/>
                <a:lnTo>
                  <a:pt x="1910060" y="0"/>
                </a:lnTo>
                <a:arcTo hR="101600" wR="101600" stAng="16200000" swAng="5400000"/>
                <a:lnTo>
                  <a:pt x="2011660" y="101600"/>
                </a:lnTo>
                <a:arcTo hR="76200" wR="101600" stAng="0" swAng="-5400000"/>
                <a:lnTo>
                  <a:pt x="101600" y="25400"/>
                </a:lnTo>
                <a:arcTo hR="76200" wR="101600" stAng="16200000" swAng="-5400000"/>
                <a:close/>
              </a:path>
            </a:pathLst>
          </a:custGeom>
          <a:solidFill>
            <a:srgbClr val="00A8E8"/>
          </a:solidFill>
          <a:ln/>
        </p:spPr>
      </p:sp>
      <p:pic>
        <p:nvPicPr>
          <p:cNvPr id="20" name="Image 3" descr="Book">    </p:cNvPr>
          <p:cNvPicPr>
            <a:picLocks noChangeAspect="1"/>
          </p:cNvPicPr>
          <p:nvPr/>
        </p:nvPicPr>
        <p:blipFill>
          <a:blip r:embed="rId4"/>
          <a:srcRect l="0" r="0" t="0" b="0"/>
          <a:stretch/>
        </p:blipFill>
        <p:spPr>
          <a:xfrm>
            <a:off x="7406580" y="1925241"/>
            <a:ext cx="355600" cy="355600"/>
          </a:xfrm>
          <a:prstGeom prst="rect">
            <a:avLst/>
          </a:prstGeom>
        </p:spPr>
      </p:pic>
      <p:sp>
        <p:nvSpPr>
          <p:cNvPr id="21" name="Text 15"/>
          <p:cNvSpPr/>
          <p:nvPr/>
        </p:nvSpPr>
        <p:spPr>
          <a:xfrm>
            <a:off x="7406580" y="2382441"/>
            <a:ext cx="17068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Story</a:t>
            </a:r>
            <a:endParaRPr lang="en-US" sz="2200" dirty="0"/>
          </a:p>
        </p:txBody>
      </p:sp>
      <p:sp>
        <p:nvSpPr>
          <p:cNvPr id="22" name="Text 16"/>
          <p:cNvSpPr/>
          <p:nvPr/>
        </p:nvSpPr>
        <p:spPr>
          <a:xfrm>
            <a:off x="7406580" y="2819301"/>
            <a:ext cx="170686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A history and a reason to explore</a:t>
            </a:r>
            <a:endParaRPr lang="en-US" sz="1300" dirty="0"/>
          </a:p>
        </p:txBody>
      </p:sp>
      <p:sp>
        <p:nvSpPr>
          <p:cNvPr id="23" name="Shape 17"/>
          <p:cNvSpPr/>
          <p:nvPr/>
        </p:nvSpPr>
        <p:spPr>
          <a:xfrm>
            <a:off x="9367441" y="1671241"/>
            <a:ext cx="2011660" cy="2069902"/>
          </a:xfrm>
          <a:prstGeom prst="roundRect">
            <a:avLst>
              <a:gd name="adj" fmla="val 5051"/>
            </a:avLst>
          </a:prstGeom>
          <a:solidFill>
            <a:srgbClr val="1A1E24"/>
          </a:solidFill>
          <a:ln/>
        </p:spPr>
      </p:sp>
      <p:sp>
        <p:nvSpPr>
          <p:cNvPr id="24" name="Shape 18"/>
          <p:cNvSpPr/>
          <p:nvPr/>
        </p:nvSpPr>
        <p:spPr>
          <a:xfrm>
            <a:off x="9367441" y="1671241"/>
            <a:ext cx="2011660" cy="2069902"/>
          </a:xfrm>
          <a:custGeom>
            <a:avLst/>
            <a:gdLst/>
            <a:ahLst/>
            <a:cxnLst/>
            <a:rect l="l" t="t" r="r" b="b"/>
            <a:pathLst>
              <a:path w="2011660" h="2069902">
                <a:moveTo>
                  <a:pt x="0" y="101600"/>
                </a:moveTo>
                <a:lnTo>
                  <a:pt x="0" y="101600"/>
                </a:lnTo>
                <a:arcTo hR="101600" wR="101600" stAng="10800000" swAng="5400000"/>
                <a:lnTo>
                  <a:pt x="1910060" y="0"/>
                </a:lnTo>
                <a:arcTo hR="101600" wR="101600" stAng="16200000" swAng="5400000"/>
                <a:lnTo>
                  <a:pt x="2011660" y="101600"/>
                </a:lnTo>
                <a:arcTo hR="76200" wR="101600" stAng="0" swAng="-5400000"/>
                <a:lnTo>
                  <a:pt x="101600" y="25400"/>
                </a:lnTo>
                <a:arcTo hR="76200" wR="101600" stAng="16200000" swAng="-5400000"/>
                <a:close/>
              </a:path>
            </a:pathLst>
          </a:custGeom>
          <a:solidFill>
            <a:srgbClr val="00A8E8"/>
          </a:solidFill>
          <a:ln/>
        </p:spPr>
      </p:sp>
      <p:pic>
        <p:nvPicPr>
          <p:cNvPr id="25" name="Image 4" descr="Lightbulb">    </p:cNvPr>
          <p:cNvPicPr>
            <a:picLocks noChangeAspect="1"/>
          </p:cNvPicPr>
          <p:nvPr/>
        </p:nvPicPr>
        <p:blipFill>
          <a:blip r:embed="rId5"/>
          <a:srcRect l="0" r="0" t="0" b="0"/>
          <a:stretch/>
        </p:blipFill>
        <p:spPr>
          <a:xfrm>
            <a:off x="9545241" y="1925241"/>
            <a:ext cx="355600" cy="355600"/>
          </a:xfrm>
          <a:prstGeom prst="rect">
            <a:avLst/>
          </a:prstGeom>
        </p:spPr>
      </p:pic>
      <p:sp>
        <p:nvSpPr>
          <p:cNvPr id="26" name="Text 19"/>
          <p:cNvSpPr/>
          <p:nvPr/>
        </p:nvSpPr>
        <p:spPr>
          <a:xfrm>
            <a:off x="9545241" y="2382441"/>
            <a:ext cx="17068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Purpose</a:t>
            </a:r>
            <a:endParaRPr lang="en-US" sz="2200" dirty="0"/>
          </a:p>
        </p:txBody>
      </p:sp>
      <p:sp>
        <p:nvSpPr>
          <p:cNvPr id="27" name="Text 20"/>
          <p:cNvSpPr/>
          <p:nvPr/>
        </p:nvSpPr>
        <p:spPr>
          <a:xfrm>
            <a:off x="9545241" y="2819301"/>
            <a:ext cx="170686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Why it exists and who it's for</a:t>
            </a:r>
            <a:endParaRPr lang="en-US" sz="1300" dirty="0"/>
          </a:p>
        </p:txBody>
      </p:sp>
      <p:sp>
        <p:nvSpPr>
          <p:cNvPr id="28" name="Text 21"/>
          <p:cNvSpPr/>
          <p:nvPr/>
        </p:nvSpPr>
        <p:spPr>
          <a:xfrm>
            <a:off x="812800" y="409674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Miss one and people feel it, even if they can't name it.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02 · THE METAVERSE</a:t>
            </a:r>
            <a:endParaRPr lang="en-US" sz="1300" dirty="0"/>
          </a:p>
        </p:txBody>
      </p:sp>
      <p:sp>
        <p:nvSpPr>
          <p:cNvPr id="3" name="Text 1"/>
          <p:cNvSpPr/>
          <p:nvPr>
            <p:ph type="title"/>
          </p:nvPr>
        </p:nvSpPr>
        <p:spPr>
          <a:xfrm>
            <a:off x="812800" y="117088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An idea from science fiction, 30 years in the making</a:t>
            </a:r>
            <a:endParaRPr lang="en-US" sz="3600" dirty="0"/>
          </a:p>
        </p:txBody>
      </p:sp>
      <p:sp>
        <p:nvSpPr>
          <p:cNvPr id="4" name="Shape 2"/>
          <p:cNvSpPr/>
          <p:nvPr/>
        </p:nvSpPr>
        <p:spPr>
          <a:xfrm>
            <a:off x="812800" y="2595662"/>
            <a:ext cx="1655167" cy="0"/>
          </a:xfrm>
          <a:prstGeom prst="line">
            <a:avLst/>
          </a:prstGeom>
          <a:noFill/>
          <a:ln w="25400">
            <a:solidFill>
              <a:srgbClr val="2A64C8"/>
            </a:solidFill>
            <a:prstDash val="solid"/>
          </a:ln>
        </p:spPr>
      </p:sp>
      <p:sp>
        <p:nvSpPr>
          <p:cNvPr id="5" name="Text 3"/>
          <p:cNvSpPr/>
          <p:nvPr/>
        </p:nvSpPr>
        <p:spPr>
          <a:xfrm>
            <a:off x="812800" y="2760762"/>
            <a:ext cx="170596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1992</a:t>
            </a:r>
            <a:endParaRPr lang="en-US" sz="2200" dirty="0"/>
          </a:p>
        </p:txBody>
      </p:sp>
      <p:sp>
        <p:nvSpPr>
          <p:cNvPr id="6" name="Text 4"/>
          <p:cNvSpPr/>
          <p:nvPr/>
        </p:nvSpPr>
        <p:spPr>
          <a:xfrm>
            <a:off x="812800" y="3228082"/>
            <a:ext cx="1705967" cy="693936"/>
          </a:xfrm>
          <a:prstGeom prst="rect">
            <a:avLst/>
          </a:prstGeom>
          <a:noFill/>
          <a:ln/>
        </p:spPr>
        <p:txBody>
          <a:bodyPr wrap="square" lIns="0" tIns="0" rIns="0" bIns="0" rtlCol="0" anchor="t">
            <a:normAutofit/>
          </a:bodyPr>
          <a:lstStyle/>
          <a:p>
            <a:pPr algn="l" indent="0" marL="0">
              <a:lnSpc>
                <a:spcPts val="1755"/>
              </a:lnSpc>
              <a:buNone/>
            </a:pPr>
            <a:r>
              <a:rPr lang="en-US" sz="1300" i="1" dirty="0">
                <a:solidFill>
                  <a:srgbClr val="4A5260"/>
                </a:solidFill>
                <a:latin typeface="IBM Plex Sans" pitchFamily="34" charset="0"/>
                <a:ea typeface="IBM Plex Sans" pitchFamily="34" charset="-122"/>
                <a:cs typeface="IBM Plex Sans" pitchFamily="34" charset="-120"/>
              </a:rPr>
              <a:t>Snow Crash</a:t>
            </a:r>
            <a:r>
              <a:rPr lang="en-US" sz="1300" dirty="0">
                <a:solidFill>
                  <a:srgbClr val="4A5260"/>
                </a:solidFill>
                <a:latin typeface="IBM Plex Sans" pitchFamily="34" charset="0"/>
                <a:ea typeface="IBM Plex Sans" pitchFamily="34" charset="-122"/>
                <a:cs typeface="IBM Plex Sans" pitchFamily="34" charset="-120"/>
              </a:rPr>
              <a:t> by Neal Stephenson coins "the Metaverse"</a:t>
            </a:r>
            <a:endParaRPr lang="en-US" sz="1300" dirty="0"/>
          </a:p>
        </p:txBody>
      </p:sp>
      <p:sp>
        <p:nvSpPr>
          <p:cNvPr id="7" name="Shape 5"/>
          <p:cNvSpPr/>
          <p:nvPr/>
        </p:nvSpPr>
        <p:spPr>
          <a:xfrm>
            <a:off x="2594967" y="2595662"/>
            <a:ext cx="1655266" cy="0"/>
          </a:xfrm>
          <a:prstGeom prst="line">
            <a:avLst/>
          </a:prstGeom>
          <a:noFill/>
          <a:ln w="25400">
            <a:solidFill>
              <a:srgbClr val="2A64C8"/>
            </a:solidFill>
            <a:prstDash val="solid"/>
          </a:ln>
        </p:spPr>
      </p:sp>
      <p:sp>
        <p:nvSpPr>
          <p:cNvPr id="8" name="Text 6"/>
          <p:cNvSpPr/>
          <p:nvPr/>
        </p:nvSpPr>
        <p:spPr>
          <a:xfrm>
            <a:off x="2594967" y="2760762"/>
            <a:ext cx="170606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2003</a:t>
            </a:r>
            <a:endParaRPr lang="en-US" sz="2200" dirty="0"/>
          </a:p>
        </p:txBody>
      </p:sp>
      <p:sp>
        <p:nvSpPr>
          <p:cNvPr id="9" name="Text 7"/>
          <p:cNvSpPr/>
          <p:nvPr/>
        </p:nvSpPr>
        <p:spPr>
          <a:xfrm>
            <a:off x="2594967" y="3228082"/>
            <a:ext cx="170606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260"/>
                </a:solidFill>
                <a:latin typeface="IBM Plex Sans" pitchFamily="34" charset="0"/>
                <a:ea typeface="IBM Plex Sans" pitchFamily="34" charset="-122"/>
                <a:cs typeface="IBM Plex Sans" pitchFamily="34" charset="-120"/>
              </a:rPr>
              <a:t>Second Life: avatars, land and a user-built economy</a:t>
            </a:r>
            <a:endParaRPr lang="en-US" sz="1300" dirty="0"/>
          </a:p>
        </p:txBody>
      </p:sp>
      <p:sp>
        <p:nvSpPr>
          <p:cNvPr id="10" name="Shape 8"/>
          <p:cNvSpPr/>
          <p:nvPr/>
        </p:nvSpPr>
        <p:spPr>
          <a:xfrm>
            <a:off x="4377234" y="2595662"/>
            <a:ext cx="1655167" cy="0"/>
          </a:xfrm>
          <a:prstGeom prst="line">
            <a:avLst/>
          </a:prstGeom>
          <a:noFill/>
          <a:ln w="25400">
            <a:solidFill>
              <a:srgbClr val="2A64C8"/>
            </a:solidFill>
            <a:prstDash val="solid"/>
          </a:ln>
        </p:spPr>
      </p:sp>
      <p:sp>
        <p:nvSpPr>
          <p:cNvPr id="11" name="Text 9"/>
          <p:cNvSpPr/>
          <p:nvPr/>
        </p:nvSpPr>
        <p:spPr>
          <a:xfrm>
            <a:off x="4377234" y="2760762"/>
            <a:ext cx="170596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2006</a:t>
            </a:r>
            <a:endParaRPr lang="en-US" sz="2200" dirty="0"/>
          </a:p>
        </p:txBody>
      </p:sp>
      <p:sp>
        <p:nvSpPr>
          <p:cNvPr id="12" name="Text 10"/>
          <p:cNvSpPr/>
          <p:nvPr/>
        </p:nvSpPr>
        <p:spPr>
          <a:xfrm>
            <a:off x="4377234" y="3228082"/>
            <a:ext cx="170596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260"/>
                </a:solidFill>
                <a:latin typeface="IBM Plex Sans" pitchFamily="34" charset="0"/>
                <a:ea typeface="IBM Plex Sans" pitchFamily="34" charset="-122"/>
                <a:cs typeface="IBM Plex Sans" pitchFamily="34" charset="-120"/>
              </a:rPr>
              <a:t>Roblox launches: players become world builders</a:t>
            </a:r>
            <a:endParaRPr lang="en-US" sz="1300" dirty="0"/>
          </a:p>
        </p:txBody>
      </p:sp>
      <p:sp>
        <p:nvSpPr>
          <p:cNvPr id="13" name="Shape 11"/>
          <p:cNvSpPr/>
          <p:nvPr/>
        </p:nvSpPr>
        <p:spPr>
          <a:xfrm>
            <a:off x="6159401" y="2595662"/>
            <a:ext cx="1655266" cy="0"/>
          </a:xfrm>
          <a:prstGeom prst="line">
            <a:avLst/>
          </a:prstGeom>
          <a:noFill/>
          <a:ln w="25400">
            <a:solidFill>
              <a:srgbClr val="2A64C8"/>
            </a:solidFill>
            <a:prstDash val="solid"/>
          </a:ln>
        </p:spPr>
      </p:sp>
      <p:sp>
        <p:nvSpPr>
          <p:cNvPr id="14" name="Text 12"/>
          <p:cNvSpPr/>
          <p:nvPr/>
        </p:nvSpPr>
        <p:spPr>
          <a:xfrm>
            <a:off x="6159401" y="2760762"/>
            <a:ext cx="170606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2017</a:t>
            </a:r>
            <a:endParaRPr lang="en-US" sz="2200" dirty="0"/>
          </a:p>
        </p:txBody>
      </p:sp>
      <p:sp>
        <p:nvSpPr>
          <p:cNvPr id="15" name="Text 13"/>
          <p:cNvSpPr/>
          <p:nvPr/>
        </p:nvSpPr>
        <p:spPr>
          <a:xfrm>
            <a:off x="6159401" y="3228082"/>
            <a:ext cx="170606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260"/>
                </a:solidFill>
                <a:latin typeface="IBM Plex Sans" pitchFamily="34" charset="0"/>
                <a:ea typeface="IBM Plex Sans" pitchFamily="34" charset="-122"/>
                <a:cs typeface="IBM Plex Sans" pitchFamily="34" charset="-120"/>
              </a:rPr>
              <a:t>Fortnite: a game that becomes a venue for concerts and events</a:t>
            </a:r>
            <a:endParaRPr lang="en-US" sz="1300" dirty="0"/>
          </a:p>
        </p:txBody>
      </p:sp>
      <p:sp>
        <p:nvSpPr>
          <p:cNvPr id="16" name="Shape 14"/>
          <p:cNvSpPr/>
          <p:nvPr/>
        </p:nvSpPr>
        <p:spPr>
          <a:xfrm>
            <a:off x="7941667" y="2595662"/>
            <a:ext cx="1655266" cy="0"/>
          </a:xfrm>
          <a:prstGeom prst="line">
            <a:avLst/>
          </a:prstGeom>
          <a:noFill/>
          <a:ln w="25400">
            <a:solidFill>
              <a:srgbClr val="2A64C8"/>
            </a:solidFill>
            <a:prstDash val="solid"/>
          </a:ln>
        </p:spPr>
      </p:sp>
      <p:sp>
        <p:nvSpPr>
          <p:cNvPr id="17" name="Text 15"/>
          <p:cNvSpPr/>
          <p:nvPr/>
        </p:nvSpPr>
        <p:spPr>
          <a:xfrm>
            <a:off x="7941667" y="2760762"/>
            <a:ext cx="170606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2021</a:t>
            </a:r>
            <a:endParaRPr lang="en-US" sz="2200" dirty="0"/>
          </a:p>
        </p:txBody>
      </p:sp>
      <p:sp>
        <p:nvSpPr>
          <p:cNvPr id="18" name="Text 16"/>
          <p:cNvSpPr/>
          <p:nvPr/>
        </p:nvSpPr>
        <p:spPr>
          <a:xfrm>
            <a:off x="7941667" y="3228082"/>
            <a:ext cx="17060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260"/>
                </a:solidFill>
                <a:latin typeface="IBM Plex Sans" pitchFamily="34" charset="0"/>
                <a:ea typeface="IBM Plex Sans" pitchFamily="34" charset="-122"/>
                <a:cs typeface="IBM Plex Sans" pitchFamily="34" charset="-120"/>
              </a:rPr>
              <a:t>Facebook renames itself Meta. Peak hype</a:t>
            </a:r>
            <a:endParaRPr lang="en-US" sz="1300" dirty="0"/>
          </a:p>
        </p:txBody>
      </p:sp>
      <p:sp>
        <p:nvSpPr>
          <p:cNvPr id="19" name="Shape 17"/>
          <p:cNvSpPr/>
          <p:nvPr/>
        </p:nvSpPr>
        <p:spPr>
          <a:xfrm>
            <a:off x="9723934" y="2595662"/>
            <a:ext cx="1655167" cy="0"/>
          </a:xfrm>
          <a:prstGeom prst="line">
            <a:avLst/>
          </a:prstGeom>
          <a:noFill/>
          <a:ln w="25400">
            <a:solidFill>
              <a:srgbClr val="2A64C8"/>
            </a:solidFill>
            <a:prstDash val="solid"/>
          </a:ln>
        </p:spPr>
      </p:sp>
      <p:sp>
        <p:nvSpPr>
          <p:cNvPr id="20" name="Text 18"/>
          <p:cNvSpPr/>
          <p:nvPr/>
        </p:nvSpPr>
        <p:spPr>
          <a:xfrm>
            <a:off x="9723934" y="2760762"/>
            <a:ext cx="1705967"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2024</a:t>
            </a:r>
            <a:endParaRPr lang="en-US" sz="2200" dirty="0"/>
          </a:p>
        </p:txBody>
      </p:sp>
      <p:sp>
        <p:nvSpPr>
          <p:cNvPr id="21" name="Text 19"/>
          <p:cNvSpPr/>
          <p:nvPr/>
        </p:nvSpPr>
        <p:spPr>
          <a:xfrm>
            <a:off x="9723934" y="3228082"/>
            <a:ext cx="1705967"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260"/>
                </a:solidFill>
                <a:latin typeface="IBM Plex Sans" pitchFamily="34" charset="0"/>
                <a:ea typeface="IBM Plex Sans" pitchFamily="34" charset="-122"/>
                <a:cs typeface="IBM Plex Sans" pitchFamily="34" charset="-120"/>
              </a:rPr>
              <a:t>Apple Vision Pro brands it "spatial computing"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What people mean by "the metaverse"</a:t>
            </a:r>
            <a:endParaRPr lang="en-US" sz="3600" dirty="0"/>
          </a:p>
        </p:txBody>
      </p:sp>
      <p:sp>
        <p:nvSpPr>
          <p:cNvPr id="3" name="Shape 1"/>
          <p:cNvSpPr/>
          <p:nvPr/>
        </p:nvSpPr>
        <p:spPr>
          <a:xfrm>
            <a:off x="815975" y="1623616"/>
            <a:ext cx="3414117" cy="1337171"/>
          </a:xfrm>
          <a:prstGeom prst="roundRect">
            <a:avLst>
              <a:gd name="adj" fmla="val 7361"/>
            </a:avLst>
          </a:prstGeom>
          <a:solidFill>
            <a:srgbClr val="FBFBFC"/>
          </a:solidFill>
          <a:ln w="6350">
            <a:solidFill>
              <a:srgbClr val="DDE1E6"/>
            </a:solidFill>
            <a:prstDash val="solid"/>
          </a:ln>
        </p:spPr>
      </p:sp>
      <p:sp>
        <p:nvSpPr>
          <p:cNvPr id="4" name="Text 2"/>
          <p:cNvSpPr/>
          <p:nvPr/>
        </p:nvSpPr>
        <p:spPr>
          <a:xfrm>
            <a:off x="1047750" y="1855391"/>
            <a:ext cx="303908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Persistent</a:t>
            </a:r>
            <a:endParaRPr lang="en-US" sz="2200" dirty="0"/>
          </a:p>
        </p:txBody>
      </p:sp>
      <p:sp>
        <p:nvSpPr>
          <p:cNvPr id="5" name="Text 3"/>
          <p:cNvSpPr/>
          <p:nvPr/>
        </p:nvSpPr>
        <p:spPr>
          <a:xfrm>
            <a:off x="1047750" y="2266851"/>
            <a:ext cx="30390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It keeps existing when you log off</a:t>
            </a:r>
            <a:endParaRPr lang="en-US" sz="1300" dirty="0"/>
          </a:p>
        </p:txBody>
      </p:sp>
      <p:sp>
        <p:nvSpPr>
          <p:cNvPr id="6" name="Shape 4"/>
          <p:cNvSpPr/>
          <p:nvPr/>
        </p:nvSpPr>
        <p:spPr>
          <a:xfrm>
            <a:off x="4388842" y="1623616"/>
            <a:ext cx="3414216" cy="1337171"/>
          </a:xfrm>
          <a:prstGeom prst="roundRect">
            <a:avLst>
              <a:gd name="adj" fmla="val 7361"/>
            </a:avLst>
          </a:prstGeom>
          <a:solidFill>
            <a:srgbClr val="FBFBFC"/>
          </a:solidFill>
          <a:ln w="6350">
            <a:solidFill>
              <a:srgbClr val="DDE1E6"/>
            </a:solidFill>
            <a:prstDash val="solid"/>
          </a:ln>
        </p:spPr>
      </p:sp>
      <p:sp>
        <p:nvSpPr>
          <p:cNvPr id="7" name="Text 5"/>
          <p:cNvSpPr/>
          <p:nvPr/>
        </p:nvSpPr>
        <p:spPr>
          <a:xfrm>
            <a:off x="4620617" y="1855391"/>
            <a:ext cx="303918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Real-time 3D</a:t>
            </a:r>
            <a:endParaRPr lang="en-US" sz="2200" dirty="0"/>
          </a:p>
        </p:txBody>
      </p:sp>
      <p:sp>
        <p:nvSpPr>
          <p:cNvPr id="8" name="Text 6"/>
          <p:cNvSpPr/>
          <p:nvPr/>
        </p:nvSpPr>
        <p:spPr>
          <a:xfrm>
            <a:off x="4620617" y="2266851"/>
            <a:ext cx="303918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Rendered live, explored freely</a:t>
            </a:r>
            <a:endParaRPr lang="en-US" sz="1300" dirty="0"/>
          </a:p>
        </p:txBody>
      </p:sp>
      <p:sp>
        <p:nvSpPr>
          <p:cNvPr id="9" name="Shape 7"/>
          <p:cNvSpPr/>
          <p:nvPr/>
        </p:nvSpPr>
        <p:spPr>
          <a:xfrm>
            <a:off x="7961809" y="1623616"/>
            <a:ext cx="3414216" cy="1337171"/>
          </a:xfrm>
          <a:prstGeom prst="roundRect">
            <a:avLst>
              <a:gd name="adj" fmla="val 7361"/>
            </a:avLst>
          </a:prstGeom>
          <a:solidFill>
            <a:srgbClr val="FBFBFC"/>
          </a:solidFill>
          <a:ln w="6350">
            <a:solidFill>
              <a:srgbClr val="DDE1E6"/>
            </a:solidFill>
            <a:prstDash val="solid"/>
          </a:ln>
        </p:spPr>
      </p:sp>
      <p:sp>
        <p:nvSpPr>
          <p:cNvPr id="10" name="Text 8"/>
          <p:cNvSpPr/>
          <p:nvPr/>
        </p:nvSpPr>
        <p:spPr>
          <a:xfrm>
            <a:off x="8193584" y="1855391"/>
            <a:ext cx="303918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Shared</a:t>
            </a:r>
            <a:endParaRPr lang="en-US" sz="2200" dirty="0"/>
          </a:p>
        </p:txBody>
      </p:sp>
      <p:sp>
        <p:nvSpPr>
          <p:cNvPr id="11" name="Text 9"/>
          <p:cNvSpPr/>
          <p:nvPr/>
        </p:nvSpPr>
        <p:spPr>
          <a:xfrm>
            <a:off x="8193584" y="2266851"/>
            <a:ext cx="303918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Many people, at the same time, in the same place</a:t>
            </a:r>
            <a:endParaRPr lang="en-US" sz="1300" dirty="0"/>
          </a:p>
        </p:txBody>
      </p:sp>
      <p:sp>
        <p:nvSpPr>
          <p:cNvPr id="12" name="Shape 10"/>
          <p:cNvSpPr/>
          <p:nvPr/>
        </p:nvSpPr>
        <p:spPr>
          <a:xfrm>
            <a:off x="815975" y="3119537"/>
            <a:ext cx="3414117" cy="1337171"/>
          </a:xfrm>
          <a:prstGeom prst="roundRect">
            <a:avLst>
              <a:gd name="adj" fmla="val 7361"/>
            </a:avLst>
          </a:prstGeom>
          <a:solidFill>
            <a:srgbClr val="FBFBFC"/>
          </a:solidFill>
          <a:ln w="6350">
            <a:solidFill>
              <a:srgbClr val="DDE1E6"/>
            </a:solidFill>
            <a:prstDash val="solid"/>
          </a:ln>
        </p:spPr>
      </p:sp>
      <p:sp>
        <p:nvSpPr>
          <p:cNvPr id="13" name="Text 11"/>
          <p:cNvSpPr/>
          <p:nvPr/>
        </p:nvSpPr>
        <p:spPr>
          <a:xfrm>
            <a:off x="1047750" y="3351312"/>
            <a:ext cx="303908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Present</a:t>
            </a:r>
            <a:endParaRPr lang="en-US" sz="2200" dirty="0"/>
          </a:p>
        </p:txBody>
      </p:sp>
      <p:sp>
        <p:nvSpPr>
          <p:cNvPr id="14" name="Text 12"/>
          <p:cNvSpPr/>
          <p:nvPr/>
        </p:nvSpPr>
        <p:spPr>
          <a:xfrm>
            <a:off x="1047750" y="3762772"/>
            <a:ext cx="30390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Each person feels like they're there</a:t>
            </a:r>
            <a:endParaRPr lang="en-US" sz="1300" dirty="0"/>
          </a:p>
        </p:txBody>
      </p:sp>
      <p:sp>
        <p:nvSpPr>
          <p:cNvPr id="15" name="Shape 13"/>
          <p:cNvSpPr/>
          <p:nvPr/>
        </p:nvSpPr>
        <p:spPr>
          <a:xfrm>
            <a:off x="4388842" y="3119537"/>
            <a:ext cx="3414216" cy="1337171"/>
          </a:xfrm>
          <a:prstGeom prst="roundRect">
            <a:avLst>
              <a:gd name="adj" fmla="val 7361"/>
            </a:avLst>
          </a:prstGeom>
          <a:solidFill>
            <a:srgbClr val="FBFBFC"/>
          </a:solidFill>
          <a:ln w="6350">
            <a:solidFill>
              <a:srgbClr val="DDE1E6"/>
            </a:solidFill>
            <a:prstDash val="solid"/>
          </a:ln>
        </p:spPr>
      </p:sp>
      <p:sp>
        <p:nvSpPr>
          <p:cNvPr id="16" name="Text 14"/>
          <p:cNvSpPr/>
          <p:nvPr/>
        </p:nvSpPr>
        <p:spPr>
          <a:xfrm>
            <a:off x="4620617" y="3351312"/>
            <a:ext cx="303918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Interoperable</a:t>
            </a:r>
            <a:endParaRPr lang="en-US" sz="2200" dirty="0"/>
          </a:p>
        </p:txBody>
      </p:sp>
      <p:sp>
        <p:nvSpPr>
          <p:cNvPr id="17" name="Text 15"/>
          <p:cNvSpPr/>
          <p:nvPr/>
        </p:nvSpPr>
        <p:spPr>
          <a:xfrm>
            <a:off x="4620617" y="3762772"/>
            <a:ext cx="303918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Worlds connect; you can move between them</a:t>
            </a:r>
            <a:endParaRPr lang="en-US" sz="1300" dirty="0"/>
          </a:p>
        </p:txBody>
      </p:sp>
      <p:sp>
        <p:nvSpPr>
          <p:cNvPr id="18" name="Shape 16"/>
          <p:cNvSpPr/>
          <p:nvPr/>
        </p:nvSpPr>
        <p:spPr>
          <a:xfrm>
            <a:off x="7961809" y="3119537"/>
            <a:ext cx="3414216" cy="1337171"/>
          </a:xfrm>
          <a:prstGeom prst="roundRect">
            <a:avLst>
              <a:gd name="adj" fmla="val 7361"/>
            </a:avLst>
          </a:prstGeom>
          <a:solidFill>
            <a:srgbClr val="FBFBFC"/>
          </a:solidFill>
          <a:ln w="6350">
            <a:solidFill>
              <a:srgbClr val="DDE1E6"/>
            </a:solidFill>
            <a:prstDash val="solid"/>
          </a:ln>
        </p:spPr>
      </p:sp>
      <p:sp>
        <p:nvSpPr>
          <p:cNvPr id="19" name="Text 17"/>
          <p:cNvSpPr/>
          <p:nvPr/>
        </p:nvSpPr>
        <p:spPr>
          <a:xfrm>
            <a:off x="8193584" y="3351312"/>
            <a:ext cx="303918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Continuous</a:t>
            </a:r>
            <a:endParaRPr lang="en-US" sz="2200" dirty="0"/>
          </a:p>
        </p:txBody>
      </p:sp>
      <p:sp>
        <p:nvSpPr>
          <p:cNvPr id="20" name="Text 18"/>
          <p:cNvSpPr/>
          <p:nvPr/>
        </p:nvSpPr>
        <p:spPr>
          <a:xfrm>
            <a:off x="8193584" y="3762772"/>
            <a:ext cx="303918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Your identity, items and history come with you</a:t>
            </a:r>
            <a:endParaRPr lang="en-US" sz="13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Adapted from Matthew Ball, </a:t>
            </a:r>
            <a:r>
              <a:rPr lang="en-US" sz="1200" i="1" dirty="0">
                <a:solidFill>
                  <a:srgbClr val="4A5260"/>
                </a:solidFill>
                <a:latin typeface="IBM Plex Sans" pitchFamily="34" charset="0"/>
                <a:ea typeface="IBM Plex Sans" pitchFamily="34" charset="-122"/>
                <a:cs typeface="IBM Plex Sans" pitchFamily="34" charset="-120"/>
              </a:rPr>
              <a:t>The Metaverse: And How It Will Revolutionize Everything</a:t>
            </a:r>
            <a:r>
              <a:rPr lang="en-US" sz="1200" dirty="0">
                <a:solidFill>
                  <a:srgbClr val="4A5260"/>
                </a:solidFill>
                <a:latin typeface="IBM Plex Sans" pitchFamily="34" charset="0"/>
                <a:ea typeface="IBM Plex Sans" pitchFamily="34" charset="-122"/>
                <a:cs typeface="IBM Plex Sans" pitchFamily="34" charset="-120"/>
              </a:rPr>
              <a:t> (2022)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XR · EXTENDED REALITY</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XR is every way of stepping into a world</a:t>
            </a:r>
            <a:endParaRPr lang="en-US" sz="3600" dirty="0"/>
          </a:p>
        </p:txBody>
      </p:sp>
      <p:sp>
        <p:nvSpPr>
          <p:cNvPr id="4" name="Shape 2"/>
          <p:cNvSpPr/>
          <p:nvPr/>
        </p:nvSpPr>
        <p:spPr>
          <a:xfrm>
            <a:off x="812800" y="2029321"/>
            <a:ext cx="10566400" cy="101600"/>
          </a:xfrm>
          <a:prstGeom prst="roundRect">
            <a:avLst>
              <a:gd name="adj" fmla="val 50000"/>
            </a:avLst>
          </a:prstGeom>
          <a:gradFill rotWithShape="1">
            <a:gsLst>
              <a:gs pos="0">
                <a:srgbClr val="B7C0CC"/>
              </a:gs>
              <a:gs pos="40000">
                <a:srgbClr val="00A8E8"/>
              </a:gs>
              <a:gs pos="70000">
                <a:srgbClr val="3D7FE8"/>
              </a:gs>
              <a:gs pos="100000">
                <a:srgbClr val="2A64C8"/>
              </a:gs>
            </a:gsLst>
            <a:lin ang="0" scaled="0"/>
          </a:gradFill>
          <a:ln/>
        </p:spPr>
      </p:sp>
      <p:sp>
        <p:nvSpPr>
          <p:cNvPr id="5" name="Text 3"/>
          <p:cNvSpPr/>
          <p:nvPr/>
        </p:nvSpPr>
        <p:spPr>
          <a:xfrm>
            <a:off x="812800" y="2257921"/>
            <a:ext cx="127194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The real world</a:t>
            </a:r>
            <a:endParaRPr lang="en-US" sz="1300" dirty="0"/>
          </a:p>
        </p:txBody>
      </p:sp>
      <p:sp>
        <p:nvSpPr>
          <p:cNvPr id="6" name="Text 4"/>
          <p:cNvSpPr/>
          <p:nvPr/>
        </p:nvSpPr>
        <p:spPr>
          <a:xfrm>
            <a:off x="9665653" y="2257921"/>
            <a:ext cx="1713548"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A fully virtual world</a:t>
            </a:r>
            <a:endParaRPr lang="en-US" sz="1300" dirty="0"/>
          </a:p>
        </p:txBody>
      </p:sp>
      <p:sp>
        <p:nvSpPr>
          <p:cNvPr id="7" name="Shape 5"/>
          <p:cNvSpPr/>
          <p:nvPr/>
        </p:nvSpPr>
        <p:spPr>
          <a:xfrm>
            <a:off x="812800" y="2844602"/>
            <a:ext cx="3420467" cy="1871861"/>
          </a:xfrm>
          <a:prstGeom prst="roundRect">
            <a:avLst>
              <a:gd name="adj" fmla="val 6785"/>
            </a:avLst>
          </a:prstGeom>
          <a:solidFill>
            <a:srgbClr val="1A1E24"/>
          </a:solidFill>
          <a:ln/>
        </p:spPr>
      </p:sp>
      <p:sp>
        <p:nvSpPr>
          <p:cNvPr id="8" name="Shape 6"/>
          <p:cNvSpPr/>
          <p:nvPr/>
        </p:nvSpPr>
        <p:spPr>
          <a:xfrm>
            <a:off x="812800" y="2844602"/>
            <a:ext cx="3420467" cy="1871861"/>
          </a:xfrm>
          <a:custGeom>
            <a:avLst/>
            <a:gdLst/>
            <a:ahLst/>
            <a:cxnLst/>
            <a:rect l="l" t="t" r="r" b="b"/>
            <a:pathLst>
              <a:path w="3420467" h="1871861">
                <a:moveTo>
                  <a:pt x="0" y="127000"/>
                </a:moveTo>
                <a:lnTo>
                  <a:pt x="0" y="127000"/>
                </a:lnTo>
                <a:arcTo hR="127000" wR="127000" stAng="10800000" swAng="5400000"/>
                <a:lnTo>
                  <a:pt x="3293467" y="0"/>
                </a:lnTo>
                <a:arcTo hR="127000" wR="127000" stAng="16200000" swAng="5400000"/>
                <a:lnTo>
                  <a:pt x="3420467" y="127000"/>
                </a:lnTo>
                <a:arcTo hR="101600" wR="127000" stAng="0" swAng="-5400000"/>
                <a:lnTo>
                  <a:pt x="127000" y="25400"/>
                </a:lnTo>
                <a:arcTo hR="101600" wR="127000" stAng="16200000" swAng="-5400000"/>
                <a:close/>
              </a:path>
            </a:pathLst>
          </a:custGeom>
          <a:solidFill>
            <a:srgbClr val="00A8E8"/>
          </a:solidFill>
          <a:ln/>
        </p:spPr>
      </p:sp>
      <p:sp>
        <p:nvSpPr>
          <p:cNvPr id="9" name="Text 7"/>
          <p:cNvSpPr/>
          <p:nvPr/>
        </p:nvSpPr>
        <p:spPr>
          <a:xfrm>
            <a:off x="1066800" y="3124002"/>
            <a:ext cx="299984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AR</a:t>
            </a:r>
            <a:endParaRPr lang="en-US" sz="2200" dirty="0"/>
          </a:p>
        </p:txBody>
      </p:sp>
      <p:sp>
        <p:nvSpPr>
          <p:cNvPr id="10" name="Text 8"/>
          <p:cNvSpPr/>
          <p:nvPr/>
        </p:nvSpPr>
        <p:spPr>
          <a:xfrm>
            <a:off x="1066800" y="3560862"/>
            <a:ext cx="2999841"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00A8E8"/>
                </a:solidFill>
                <a:latin typeface="IBM Plex Sans" pitchFamily="34" charset="0"/>
                <a:ea typeface="IBM Plex Sans" pitchFamily="34" charset="-122"/>
                <a:cs typeface="IBM Plex Sans" pitchFamily="34" charset="-120"/>
              </a:rPr>
              <a:t>AUGMENTED REALITY</a:t>
            </a:r>
            <a:endParaRPr lang="en-US" sz="1300" dirty="0"/>
          </a:p>
        </p:txBody>
      </p:sp>
      <p:sp>
        <p:nvSpPr>
          <p:cNvPr id="11" name="Text 9"/>
          <p:cNvSpPr/>
          <p:nvPr/>
        </p:nvSpPr>
        <p:spPr>
          <a:xfrm>
            <a:off x="1066800" y="3893542"/>
            <a:ext cx="299984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Digital layered onto the real world: phone, tablet, glasses</a:t>
            </a:r>
            <a:endParaRPr lang="en-US" sz="1600" dirty="0"/>
          </a:p>
        </p:txBody>
      </p:sp>
      <p:sp>
        <p:nvSpPr>
          <p:cNvPr id="12" name="Shape 10"/>
          <p:cNvSpPr/>
          <p:nvPr/>
        </p:nvSpPr>
        <p:spPr>
          <a:xfrm>
            <a:off x="4385667" y="2844602"/>
            <a:ext cx="3420566" cy="1871861"/>
          </a:xfrm>
          <a:prstGeom prst="roundRect">
            <a:avLst>
              <a:gd name="adj" fmla="val 6785"/>
            </a:avLst>
          </a:prstGeom>
          <a:solidFill>
            <a:srgbClr val="1A1E24"/>
          </a:solidFill>
          <a:ln/>
        </p:spPr>
      </p:sp>
      <p:sp>
        <p:nvSpPr>
          <p:cNvPr id="13" name="Shape 11"/>
          <p:cNvSpPr/>
          <p:nvPr/>
        </p:nvSpPr>
        <p:spPr>
          <a:xfrm>
            <a:off x="4385667" y="2844602"/>
            <a:ext cx="3420566" cy="1871861"/>
          </a:xfrm>
          <a:custGeom>
            <a:avLst/>
            <a:gdLst/>
            <a:ahLst/>
            <a:cxnLst/>
            <a:rect l="l" t="t" r="r" b="b"/>
            <a:pathLst>
              <a:path w="3420566" h="1871861">
                <a:moveTo>
                  <a:pt x="0" y="127000"/>
                </a:moveTo>
                <a:lnTo>
                  <a:pt x="0" y="127000"/>
                </a:lnTo>
                <a:arcTo hR="127000" wR="127000" stAng="10800000" swAng="5400000"/>
                <a:lnTo>
                  <a:pt x="3293566" y="0"/>
                </a:lnTo>
                <a:arcTo hR="127000" wR="127000" stAng="16200000" swAng="5400000"/>
                <a:lnTo>
                  <a:pt x="3420566" y="127000"/>
                </a:lnTo>
                <a:arcTo hR="101600" wR="127000" stAng="0" swAng="-5400000"/>
                <a:lnTo>
                  <a:pt x="127000" y="25400"/>
                </a:lnTo>
                <a:arcTo hR="101600" wR="127000" stAng="16200000" swAng="-5400000"/>
                <a:close/>
              </a:path>
            </a:pathLst>
          </a:custGeom>
          <a:solidFill>
            <a:srgbClr val="3D7FE8"/>
          </a:solidFill>
          <a:ln/>
        </p:spPr>
      </p:sp>
      <p:sp>
        <p:nvSpPr>
          <p:cNvPr id="14" name="Text 12"/>
          <p:cNvSpPr/>
          <p:nvPr/>
        </p:nvSpPr>
        <p:spPr>
          <a:xfrm>
            <a:off x="4639667" y="3124002"/>
            <a:ext cx="299994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MR</a:t>
            </a:r>
            <a:endParaRPr lang="en-US" sz="2200" dirty="0"/>
          </a:p>
        </p:txBody>
      </p:sp>
      <p:sp>
        <p:nvSpPr>
          <p:cNvPr id="15" name="Text 13"/>
          <p:cNvSpPr/>
          <p:nvPr/>
        </p:nvSpPr>
        <p:spPr>
          <a:xfrm>
            <a:off x="4639667" y="3560862"/>
            <a:ext cx="2999943"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3D7FE8"/>
                </a:solidFill>
                <a:latin typeface="IBM Plex Sans" pitchFamily="34" charset="0"/>
                <a:ea typeface="IBM Plex Sans" pitchFamily="34" charset="-122"/>
                <a:cs typeface="IBM Plex Sans" pitchFamily="34" charset="-120"/>
              </a:rPr>
              <a:t>MIXED REALITY</a:t>
            </a:r>
            <a:endParaRPr lang="en-US" sz="1300" dirty="0"/>
          </a:p>
        </p:txBody>
      </p:sp>
      <p:sp>
        <p:nvSpPr>
          <p:cNvPr id="16" name="Text 14"/>
          <p:cNvSpPr/>
          <p:nvPr/>
        </p:nvSpPr>
        <p:spPr>
          <a:xfrm>
            <a:off x="4639667" y="3893542"/>
            <a:ext cx="299994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Real and virtual share the room and react to each other</a:t>
            </a:r>
            <a:endParaRPr lang="en-US" sz="1600" dirty="0"/>
          </a:p>
        </p:txBody>
      </p:sp>
      <p:sp>
        <p:nvSpPr>
          <p:cNvPr id="17" name="Shape 15"/>
          <p:cNvSpPr/>
          <p:nvPr/>
        </p:nvSpPr>
        <p:spPr>
          <a:xfrm>
            <a:off x="7958634" y="2844602"/>
            <a:ext cx="3420566" cy="1871861"/>
          </a:xfrm>
          <a:prstGeom prst="roundRect">
            <a:avLst>
              <a:gd name="adj" fmla="val 6785"/>
            </a:avLst>
          </a:prstGeom>
          <a:solidFill>
            <a:srgbClr val="1A1E24"/>
          </a:solidFill>
          <a:ln/>
        </p:spPr>
      </p:sp>
      <p:sp>
        <p:nvSpPr>
          <p:cNvPr id="18" name="Shape 16"/>
          <p:cNvSpPr/>
          <p:nvPr/>
        </p:nvSpPr>
        <p:spPr>
          <a:xfrm>
            <a:off x="7958634" y="2844602"/>
            <a:ext cx="3420566" cy="1871861"/>
          </a:xfrm>
          <a:custGeom>
            <a:avLst/>
            <a:gdLst/>
            <a:ahLst/>
            <a:cxnLst/>
            <a:rect l="l" t="t" r="r" b="b"/>
            <a:pathLst>
              <a:path w="3420566" h="1871861">
                <a:moveTo>
                  <a:pt x="0" y="127000"/>
                </a:moveTo>
                <a:lnTo>
                  <a:pt x="0" y="127000"/>
                </a:lnTo>
                <a:arcTo hR="127000" wR="127000" stAng="10800000" swAng="5400000"/>
                <a:lnTo>
                  <a:pt x="3293566" y="0"/>
                </a:lnTo>
                <a:arcTo hR="127000" wR="127000" stAng="16200000" swAng="5400000"/>
                <a:lnTo>
                  <a:pt x="3420566" y="127000"/>
                </a:lnTo>
                <a:arcTo hR="101600" wR="127000" stAng="0" swAng="-5400000"/>
                <a:lnTo>
                  <a:pt x="127000" y="25400"/>
                </a:lnTo>
                <a:arcTo hR="101600" wR="127000" stAng="16200000" swAng="-5400000"/>
                <a:close/>
              </a:path>
            </a:pathLst>
          </a:custGeom>
          <a:solidFill>
            <a:srgbClr val="2A64C8"/>
          </a:solidFill>
          <a:ln/>
        </p:spPr>
      </p:sp>
      <p:sp>
        <p:nvSpPr>
          <p:cNvPr id="19" name="Text 17"/>
          <p:cNvSpPr/>
          <p:nvPr/>
        </p:nvSpPr>
        <p:spPr>
          <a:xfrm>
            <a:off x="8212634" y="3124002"/>
            <a:ext cx="299994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VR</a:t>
            </a:r>
            <a:endParaRPr lang="en-US" sz="2200" dirty="0"/>
          </a:p>
        </p:txBody>
      </p:sp>
      <p:sp>
        <p:nvSpPr>
          <p:cNvPr id="20" name="Text 18"/>
          <p:cNvSpPr/>
          <p:nvPr/>
        </p:nvSpPr>
        <p:spPr>
          <a:xfrm>
            <a:off x="8212634" y="3560862"/>
            <a:ext cx="2999943"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7FA6E8"/>
                </a:solidFill>
                <a:latin typeface="IBM Plex Sans" pitchFamily="34" charset="0"/>
                <a:ea typeface="IBM Plex Sans" pitchFamily="34" charset="-122"/>
                <a:cs typeface="IBM Plex Sans" pitchFamily="34" charset="-120"/>
              </a:rPr>
              <a:t>VIRTUAL REALITY</a:t>
            </a:r>
            <a:endParaRPr lang="en-US" sz="1300" dirty="0"/>
          </a:p>
        </p:txBody>
      </p:sp>
      <p:sp>
        <p:nvSpPr>
          <p:cNvPr id="21" name="Text 19"/>
          <p:cNvSpPr/>
          <p:nvPr/>
        </p:nvSpPr>
        <p:spPr>
          <a:xfrm>
            <a:off x="8212634" y="3893542"/>
            <a:ext cx="299994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You step fully inside; the real world disappears</a:t>
            </a:r>
            <a:endParaRPr lang="en-US" sz="16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After Milgram &amp; Kishino's reality–virtuality continuum (1994)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XR takes the metaverse off the screen</a:t>
            </a:r>
            <a:endParaRPr lang="en-US" sz="3600" dirty="0"/>
          </a:p>
        </p:txBody>
      </p:sp>
      <p:sp>
        <p:nvSpPr>
          <p:cNvPr id="3" name="Shape 1"/>
          <p:cNvSpPr/>
          <p:nvPr/>
        </p:nvSpPr>
        <p:spPr>
          <a:xfrm>
            <a:off x="815975" y="1572816"/>
            <a:ext cx="3414117" cy="3435052"/>
          </a:xfrm>
          <a:prstGeom prst="roundRect">
            <a:avLst>
              <a:gd name="adj" fmla="val 2883"/>
            </a:avLst>
          </a:prstGeom>
          <a:solidFill>
            <a:srgbClr val="FBFBFC"/>
          </a:solidFill>
          <a:ln w="6350">
            <a:solidFill>
              <a:srgbClr val="DDE1E6"/>
            </a:solidFill>
            <a:prstDash val="solid"/>
          </a:ln>
        </p:spPr>
      </p:sp>
      <p:pic>
        <p:nvPicPr>
          <p:cNvPr id="4" name="Image 0" descr="Fossil Discovery Adventure artwork showing a mosasaur">    </p:cNvPr>
          <p:cNvPicPr>
            <a:picLocks noChangeAspect="1"/>
          </p:cNvPicPr>
          <p:nvPr/>
        </p:nvPicPr>
        <p:blipFill>
          <a:blip r:embed="rId1"/>
          <a:srcRect l="0" r="0" t="0" b="0"/>
          <a:stretch/>
        </p:blipFill>
        <p:spPr>
          <a:xfrm>
            <a:off x="819150" y="1575991"/>
            <a:ext cx="2540000" cy="1778000"/>
          </a:xfrm>
          <a:custGeom>
            <a:avLst/>
            <a:gdLst/>
            <a:ahLst/>
            <a:cxnLst/>
            <a:rect l="l" t="t" r="r" b="b"/>
            <a:pathLst>
              <a:path w="2540000" h="1778000">
                <a:moveTo>
                  <a:pt x="0" y="95250"/>
                </a:moveTo>
                <a:arcTo wR="95250" hR="95250" stAng="10800000" swAng="5400000"/>
                <a:lnTo>
                  <a:pt x="2540000" y="0"/>
                </a:lnTo>
                <a:lnTo>
                  <a:pt x="2540000" y="1778000"/>
                </a:lnTo>
                <a:lnTo>
                  <a:pt x="0" y="1778000"/>
                </a:lnTo>
                <a:close/>
              </a:path>
            </a:pathLst>
          </a:custGeom>
        </p:spPr>
      </p:pic>
      <p:sp>
        <p:nvSpPr>
          <p:cNvPr id="5" name="Text 2"/>
          <p:cNvSpPr/>
          <p:nvPr/>
        </p:nvSpPr>
        <p:spPr>
          <a:xfrm>
            <a:off x="1022350" y="3531791"/>
            <a:ext cx="3091408"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64C8"/>
                </a:solidFill>
                <a:latin typeface="IBM Plex Sans" pitchFamily="34" charset="0"/>
                <a:ea typeface="IBM Plex Sans" pitchFamily="34" charset="-122"/>
                <a:cs typeface="IBM Plex Sans" pitchFamily="34" charset="-120"/>
              </a:rPr>
              <a:t>AR · THE WORLD COMES TO YOU</a:t>
            </a:r>
            <a:endParaRPr lang="en-US" sz="1300" dirty="0"/>
          </a:p>
        </p:txBody>
      </p:sp>
      <p:sp>
        <p:nvSpPr>
          <p:cNvPr id="6" name="Text 3"/>
          <p:cNvSpPr/>
          <p:nvPr/>
        </p:nvSpPr>
        <p:spPr>
          <a:xfrm>
            <a:off x="1022350" y="382637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Fossil Discovery Adventure</a:t>
            </a:r>
            <a:endParaRPr lang="en-US" sz="1600" dirty="0"/>
          </a:p>
        </p:txBody>
      </p:sp>
      <p:sp>
        <p:nvSpPr>
          <p:cNvPr id="7" name="Text 4"/>
          <p:cNvSpPr/>
          <p:nvPr/>
        </p:nvSpPr>
        <p:spPr>
          <a:xfrm>
            <a:off x="1022350" y="4133652"/>
            <a:ext cx="30914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A life-size mosasaur appears inside the museum in Morden</a:t>
            </a:r>
            <a:endParaRPr lang="en-US" sz="1300" dirty="0"/>
          </a:p>
        </p:txBody>
      </p:sp>
      <p:sp>
        <p:nvSpPr>
          <p:cNvPr id="8" name="Shape 5"/>
          <p:cNvSpPr/>
          <p:nvPr/>
        </p:nvSpPr>
        <p:spPr>
          <a:xfrm>
            <a:off x="4388842" y="1572816"/>
            <a:ext cx="3414216" cy="3435052"/>
          </a:xfrm>
          <a:prstGeom prst="roundRect">
            <a:avLst>
              <a:gd name="adj" fmla="val 2883"/>
            </a:avLst>
          </a:prstGeom>
          <a:solidFill>
            <a:srgbClr val="FBFBFC"/>
          </a:solidFill>
          <a:ln w="6350">
            <a:solidFill>
              <a:srgbClr val="DDE1E6"/>
            </a:solidFill>
            <a:prstDash val="solid"/>
          </a:ln>
        </p:spPr>
      </p:sp>
      <p:pic>
        <p:nvPicPr>
          <p:cNvPr id="9" name="Image 1" descr="Rail yard with boxcars in CN Rail's Near Miss module">    </p:cNvPr>
          <p:cNvPicPr>
            <a:picLocks noChangeAspect="1"/>
          </p:cNvPicPr>
          <p:nvPr/>
        </p:nvPicPr>
        <p:blipFill>
          <a:blip r:embed="rId2"/>
          <a:srcRect l="1" r="1" t="0" b="0"/>
          <a:stretch/>
        </p:blipFill>
        <p:spPr>
          <a:xfrm>
            <a:off x="4392017" y="1575991"/>
            <a:ext cx="3160812" cy="1778000"/>
          </a:xfrm>
          <a:custGeom>
            <a:avLst/>
            <a:gdLst/>
            <a:ahLst/>
            <a:cxnLst/>
            <a:rect l="l" t="t" r="r" b="b"/>
            <a:pathLst>
              <a:path w="3160812" h="1778000">
                <a:moveTo>
                  <a:pt x="0" y="95250"/>
                </a:moveTo>
                <a:arcTo wR="95250" hR="95250" stAng="10800000" swAng="5400000"/>
                <a:lnTo>
                  <a:pt x="3160812" y="0"/>
                </a:lnTo>
                <a:lnTo>
                  <a:pt x="3160812" y="1778000"/>
                </a:lnTo>
                <a:lnTo>
                  <a:pt x="0" y="1778000"/>
                </a:lnTo>
                <a:close/>
              </a:path>
            </a:pathLst>
          </a:custGeom>
        </p:spPr>
      </p:pic>
      <p:sp>
        <p:nvSpPr>
          <p:cNvPr id="10" name="Text 6"/>
          <p:cNvSpPr/>
          <p:nvPr/>
        </p:nvSpPr>
        <p:spPr>
          <a:xfrm>
            <a:off x="4595217" y="3531791"/>
            <a:ext cx="3091510" cy="487561"/>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64C8"/>
                </a:solidFill>
                <a:latin typeface="IBM Plex Sans" pitchFamily="34" charset="0"/>
                <a:ea typeface="IBM Plex Sans" pitchFamily="34" charset="-122"/>
                <a:cs typeface="IBM Plex Sans" pitchFamily="34" charset="-120"/>
              </a:rPr>
              <a:t>MR · YOUR BODY IS THE CONTROLLER</a:t>
            </a:r>
            <a:endParaRPr lang="en-US" sz="1300" dirty="0"/>
          </a:p>
        </p:txBody>
      </p:sp>
      <p:sp>
        <p:nvSpPr>
          <p:cNvPr id="11" name="Text 7"/>
          <p:cNvSpPr/>
          <p:nvPr/>
        </p:nvSpPr>
        <p:spPr>
          <a:xfrm>
            <a:off x="4595217" y="4057452"/>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The Grid: Near Miss</a:t>
            </a:r>
            <a:endParaRPr lang="en-US" sz="1600" dirty="0"/>
          </a:p>
        </p:txBody>
      </p:sp>
      <p:sp>
        <p:nvSpPr>
          <p:cNvPr id="12" name="Text 8"/>
          <p:cNvSpPr/>
          <p:nvPr/>
        </p:nvSpPr>
        <p:spPr>
          <a:xfrm>
            <a:off x="4595217" y="436473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Passthrough training: throw a real switch, look both ways</a:t>
            </a:r>
            <a:endParaRPr lang="en-US" sz="1300" dirty="0"/>
          </a:p>
        </p:txBody>
      </p:sp>
      <p:sp>
        <p:nvSpPr>
          <p:cNvPr id="13" name="Shape 9"/>
          <p:cNvSpPr/>
          <p:nvPr/>
        </p:nvSpPr>
        <p:spPr>
          <a:xfrm>
            <a:off x="7961809" y="1572816"/>
            <a:ext cx="3414216" cy="3435052"/>
          </a:xfrm>
          <a:prstGeom prst="roundRect">
            <a:avLst>
              <a:gd name="adj" fmla="val 2883"/>
            </a:avLst>
          </a:prstGeom>
          <a:solidFill>
            <a:srgbClr val="FBFBFC"/>
          </a:solidFill>
          <a:ln w="6350">
            <a:solidFill>
              <a:srgbClr val="DDE1E6"/>
            </a:solidFill>
            <a:prstDash val="solid"/>
          </a:ln>
        </p:spPr>
      </p:sp>
      <p:pic>
        <p:nvPicPr>
          <p:cNvPr id="14" name="Image 2" descr="Confined space entry at a manhole in VR">    </p:cNvPr>
          <p:cNvPicPr>
            <a:picLocks noChangeAspect="1"/>
          </p:cNvPicPr>
          <p:nvPr/>
        </p:nvPicPr>
        <p:blipFill>
          <a:blip r:embed="rId3"/>
          <a:srcRect l="0" r="0" t="0" b="0"/>
          <a:stretch/>
        </p:blipFill>
        <p:spPr>
          <a:xfrm>
            <a:off x="7964984" y="1575991"/>
            <a:ext cx="1778000" cy="1778000"/>
          </a:xfrm>
          <a:custGeom>
            <a:avLst/>
            <a:gdLst/>
            <a:ahLst/>
            <a:cxnLst/>
            <a:rect l="l" t="t" r="r" b="b"/>
            <a:pathLst>
              <a:path w="1778000" h="1778000">
                <a:moveTo>
                  <a:pt x="0" y="95250"/>
                </a:moveTo>
                <a:arcTo wR="95250" hR="95250" stAng="10800000" swAng="5400000"/>
                <a:lnTo>
                  <a:pt x="1778000" y="0"/>
                </a:lnTo>
                <a:lnTo>
                  <a:pt x="1778000" y="1778000"/>
                </a:lnTo>
                <a:lnTo>
                  <a:pt x="0" y="1778000"/>
                </a:lnTo>
                <a:close/>
              </a:path>
            </a:pathLst>
          </a:custGeom>
        </p:spPr>
      </p:pic>
      <p:sp>
        <p:nvSpPr>
          <p:cNvPr id="15" name="Text 10"/>
          <p:cNvSpPr/>
          <p:nvPr/>
        </p:nvSpPr>
        <p:spPr>
          <a:xfrm>
            <a:off x="8168184" y="3531791"/>
            <a:ext cx="3091510"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2A64C8"/>
                </a:solidFill>
                <a:latin typeface="IBM Plex Sans" pitchFamily="34" charset="0"/>
                <a:ea typeface="IBM Plex Sans" pitchFamily="34" charset="-122"/>
                <a:cs typeface="IBM Plex Sans" pitchFamily="34" charset="-120"/>
              </a:rPr>
              <a:t>VR · YOU GO TO THE WORLD</a:t>
            </a:r>
            <a:endParaRPr lang="en-US" sz="1300" dirty="0"/>
          </a:p>
        </p:txBody>
      </p:sp>
      <p:sp>
        <p:nvSpPr>
          <p:cNvPr id="16" name="Text 11"/>
          <p:cNvSpPr/>
          <p:nvPr/>
        </p:nvSpPr>
        <p:spPr>
          <a:xfrm>
            <a:off x="8168184" y="382637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Confined Space VR</a:t>
            </a:r>
            <a:endParaRPr lang="en-US" sz="1600" dirty="0"/>
          </a:p>
        </p:txBody>
      </p:sp>
      <p:sp>
        <p:nvSpPr>
          <p:cNvPr id="17" name="Text 12"/>
          <p:cNvSpPr/>
          <p:nvPr/>
        </p:nvSpPr>
        <p:spPr>
          <a:xfrm>
            <a:off x="8168184" y="413365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A silo, a sewer, a crawl space, with no real risk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31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What XR changes for world builders</a:t>
            </a:r>
            <a:endParaRPr lang="en-US" sz="3600" dirty="0"/>
          </a:p>
        </p:txBody>
      </p:sp>
      <p:sp>
        <p:nvSpPr>
          <p:cNvPr id="3" name="Shape 1"/>
          <p:cNvSpPr/>
          <p:nvPr/>
        </p:nvSpPr>
        <p:spPr>
          <a:xfrm>
            <a:off x="812800" y="1620441"/>
            <a:ext cx="5207000" cy="1203920"/>
          </a:xfrm>
          <a:prstGeom prst="roundRect">
            <a:avLst>
              <a:gd name="adj" fmla="val 10549"/>
            </a:avLst>
          </a:prstGeom>
          <a:solidFill>
            <a:srgbClr val="1A1E24"/>
          </a:solidFill>
          <a:ln/>
        </p:spPr>
      </p:sp>
      <p:sp>
        <p:nvSpPr>
          <p:cNvPr id="4" name="Shape 2"/>
          <p:cNvSpPr/>
          <p:nvPr/>
        </p:nvSpPr>
        <p:spPr>
          <a:xfrm>
            <a:off x="812800" y="1620441"/>
            <a:ext cx="5207000" cy="1203920"/>
          </a:xfrm>
          <a:custGeom>
            <a:avLst/>
            <a:gdLst/>
            <a:ahLst/>
            <a:cxnLst/>
            <a:rect l="l" t="t" r="r" b="b"/>
            <a:pathLst>
              <a:path w="5207000" h="1203920">
                <a:moveTo>
                  <a:pt x="127000" y="1203920"/>
                </a:moveTo>
                <a:lnTo>
                  <a:pt x="127000" y="1203920"/>
                </a:lnTo>
                <a:arcTo hR="127000" wR="127000" stAng="5400000" swAng="5400000"/>
                <a:lnTo>
                  <a:pt x="0" y="127000"/>
                </a:lnTo>
                <a:arcTo hR="127000" wR="127000" stAng="10800000" swAng="5400000"/>
                <a:lnTo>
                  <a:pt x="127000" y="0"/>
                </a:lnTo>
                <a:arcTo hR="127000" wR="88900" stAng="16200000" swAng="-5400000"/>
                <a:lnTo>
                  <a:pt x="38100" y="1076920"/>
                </a:lnTo>
                <a:arcTo hR="127000" wR="88900" stAng="10800000" swAng="-5400000"/>
                <a:close/>
              </a:path>
            </a:pathLst>
          </a:custGeom>
          <a:solidFill>
            <a:srgbClr val="00A8E8"/>
          </a:solidFill>
          <a:ln/>
        </p:spPr>
      </p:sp>
      <p:sp>
        <p:nvSpPr>
          <p:cNvPr id="5" name="Text 3"/>
          <p:cNvSpPr/>
          <p:nvPr/>
        </p:nvSpPr>
        <p:spPr>
          <a:xfrm>
            <a:off x="1104900" y="187444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Scale is felt</a:t>
            </a:r>
            <a:endParaRPr lang="en-US" sz="2200" dirty="0"/>
          </a:p>
        </p:txBody>
      </p:sp>
      <p:sp>
        <p:nvSpPr>
          <p:cNvPr id="6" name="Text 4"/>
          <p:cNvSpPr/>
          <p:nvPr/>
        </p:nvSpPr>
        <p:spPr>
          <a:xfrm>
            <a:off x="1104900" y="2285901"/>
            <a:ext cx="49149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A door that's 10 cm too short feels wrong instantly</a:t>
            </a:r>
            <a:endParaRPr lang="en-US" sz="1600" dirty="0"/>
          </a:p>
        </p:txBody>
      </p:sp>
      <p:sp>
        <p:nvSpPr>
          <p:cNvPr id="7" name="Shape 5"/>
          <p:cNvSpPr/>
          <p:nvPr/>
        </p:nvSpPr>
        <p:spPr>
          <a:xfrm>
            <a:off x="6172200" y="1620441"/>
            <a:ext cx="5207000" cy="1203920"/>
          </a:xfrm>
          <a:prstGeom prst="roundRect">
            <a:avLst>
              <a:gd name="adj" fmla="val 10549"/>
            </a:avLst>
          </a:prstGeom>
          <a:solidFill>
            <a:srgbClr val="1A1E24"/>
          </a:solidFill>
          <a:ln/>
        </p:spPr>
      </p:sp>
      <p:sp>
        <p:nvSpPr>
          <p:cNvPr id="8" name="Shape 6"/>
          <p:cNvSpPr/>
          <p:nvPr/>
        </p:nvSpPr>
        <p:spPr>
          <a:xfrm>
            <a:off x="6172200" y="1620441"/>
            <a:ext cx="5207000" cy="1203920"/>
          </a:xfrm>
          <a:custGeom>
            <a:avLst/>
            <a:gdLst/>
            <a:ahLst/>
            <a:cxnLst/>
            <a:rect l="l" t="t" r="r" b="b"/>
            <a:pathLst>
              <a:path w="5207000" h="1203920">
                <a:moveTo>
                  <a:pt x="127000" y="1203920"/>
                </a:moveTo>
                <a:lnTo>
                  <a:pt x="127000" y="1203920"/>
                </a:lnTo>
                <a:arcTo hR="127000" wR="127000" stAng="5400000" swAng="5400000"/>
                <a:lnTo>
                  <a:pt x="0" y="127000"/>
                </a:lnTo>
                <a:arcTo hR="127000" wR="127000" stAng="10800000" swAng="5400000"/>
                <a:lnTo>
                  <a:pt x="127000" y="0"/>
                </a:lnTo>
                <a:arcTo hR="127000" wR="88900" stAng="16200000" swAng="-5400000"/>
                <a:lnTo>
                  <a:pt x="38100" y="1076920"/>
                </a:lnTo>
                <a:arcTo hR="127000" wR="88900" stAng="10800000" swAng="-5400000"/>
                <a:close/>
              </a:path>
            </a:pathLst>
          </a:custGeom>
          <a:solidFill>
            <a:srgbClr val="00A8E8"/>
          </a:solidFill>
          <a:ln/>
        </p:spPr>
      </p:sp>
      <p:sp>
        <p:nvSpPr>
          <p:cNvPr id="9" name="Text 7"/>
          <p:cNvSpPr/>
          <p:nvPr/>
        </p:nvSpPr>
        <p:spPr>
          <a:xfrm>
            <a:off x="6464300" y="187444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The body is the input</a:t>
            </a:r>
            <a:endParaRPr lang="en-US" sz="2200" dirty="0"/>
          </a:p>
        </p:txBody>
      </p:sp>
      <p:sp>
        <p:nvSpPr>
          <p:cNvPr id="10" name="Text 8"/>
          <p:cNvSpPr/>
          <p:nvPr/>
        </p:nvSpPr>
        <p:spPr>
          <a:xfrm>
            <a:off x="6464300" y="2285901"/>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Hands, head, gaze and voice replace buttons</a:t>
            </a:r>
            <a:endParaRPr lang="en-US" sz="1600" dirty="0"/>
          </a:p>
        </p:txBody>
      </p:sp>
      <p:sp>
        <p:nvSpPr>
          <p:cNvPr id="11" name="Shape 9"/>
          <p:cNvSpPr/>
          <p:nvPr/>
        </p:nvSpPr>
        <p:spPr>
          <a:xfrm>
            <a:off x="812800" y="2976761"/>
            <a:ext cx="5207000" cy="1488380"/>
          </a:xfrm>
          <a:prstGeom prst="roundRect">
            <a:avLst>
              <a:gd name="adj" fmla="val 8533"/>
            </a:avLst>
          </a:prstGeom>
          <a:solidFill>
            <a:srgbClr val="1A1E24"/>
          </a:solidFill>
          <a:ln/>
        </p:spPr>
      </p:sp>
      <p:sp>
        <p:nvSpPr>
          <p:cNvPr id="12" name="Shape 10"/>
          <p:cNvSpPr/>
          <p:nvPr/>
        </p:nvSpPr>
        <p:spPr>
          <a:xfrm>
            <a:off x="812800" y="2976761"/>
            <a:ext cx="5207000" cy="1488380"/>
          </a:xfrm>
          <a:custGeom>
            <a:avLst/>
            <a:gdLst/>
            <a:ahLst/>
            <a:cxnLst/>
            <a:rect l="l" t="t" r="r" b="b"/>
            <a:pathLst>
              <a:path w="5207000" h="1488380">
                <a:moveTo>
                  <a:pt x="127000" y="1488380"/>
                </a:moveTo>
                <a:lnTo>
                  <a:pt x="127000" y="1488380"/>
                </a:lnTo>
                <a:arcTo hR="127000" wR="127000" stAng="5400000" swAng="5400000"/>
                <a:lnTo>
                  <a:pt x="0" y="127000"/>
                </a:lnTo>
                <a:arcTo hR="127000" wR="127000" stAng="10800000" swAng="5400000"/>
                <a:lnTo>
                  <a:pt x="127000" y="0"/>
                </a:lnTo>
                <a:arcTo hR="127000" wR="88900" stAng="16200000" swAng="-5400000"/>
                <a:lnTo>
                  <a:pt x="38100" y="1361380"/>
                </a:lnTo>
                <a:arcTo hR="127000" wR="88900" stAng="10800000" swAng="-5400000"/>
                <a:close/>
              </a:path>
            </a:pathLst>
          </a:custGeom>
          <a:solidFill>
            <a:srgbClr val="00A8E8"/>
          </a:solidFill>
          <a:ln/>
        </p:spPr>
      </p:sp>
      <p:sp>
        <p:nvSpPr>
          <p:cNvPr id="13" name="Text 11"/>
          <p:cNvSpPr/>
          <p:nvPr/>
        </p:nvSpPr>
        <p:spPr>
          <a:xfrm>
            <a:off x="1104900" y="323076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The room is part of the level</a:t>
            </a:r>
            <a:endParaRPr lang="en-US" sz="2200" dirty="0"/>
          </a:p>
        </p:txBody>
      </p:sp>
      <p:sp>
        <p:nvSpPr>
          <p:cNvPr id="14" name="Text 12"/>
          <p:cNvSpPr/>
          <p:nvPr/>
        </p:nvSpPr>
        <p:spPr>
          <a:xfrm>
            <a:off x="1104900" y="3642221"/>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Real walls, tables and people shape what fits</a:t>
            </a:r>
            <a:endParaRPr lang="en-US" sz="1600" dirty="0"/>
          </a:p>
        </p:txBody>
      </p:sp>
      <p:sp>
        <p:nvSpPr>
          <p:cNvPr id="15" name="Shape 13"/>
          <p:cNvSpPr/>
          <p:nvPr/>
        </p:nvSpPr>
        <p:spPr>
          <a:xfrm>
            <a:off x="6172200" y="2976761"/>
            <a:ext cx="5207000" cy="1488380"/>
          </a:xfrm>
          <a:prstGeom prst="roundRect">
            <a:avLst>
              <a:gd name="adj" fmla="val 8533"/>
            </a:avLst>
          </a:prstGeom>
          <a:solidFill>
            <a:srgbClr val="1A1E24"/>
          </a:solidFill>
          <a:ln/>
        </p:spPr>
      </p:sp>
      <p:sp>
        <p:nvSpPr>
          <p:cNvPr id="16" name="Shape 14"/>
          <p:cNvSpPr/>
          <p:nvPr/>
        </p:nvSpPr>
        <p:spPr>
          <a:xfrm>
            <a:off x="6172200" y="2976761"/>
            <a:ext cx="5207000" cy="1488380"/>
          </a:xfrm>
          <a:custGeom>
            <a:avLst/>
            <a:gdLst/>
            <a:ahLst/>
            <a:cxnLst/>
            <a:rect l="l" t="t" r="r" b="b"/>
            <a:pathLst>
              <a:path w="5207000" h="1488380">
                <a:moveTo>
                  <a:pt x="127000" y="1488380"/>
                </a:moveTo>
                <a:lnTo>
                  <a:pt x="127000" y="1488380"/>
                </a:lnTo>
                <a:arcTo hR="127000" wR="127000" stAng="5400000" swAng="5400000"/>
                <a:lnTo>
                  <a:pt x="0" y="127000"/>
                </a:lnTo>
                <a:arcTo hR="127000" wR="127000" stAng="10800000" swAng="5400000"/>
                <a:lnTo>
                  <a:pt x="127000" y="0"/>
                </a:lnTo>
                <a:arcTo hR="127000" wR="88900" stAng="16200000" swAng="-5400000"/>
                <a:lnTo>
                  <a:pt x="38100" y="1361380"/>
                </a:lnTo>
                <a:arcTo hR="127000" wR="88900" stAng="10800000" swAng="-5400000"/>
                <a:close/>
              </a:path>
            </a:pathLst>
          </a:custGeom>
          <a:solidFill>
            <a:srgbClr val="00A8E8"/>
          </a:solidFill>
          <a:ln/>
        </p:spPr>
      </p:sp>
      <p:sp>
        <p:nvSpPr>
          <p:cNvPr id="17" name="Text 15"/>
          <p:cNvSpPr/>
          <p:nvPr/>
        </p:nvSpPr>
        <p:spPr>
          <a:xfrm>
            <a:off x="6464300" y="323076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Comfort is a requirement</a:t>
            </a:r>
            <a:endParaRPr lang="en-US" sz="2200" dirty="0"/>
          </a:p>
        </p:txBody>
      </p:sp>
      <p:sp>
        <p:nvSpPr>
          <p:cNvPr id="18" name="Text 16"/>
          <p:cNvSpPr/>
          <p:nvPr/>
        </p:nvSpPr>
        <p:spPr>
          <a:xfrm>
            <a:off x="6464300" y="3642221"/>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Teleport, steady frame rate, no forced camera moves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31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There is no one metaverse — there are many worlds, and the ones that last have a job</a:t>
            </a:r>
            <a:endParaRPr lang="en-US" sz="3600" dirty="0"/>
          </a:p>
        </p:txBody>
      </p:sp>
      <p:sp>
        <p:nvSpPr>
          <p:cNvPr id="3" name="Shape 1"/>
          <p:cNvSpPr/>
          <p:nvPr/>
        </p:nvSpPr>
        <p:spPr>
          <a:xfrm>
            <a:off x="812800" y="2174081"/>
            <a:ext cx="5207000" cy="2255341"/>
          </a:xfrm>
          <a:prstGeom prst="roundRect">
            <a:avLst>
              <a:gd name="adj" fmla="val 5631"/>
            </a:avLst>
          </a:prstGeom>
          <a:solidFill>
            <a:srgbClr val="1A1E24"/>
          </a:solidFill>
          <a:ln/>
        </p:spPr>
      </p:sp>
      <p:sp>
        <p:nvSpPr>
          <p:cNvPr id="4" name="Text 2"/>
          <p:cNvSpPr/>
          <p:nvPr/>
        </p:nvSpPr>
        <p:spPr>
          <a:xfrm>
            <a:off x="1066800" y="2428081"/>
            <a:ext cx="483997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7C0CC"/>
                </a:solidFill>
                <a:latin typeface="Space Grotesk" pitchFamily="34" charset="0"/>
                <a:ea typeface="Space Grotesk" pitchFamily="34" charset="-122"/>
                <a:cs typeface="Space Grotesk" pitchFamily="34" charset="-120"/>
              </a:rPr>
              <a:t>What was hyped</a:t>
            </a:r>
            <a:endParaRPr lang="en-US" sz="2200" dirty="0"/>
          </a:p>
        </p:txBody>
      </p:sp>
      <p:sp>
        <p:nvSpPr>
          <p:cNvPr id="5" name="Text 3"/>
          <p:cNvSpPr/>
          <p:nvPr/>
        </p:nvSpPr>
        <p:spPr>
          <a:xfrm>
            <a:off x="1066800" y="2890341"/>
            <a:ext cx="4839970" cy="970161"/>
          </a:xfrm>
          <a:prstGeom prst="rect">
            <a:avLst/>
          </a:prstGeom>
          <a:noFill/>
          <a:ln/>
        </p:spPr>
        <p:txBody>
          <a:bodyPr wrap="square" lIns="0" tIns="0" rIns="0" bIns="0" rtlCol="0" anchor="t">
            <a:normAutofit/>
          </a:bodyPr>
          <a:lstStyle/>
          <a:p>
            <a:pPr algn="l" indent="0" marL="0">
              <a:lnSpc>
                <a:spcPts val="2480"/>
              </a:lnSpc>
              <a:buNone/>
            </a:pPr>
            <a:r>
              <a:rPr lang="en-US" sz="1600" dirty="0">
                <a:solidFill>
                  <a:srgbClr val="B7C0CC"/>
                </a:solidFill>
                <a:latin typeface="IBM Plex Sans" pitchFamily="34" charset="0"/>
                <a:ea typeface="IBM Plex Sans" pitchFamily="34" charset="-122"/>
                <a:cs typeface="IBM Plex Sans" pitchFamily="34" charset="-120"/>
              </a:rPr>
              <a:t>Buying virtual land as an investment</a:t>
            </a:r>
            <a:endParaRPr lang="en-US" sz="1600" dirty="0"/>
          </a:p>
          <a:p>
            <a:pPr algn="l" indent="0" marL="0">
              <a:lnSpc>
                <a:spcPts val="2480"/>
              </a:lnSpc>
              <a:buNone/>
            </a:pPr>
            <a:r>
              <a:rPr lang="en-US" sz="1600" dirty="0">
                <a:solidFill>
                  <a:srgbClr val="B7C0CC"/>
                </a:solidFill>
                <a:latin typeface="IBM Plex Sans" pitchFamily="34" charset="0"/>
                <a:ea typeface="IBM Plex Sans" pitchFamily="34" charset="-122"/>
                <a:cs typeface="IBM Plex Sans" pitchFamily="34" charset="-120"/>
              </a:rPr>
              <a:t>One platform for everything</a:t>
            </a:r>
            <a:endParaRPr lang="en-US" sz="1600" dirty="0"/>
          </a:p>
          <a:p>
            <a:pPr algn="l" indent="0" marL="0">
              <a:lnSpc>
                <a:spcPts val="2480"/>
              </a:lnSpc>
              <a:buNone/>
            </a:pPr>
            <a:r>
              <a:rPr lang="en-US" sz="1600" dirty="0">
                <a:solidFill>
                  <a:srgbClr val="B7C0CC"/>
                </a:solidFill>
                <a:latin typeface="IBM Plex Sans" pitchFamily="34" charset="0"/>
                <a:ea typeface="IBM Plex Sans" pitchFamily="34" charset="-122"/>
                <a:cs typeface="IBM Plex Sans" pitchFamily="34" charset="-120"/>
              </a:rPr>
              <a:t>Everyone working in VR all day</a:t>
            </a:r>
            <a:endParaRPr lang="en-US" sz="1600" dirty="0"/>
          </a:p>
        </p:txBody>
      </p:sp>
      <p:sp>
        <p:nvSpPr>
          <p:cNvPr id="6" name="Shape 4"/>
          <p:cNvSpPr/>
          <p:nvPr/>
        </p:nvSpPr>
        <p:spPr>
          <a:xfrm>
            <a:off x="6178550" y="2180431"/>
            <a:ext cx="5194300" cy="2242641"/>
          </a:xfrm>
          <a:prstGeom prst="roundRect">
            <a:avLst>
              <a:gd name="adj" fmla="val 5380"/>
            </a:avLst>
          </a:prstGeom>
          <a:solidFill>
            <a:srgbClr val="1A1E24"/>
          </a:solidFill>
          <a:ln w="12700">
            <a:solidFill>
              <a:srgbClr val="00A8E8"/>
            </a:solidFill>
            <a:prstDash val="solid"/>
          </a:ln>
        </p:spPr>
      </p:sp>
      <p:sp>
        <p:nvSpPr>
          <p:cNvPr id="7" name="Text 5"/>
          <p:cNvSpPr/>
          <p:nvPr/>
        </p:nvSpPr>
        <p:spPr>
          <a:xfrm>
            <a:off x="6438900" y="2440781"/>
            <a:ext cx="481380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A8E8"/>
                </a:solidFill>
                <a:latin typeface="Space Grotesk" pitchFamily="34" charset="0"/>
                <a:ea typeface="Space Grotesk" pitchFamily="34" charset="-122"/>
                <a:cs typeface="Space Grotesk" pitchFamily="34" charset="-120"/>
              </a:rPr>
              <a:t>What stuck</a:t>
            </a:r>
            <a:endParaRPr lang="en-US" sz="2200" dirty="0"/>
          </a:p>
        </p:txBody>
      </p:sp>
      <p:sp>
        <p:nvSpPr>
          <p:cNvPr id="8" name="Text 6"/>
          <p:cNvSpPr/>
          <p:nvPr/>
        </p:nvSpPr>
        <p:spPr>
          <a:xfrm>
            <a:off x="6438900" y="2903041"/>
            <a:ext cx="4813808" cy="1285081"/>
          </a:xfrm>
          <a:prstGeom prst="rect">
            <a:avLst/>
          </a:prstGeom>
          <a:noFill/>
          <a:ln/>
        </p:spPr>
        <p:txBody>
          <a:bodyPr wrap="square" lIns="0" tIns="0" rIns="0" bIns="0" rtlCol="0" anchor="t">
            <a:normAutofit/>
          </a:bodyPr>
          <a:lstStyle/>
          <a:p>
            <a:pPr algn="l" indent="0" marL="0">
              <a:lnSpc>
                <a:spcPts val="2480"/>
              </a:lnSpc>
              <a:buNone/>
            </a:pPr>
            <a:r>
              <a:rPr lang="en-US" sz="1600" dirty="0">
                <a:solidFill>
                  <a:srgbClr val="F3F4F6"/>
                </a:solidFill>
                <a:latin typeface="IBM Plex Sans" pitchFamily="34" charset="0"/>
                <a:ea typeface="IBM Plex Sans" pitchFamily="34" charset="-122"/>
                <a:cs typeface="IBM Plex Sans" pitchFamily="34" charset="-120"/>
              </a:rPr>
              <a:t>Training and simulation</a:t>
            </a:r>
            <a:endParaRPr lang="en-US" sz="1600" dirty="0"/>
          </a:p>
          <a:p>
            <a:pPr algn="l" indent="0" marL="0">
              <a:lnSpc>
                <a:spcPts val="2480"/>
              </a:lnSpc>
              <a:buNone/>
            </a:pPr>
            <a:r>
              <a:rPr lang="en-US" sz="1600" dirty="0">
                <a:solidFill>
                  <a:srgbClr val="F3F4F6"/>
                </a:solidFill>
                <a:latin typeface="IBM Plex Sans" pitchFamily="34" charset="0"/>
                <a:ea typeface="IBM Plex Sans" pitchFamily="34" charset="-122"/>
                <a:cs typeface="IBM Plex Sans" pitchFamily="34" charset="-120"/>
              </a:rPr>
              <a:t>Games as social places</a:t>
            </a:r>
            <a:endParaRPr lang="en-US" sz="1600" dirty="0"/>
          </a:p>
          <a:p>
            <a:pPr algn="l" indent="0" marL="0">
              <a:lnSpc>
                <a:spcPts val="2480"/>
              </a:lnSpc>
              <a:buNone/>
            </a:pPr>
            <a:r>
              <a:rPr lang="en-US" sz="1600" dirty="0">
                <a:solidFill>
                  <a:srgbClr val="F3F4F6"/>
                </a:solidFill>
                <a:latin typeface="IBM Plex Sans" pitchFamily="34" charset="0"/>
                <a:ea typeface="IBM Plex Sans" pitchFamily="34" charset="-122"/>
                <a:cs typeface="IBM Plex Sans" pitchFamily="34" charset="-120"/>
              </a:rPr>
              <a:t>Digital twins, museums and education</a:t>
            </a:r>
            <a:endParaRPr lang="en-US" sz="1600" dirty="0"/>
          </a:p>
          <a:p>
            <a:pPr algn="l" indent="0" marL="0">
              <a:lnSpc>
                <a:spcPts val="2480"/>
              </a:lnSpc>
              <a:buNone/>
            </a:pPr>
            <a:r>
              <a:rPr lang="en-US" sz="1600" dirty="0">
                <a:solidFill>
                  <a:srgbClr val="F3F4F6"/>
                </a:solidFill>
                <a:latin typeface="IBM Plex Sans" pitchFamily="34" charset="0"/>
                <a:ea typeface="IBM Plex Sans" pitchFamily="34" charset="-122"/>
                <a:cs typeface="IBM Plex Sans" pitchFamily="34" charset="-120"/>
              </a:rPr>
              <a:t>3D on the open web</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A64C8"/>
        </a:solidFill>
      </p:bgPr>
    </p:bg>
    <p:spTree>
      <p:nvGrpSpPr>
        <p:cNvPr id="1" name=""/>
        <p:cNvGrpSpPr/>
        <p:nvPr/>
      </p:nvGrpSpPr>
      <p:grpSpPr>
        <a:xfrm>
          <a:off x="0" y="0"/>
          <a:ext cx="0" cy="0"/>
          <a:chOff x="0" y="0"/>
          <a:chExt cx="0" cy="0"/>
        </a:xfrm>
      </p:grpSpPr>
      <p:sp>
        <p:nvSpPr>
          <p:cNvPr id="2" name="Text 0"/>
          <p:cNvSpPr/>
          <p:nvPr/>
        </p:nvSpPr>
        <p:spPr>
          <a:xfrm>
            <a:off x="812800" y="20777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E3ECFB"/>
                </a:solidFill>
                <a:latin typeface="JetBrains Mono" pitchFamily="49" charset="0"/>
                <a:ea typeface="JetBrains Mono" pitchFamily="49" charset="-122"/>
                <a:cs typeface="JetBrains Mono" pitchFamily="49" charset="-120"/>
              </a:rPr>
              <a:t>03 · DIGITAL STORYTELLING</a:t>
            </a:r>
            <a:endParaRPr lang="en-US" sz="1300" dirty="0"/>
          </a:p>
        </p:txBody>
      </p:sp>
      <p:sp>
        <p:nvSpPr>
          <p:cNvPr id="3" name="Text 1"/>
          <p:cNvSpPr/>
          <p:nvPr>
            <p:ph type="title"/>
          </p:nvPr>
        </p:nvSpPr>
        <p:spPr>
          <a:xfrm>
            <a:off x="812800" y="256282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4F6"/>
                </a:solidFill>
                <a:latin typeface="Space Grotesk" pitchFamily="34" charset="0"/>
                <a:ea typeface="Space Grotesk" pitchFamily="34" charset="-122"/>
                <a:cs typeface="Space Grotesk" pitchFamily="34" charset="-120"/>
              </a:rPr>
              <a:t>In a world, the space is the story.</a:t>
            </a:r>
            <a:endParaRPr lang="en-US" sz="6000" dirty="0"/>
          </a:p>
        </p:txBody>
      </p:sp>
      <p:sp>
        <p:nvSpPr>
          <p:cNvPr id="4" name="Text 2"/>
          <p:cNvSpPr/>
          <p:nvPr/>
        </p:nvSpPr>
        <p:spPr>
          <a:xfrm>
            <a:off x="812800" y="4417020"/>
            <a:ext cx="915670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3ECFB"/>
                </a:solidFill>
                <a:latin typeface="IBM Plex Sans" pitchFamily="34" charset="0"/>
                <a:ea typeface="IBM Plex Sans" pitchFamily="34" charset="-122"/>
                <a:cs typeface="IBM Plex Sans" pitchFamily="34" charset="-120"/>
              </a:rPr>
              <a:t>Film tells you what happened. A world lets you find out.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Four ways a space tells a story</a:t>
            </a:r>
            <a:endParaRPr lang="en-US" sz="3600" dirty="0"/>
          </a:p>
        </p:txBody>
      </p:sp>
      <p:sp>
        <p:nvSpPr>
          <p:cNvPr id="3" name="Shape 1"/>
          <p:cNvSpPr/>
          <p:nvPr/>
        </p:nvSpPr>
        <p:spPr>
          <a:xfrm>
            <a:off x="815975" y="1623616"/>
            <a:ext cx="5200650" cy="1423491"/>
          </a:xfrm>
          <a:prstGeom prst="roundRect">
            <a:avLst>
              <a:gd name="adj" fmla="val 6914"/>
            </a:avLst>
          </a:prstGeom>
          <a:solidFill>
            <a:srgbClr val="FBFBFC"/>
          </a:solidFill>
          <a:ln w="6350">
            <a:solidFill>
              <a:srgbClr val="DDE1E6"/>
            </a:solidFill>
            <a:prstDash val="solid"/>
          </a:ln>
        </p:spPr>
      </p:sp>
      <p:sp>
        <p:nvSpPr>
          <p:cNvPr id="4" name="Text 2"/>
          <p:cNvSpPr/>
          <p:nvPr/>
        </p:nvSpPr>
        <p:spPr>
          <a:xfrm>
            <a:off x="1047750" y="1855391"/>
            <a:ext cx="487921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Evoked</a:t>
            </a:r>
            <a:endParaRPr lang="en-US" sz="2200" dirty="0"/>
          </a:p>
        </p:txBody>
      </p:sp>
      <p:sp>
        <p:nvSpPr>
          <p:cNvPr id="5" name="Text 3"/>
          <p:cNvSpPr/>
          <p:nvPr/>
        </p:nvSpPr>
        <p:spPr>
          <a:xfrm>
            <a:off x="1047750" y="2266851"/>
            <a:ext cx="487921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Borrows a story you already know: a haunted house, a frontier town</a:t>
            </a:r>
            <a:endParaRPr lang="en-US" sz="1600" dirty="0"/>
          </a:p>
        </p:txBody>
      </p:sp>
      <p:sp>
        <p:nvSpPr>
          <p:cNvPr id="6" name="Shape 4"/>
          <p:cNvSpPr/>
          <p:nvPr/>
        </p:nvSpPr>
        <p:spPr>
          <a:xfrm>
            <a:off x="6175375" y="1623616"/>
            <a:ext cx="5200650" cy="1423491"/>
          </a:xfrm>
          <a:prstGeom prst="roundRect">
            <a:avLst>
              <a:gd name="adj" fmla="val 6914"/>
            </a:avLst>
          </a:prstGeom>
          <a:solidFill>
            <a:srgbClr val="FBFBFC"/>
          </a:solidFill>
          <a:ln w="6350">
            <a:solidFill>
              <a:srgbClr val="DDE1E6"/>
            </a:solidFill>
            <a:prstDash val="solid"/>
          </a:ln>
        </p:spPr>
      </p:sp>
      <p:sp>
        <p:nvSpPr>
          <p:cNvPr id="7" name="Text 5"/>
          <p:cNvSpPr/>
          <p:nvPr/>
        </p:nvSpPr>
        <p:spPr>
          <a:xfrm>
            <a:off x="6407150" y="1855391"/>
            <a:ext cx="487921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Enacted</a:t>
            </a:r>
            <a:endParaRPr lang="en-US" sz="2200" dirty="0"/>
          </a:p>
        </p:txBody>
      </p:sp>
      <p:sp>
        <p:nvSpPr>
          <p:cNvPr id="8" name="Text 6"/>
          <p:cNvSpPr/>
          <p:nvPr/>
        </p:nvSpPr>
        <p:spPr>
          <a:xfrm>
            <a:off x="6407150" y="2266851"/>
            <a:ext cx="487921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You perform the story: the quest, the rescue, the climb</a:t>
            </a:r>
            <a:endParaRPr lang="en-US" sz="1600" dirty="0"/>
          </a:p>
        </p:txBody>
      </p:sp>
      <p:sp>
        <p:nvSpPr>
          <p:cNvPr id="9" name="Shape 7"/>
          <p:cNvSpPr/>
          <p:nvPr/>
        </p:nvSpPr>
        <p:spPr>
          <a:xfrm>
            <a:off x="815975" y="3205857"/>
            <a:ext cx="5200650" cy="1423491"/>
          </a:xfrm>
          <a:prstGeom prst="roundRect">
            <a:avLst>
              <a:gd name="adj" fmla="val 6914"/>
            </a:avLst>
          </a:prstGeom>
          <a:solidFill>
            <a:srgbClr val="FBFBFC"/>
          </a:solidFill>
          <a:ln w="6350">
            <a:solidFill>
              <a:srgbClr val="DDE1E6"/>
            </a:solidFill>
            <a:prstDash val="solid"/>
          </a:ln>
        </p:spPr>
      </p:sp>
      <p:sp>
        <p:nvSpPr>
          <p:cNvPr id="10" name="Text 8"/>
          <p:cNvSpPr/>
          <p:nvPr/>
        </p:nvSpPr>
        <p:spPr>
          <a:xfrm>
            <a:off x="1047750" y="3437632"/>
            <a:ext cx="487921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Embedded</a:t>
            </a:r>
            <a:endParaRPr lang="en-US" sz="2200" dirty="0"/>
          </a:p>
        </p:txBody>
      </p:sp>
      <p:sp>
        <p:nvSpPr>
          <p:cNvPr id="11" name="Text 9"/>
          <p:cNvSpPr/>
          <p:nvPr/>
        </p:nvSpPr>
        <p:spPr>
          <a:xfrm>
            <a:off x="1047750" y="3849092"/>
            <a:ext cx="487921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Clues placed in the space: a journal, a broken door, an empty chair</a:t>
            </a:r>
            <a:endParaRPr lang="en-US" sz="1600" dirty="0"/>
          </a:p>
        </p:txBody>
      </p:sp>
      <p:sp>
        <p:nvSpPr>
          <p:cNvPr id="12" name="Shape 10"/>
          <p:cNvSpPr/>
          <p:nvPr/>
        </p:nvSpPr>
        <p:spPr>
          <a:xfrm>
            <a:off x="6175375" y="3205857"/>
            <a:ext cx="5200650" cy="1423491"/>
          </a:xfrm>
          <a:prstGeom prst="roundRect">
            <a:avLst>
              <a:gd name="adj" fmla="val 6914"/>
            </a:avLst>
          </a:prstGeom>
          <a:solidFill>
            <a:srgbClr val="FBFBFC"/>
          </a:solidFill>
          <a:ln w="6350">
            <a:solidFill>
              <a:srgbClr val="DDE1E6"/>
            </a:solidFill>
            <a:prstDash val="solid"/>
          </a:ln>
        </p:spPr>
      </p:sp>
      <p:sp>
        <p:nvSpPr>
          <p:cNvPr id="13" name="Text 11"/>
          <p:cNvSpPr/>
          <p:nvPr/>
        </p:nvSpPr>
        <p:spPr>
          <a:xfrm>
            <a:off x="6407150" y="3437632"/>
            <a:ext cx="487921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Emergent</a:t>
            </a:r>
            <a:endParaRPr lang="en-US" sz="2200" dirty="0"/>
          </a:p>
        </p:txBody>
      </p:sp>
      <p:sp>
        <p:nvSpPr>
          <p:cNvPr id="14" name="Text 12"/>
          <p:cNvSpPr/>
          <p:nvPr/>
        </p:nvSpPr>
        <p:spPr>
          <a:xfrm>
            <a:off x="6407150" y="3849092"/>
            <a:ext cx="487921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Stories that arise from rules and players, not a script</a:t>
            </a:r>
            <a:endParaRPr lang="en-US" sz="16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Henry Jenkins, "Game Design as Narrative Architecture" (2004)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317"/>
        </a:solidFill>
      </p:bgPr>
    </p:bg>
    <p:spTree>
      <p:nvGrpSpPr>
        <p:cNvPr id="1" name=""/>
        <p:cNvGrpSpPr/>
        <p:nvPr/>
      </p:nvGrpSpPr>
      <p:grpSpPr>
        <a:xfrm>
          <a:off x="0" y="0"/>
          <a:ext cx="0" cy="0"/>
          <a:chOff x="0" y="0"/>
          <a:chExt cx="0" cy="0"/>
        </a:xfrm>
      </p:grpSpPr>
      <p:pic>
        <p:nvPicPr>
          <p:cNvPr id="2" name="Image 0" descr="Miskwaa, an Ojibwe girl, holding yellow flowers beside a friendly creature in the forest of Reclaim! Azhe-giiwewining">    </p:cNvPr>
          <p:cNvPicPr>
            <a:picLocks noChangeAspect="1"/>
          </p:cNvPicPr>
          <p:nvPr/>
        </p:nvPicPr>
        <p:blipFill>
          <a:blip r:embed="rId1"/>
          <a:srcRect l="9173" r="9173" t="0" b="0"/>
          <a:stretch/>
        </p:blipFill>
        <p:spPr>
          <a:xfrm>
            <a:off x="812800" y="1460500"/>
            <a:ext cx="5715000" cy="3937000"/>
          </a:xfrm>
          <a:prstGeom prst="roundRect">
            <a:avLst>
              <a:gd name="adj" fmla="val 3871"/>
            </a:avLst>
          </a:prstGeom>
        </p:spPr>
      </p:pic>
      <p:sp>
        <p:nvSpPr>
          <p:cNvPr id="3" name="Text 0"/>
          <p:cNvSpPr/>
          <p:nvPr/>
        </p:nvSpPr>
        <p:spPr>
          <a:xfrm>
            <a:off x="6985000" y="2001639"/>
            <a:ext cx="4526026"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STORY THROUGH MECHANICS</a:t>
            </a:r>
            <a:endParaRPr lang="en-US" sz="1300" dirty="0"/>
          </a:p>
        </p:txBody>
      </p:sp>
      <p:sp>
        <p:nvSpPr>
          <p:cNvPr id="4" name="Text 1"/>
          <p:cNvSpPr/>
          <p:nvPr>
            <p:ph type="title"/>
          </p:nvPr>
        </p:nvSpPr>
        <p:spPr>
          <a:xfrm>
            <a:off x="6985000" y="2410520"/>
            <a:ext cx="4526026"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Every word brings you closer to home</a:t>
            </a:r>
            <a:endParaRPr lang="en-US" sz="3600" dirty="0"/>
          </a:p>
        </p:txBody>
      </p:sp>
      <p:sp>
        <p:nvSpPr>
          <p:cNvPr id="5" name="Text 2"/>
          <p:cNvSpPr/>
          <p:nvPr/>
        </p:nvSpPr>
        <p:spPr>
          <a:xfrm>
            <a:off x="6985000" y="3594001"/>
            <a:ext cx="4526026" cy="8787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4F6"/>
                </a:solidFill>
                <a:latin typeface="IBM Plex Sans" pitchFamily="34" charset="0"/>
                <a:ea typeface="IBM Plex Sans" pitchFamily="34" charset="-122"/>
                <a:cs typeface="IBM Plex Sans" pitchFamily="34" charset="-120"/>
              </a:rPr>
              <a:t>Reclaim! Azhe-giiwewining</a:t>
            </a:r>
            <a:r>
              <a:rPr lang="en-US" sz="1600" dirty="0">
                <a:solidFill>
                  <a:srgbClr val="B7C0CC"/>
                </a:solidFill>
                <a:latin typeface="IBM Plex Sans" pitchFamily="34" charset="0"/>
                <a:ea typeface="IBM Plex Sans" pitchFamily="34" charset="-122"/>
                <a:cs typeface="IBM Plex Sans" pitchFamily="34" charset="-120"/>
              </a:rPr>
              <a:t> — a point-and-click adventure where learning Ojibwe words is how Miskwaa finds her way back to her grandmother.</a:t>
            </a:r>
            <a:endParaRPr lang="en-US" sz="1600" dirty="0"/>
          </a:p>
        </p:txBody>
      </p:sp>
      <p:sp>
        <p:nvSpPr>
          <p:cNvPr id="6" name="Text 3"/>
          <p:cNvSpPr/>
          <p:nvPr/>
        </p:nvSpPr>
        <p:spPr>
          <a:xfrm>
            <a:off x="6985000" y="4625181"/>
            <a:ext cx="452602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With Grassroots Indigenous Multimedia · on Steam</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1954709"/>
            <a:ext cx="4526026"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STORY THROUGH CONSEQUENCE</a:t>
            </a:r>
            <a:endParaRPr lang="en-US" sz="1300" dirty="0"/>
          </a:p>
        </p:txBody>
      </p:sp>
      <p:sp>
        <p:nvSpPr>
          <p:cNvPr id="3" name="Text 1"/>
          <p:cNvSpPr/>
          <p:nvPr>
            <p:ph type="title"/>
          </p:nvPr>
        </p:nvSpPr>
        <p:spPr>
          <a:xfrm>
            <a:off x="812800" y="2363589"/>
            <a:ext cx="4526026" cy="153392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Forget to look both ways, and the train arrives</a:t>
            </a:r>
            <a:endParaRPr lang="en-US" sz="3600" dirty="0"/>
          </a:p>
        </p:txBody>
      </p:sp>
      <p:sp>
        <p:nvSpPr>
          <p:cNvPr id="4" name="Text 2"/>
          <p:cNvSpPr/>
          <p:nvPr/>
        </p:nvSpPr>
        <p:spPr>
          <a:xfrm>
            <a:off x="812800" y="4049911"/>
            <a:ext cx="4526026" cy="8787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4F6"/>
                </a:solidFill>
                <a:latin typeface="IBM Plex Sans" pitchFamily="34" charset="0"/>
                <a:ea typeface="IBM Plex Sans" pitchFamily="34" charset="-122"/>
                <a:cs typeface="IBM Plex Sans" pitchFamily="34" charset="-120"/>
              </a:rPr>
              <a:t>The Grid: Near Miss</a:t>
            </a:r>
            <a:r>
              <a:rPr lang="en-US" sz="1600" dirty="0">
                <a:solidFill>
                  <a:srgbClr val="B7C0CC"/>
                </a:solidFill>
                <a:latin typeface="IBM Plex Sans" pitchFamily="34" charset="0"/>
                <a:ea typeface="IBM Plex Sans" pitchFamily="34" charset="-122"/>
                <a:cs typeface="IBM Plex Sans" pitchFamily="34" charset="-120"/>
              </a:rPr>
              <a:t> for CN Rail — mixed-reality training where you throw a real switch, "Point and Call", and live with the result.</a:t>
            </a:r>
            <a:endParaRPr lang="en-US" sz="1600" dirty="0"/>
          </a:p>
        </p:txBody>
      </p:sp>
      <p:pic>
        <p:nvPicPr>
          <p:cNvPr id="5" name="Image 0" descr="Rail yard with boxcars and a manual switch in CN Rail's Near Miss training module">    </p:cNvPr>
          <p:cNvPicPr>
            <a:picLocks noChangeAspect="1"/>
          </p:cNvPicPr>
          <p:nvPr/>
        </p:nvPicPr>
        <p:blipFill>
          <a:blip r:embed="rId1"/>
          <a:srcRect l="9173" r="9173" t="0" b="0"/>
          <a:stretch/>
        </p:blipFill>
        <p:spPr>
          <a:xfrm>
            <a:off x="5664200" y="1460500"/>
            <a:ext cx="5715000" cy="3937000"/>
          </a:xfrm>
          <a:prstGeom prst="roundRect">
            <a:avLst>
              <a:gd name="adj" fmla="val 3871"/>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04 · DIGITAL IDENTITY &amp; OWNERSHIP</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Who are you in a world?</a:t>
            </a:r>
            <a:endParaRPr lang="en-US" sz="3600" dirty="0"/>
          </a:p>
        </p:txBody>
      </p:sp>
      <p:sp>
        <p:nvSpPr>
          <p:cNvPr id="4" name="Shape 2"/>
          <p:cNvSpPr/>
          <p:nvPr/>
        </p:nvSpPr>
        <p:spPr>
          <a:xfrm>
            <a:off x="815975" y="1981696"/>
            <a:ext cx="3414117" cy="1956891"/>
          </a:xfrm>
          <a:prstGeom prst="roundRect">
            <a:avLst>
              <a:gd name="adj" fmla="val 5030"/>
            </a:avLst>
          </a:prstGeom>
          <a:solidFill>
            <a:srgbClr val="FBFBFC"/>
          </a:solidFill>
          <a:ln w="6350">
            <a:solidFill>
              <a:srgbClr val="DDE1E6"/>
            </a:solidFill>
            <a:prstDash val="solid"/>
          </a:ln>
        </p:spPr>
      </p:sp>
      <p:pic>
        <p:nvPicPr>
          <p:cNvPr id="5" name="Image 0" descr="Users">    </p:cNvPr>
          <p:cNvPicPr>
            <a:picLocks noChangeAspect="1"/>
          </p:cNvPicPr>
          <p:nvPr/>
        </p:nvPicPr>
        <p:blipFill>
          <a:blip r:embed="rId1"/>
          <a:srcRect l="0" r="0" t="0" b="0"/>
          <a:stretch/>
        </p:blipFill>
        <p:spPr>
          <a:xfrm>
            <a:off x="1073150" y="2238871"/>
            <a:ext cx="355600" cy="355600"/>
          </a:xfrm>
          <a:prstGeom prst="rect">
            <a:avLst/>
          </a:prstGeom>
        </p:spPr>
      </p:pic>
      <p:sp>
        <p:nvSpPr>
          <p:cNvPr id="6" name="Text 3"/>
          <p:cNvSpPr/>
          <p:nvPr/>
        </p:nvSpPr>
        <p:spPr>
          <a:xfrm>
            <a:off x="1073150" y="2696071"/>
            <a:ext cx="29867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Avatar</a:t>
            </a:r>
            <a:endParaRPr lang="en-US" sz="2200" dirty="0"/>
          </a:p>
        </p:txBody>
      </p:sp>
      <p:sp>
        <p:nvSpPr>
          <p:cNvPr id="7" name="Text 4"/>
          <p:cNvSpPr/>
          <p:nvPr/>
        </p:nvSpPr>
        <p:spPr>
          <a:xfrm>
            <a:off x="1073150" y="3132931"/>
            <a:ext cx="2986760"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How others see you — chosen, scanned or assigned</a:t>
            </a:r>
            <a:endParaRPr lang="en-US" sz="1600" dirty="0"/>
          </a:p>
        </p:txBody>
      </p:sp>
      <p:sp>
        <p:nvSpPr>
          <p:cNvPr id="8" name="Shape 5"/>
          <p:cNvSpPr/>
          <p:nvPr/>
        </p:nvSpPr>
        <p:spPr>
          <a:xfrm>
            <a:off x="4388842" y="1981696"/>
            <a:ext cx="3414216" cy="1956891"/>
          </a:xfrm>
          <a:prstGeom prst="roundRect">
            <a:avLst>
              <a:gd name="adj" fmla="val 5030"/>
            </a:avLst>
          </a:prstGeom>
          <a:solidFill>
            <a:srgbClr val="FBFBFC"/>
          </a:solidFill>
          <a:ln w="6350">
            <a:solidFill>
              <a:srgbClr val="DDE1E6"/>
            </a:solidFill>
            <a:prstDash val="solid"/>
          </a:ln>
        </p:spPr>
      </p:sp>
      <p:pic>
        <p:nvPicPr>
          <p:cNvPr id="9" name="Image 1" descr="Activity">    </p:cNvPr>
          <p:cNvPicPr>
            <a:picLocks noChangeAspect="1"/>
          </p:cNvPicPr>
          <p:nvPr/>
        </p:nvPicPr>
        <p:blipFill>
          <a:blip r:embed="rId2"/>
          <a:srcRect l="0" r="0" t="0" b="0"/>
          <a:stretch/>
        </p:blipFill>
        <p:spPr>
          <a:xfrm>
            <a:off x="4646017" y="2238871"/>
            <a:ext cx="355600" cy="355600"/>
          </a:xfrm>
          <a:prstGeom prst="rect">
            <a:avLst/>
          </a:prstGeom>
        </p:spPr>
      </p:pic>
      <p:sp>
        <p:nvSpPr>
          <p:cNvPr id="10" name="Text 6"/>
          <p:cNvSpPr/>
          <p:nvPr/>
        </p:nvSpPr>
        <p:spPr>
          <a:xfrm>
            <a:off x="4646017" y="269607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Presence</a:t>
            </a:r>
            <a:endParaRPr lang="en-US" sz="2200" dirty="0"/>
          </a:p>
        </p:txBody>
      </p:sp>
      <p:sp>
        <p:nvSpPr>
          <p:cNvPr id="11" name="Text 7"/>
          <p:cNvSpPr/>
          <p:nvPr/>
        </p:nvSpPr>
        <p:spPr>
          <a:xfrm>
            <a:off x="4646017" y="3132931"/>
            <a:ext cx="2986862"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How it feels to be you, there — voice, hands, gaze</a:t>
            </a:r>
            <a:endParaRPr lang="en-US" sz="1600" dirty="0"/>
          </a:p>
        </p:txBody>
      </p:sp>
      <p:sp>
        <p:nvSpPr>
          <p:cNvPr id="12" name="Shape 8"/>
          <p:cNvSpPr/>
          <p:nvPr/>
        </p:nvSpPr>
        <p:spPr>
          <a:xfrm>
            <a:off x="7961809" y="1981696"/>
            <a:ext cx="3414216" cy="1956891"/>
          </a:xfrm>
          <a:prstGeom prst="roundRect">
            <a:avLst>
              <a:gd name="adj" fmla="val 5030"/>
            </a:avLst>
          </a:prstGeom>
          <a:solidFill>
            <a:srgbClr val="FBFBFC"/>
          </a:solidFill>
          <a:ln w="6350">
            <a:solidFill>
              <a:srgbClr val="DDE1E6"/>
            </a:solidFill>
            <a:prstDash val="solid"/>
          </a:ln>
        </p:spPr>
      </p:sp>
      <p:pic>
        <p:nvPicPr>
          <p:cNvPr id="13" name="Image 2" descr="Clock">    </p:cNvPr>
          <p:cNvPicPr>
            <a:picLocks noChangeAspect="1"/>
          </p:cNvPicPr>
          <p:nvPr/>
        </p:nvPicPr>
        <p:blipFill>
          <a:blip r:embed="rId3"/>
          <a:srcRect l="0" r="0" t="0" b="0"/>
          <a:stretch/>
        </p:blipFill>
        <p:spPr>
          <a:xfrm>
            <a:off x="8218984" y="2238871"/>
            <a:ext cx="355600" cy="355600"/>
          </a:xfrm>
          <a:prstGeom prst="rect">
            <a:avLst/>
          </a:prstGeom>
        </p:spPr>
      </p:pic>
      <p:sp>
        <p:nvSpPr>
          <p:cNvPr id="14" name="Text 9"/>
          <p:cNvSpPr/>
          <p:nvPr/>
        </p:nvSpPr>
        <p:spPr>
          <a:xfrm>
            <a:off x="8218984" y="269607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Persistence</a:t>
            </a:r>
            <a:endParaRPr lang="en-US" sz="2200" dirty="0"/>
          </a:p>
        </p:txBody>
      </p:sp>
      <p:sp>
        <p:nvSpPr>
          <p:cNvPr id="15" name="Text 10"/>
          <p:cNvSpPr/>
          <p:nvPr/>
        </p:nvSpPr>
        <p:spPr>
          <a:xfrm>
            <a:off x="8218984" y="3132931"/>
            <a:ext cx="2986862"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What the world remembers about you between visits</a:t>
            </a:r>
            <a:endParaRPr lang="en-US" sz="1600" dirty="0"/>
          </a:p>
        </p:txBody>
      </p:sp>
      <p:sp>
        <p:nvSpPr>
          <p:cNvPr id="16" name="Text 11"/>
          <p:cNvSpPr/>
          <p:nvPr/>
        </p:nvSpPr>
        <p:spPr>
          <a:xfrm>
            <a:off x="812800" y="4246563"/>
            <a:ext cx="98107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The Proteus effect:</a:t>
            </a:r>
            <a:r>
              <a:rPr lang="en-US" sz="1600" dirty="0">
                <a:solidFill>
                  <a:srgbClr val="14181D"/>
                </a:solidFill>
                <a:latin typeface="IBM Plex Sans" pitchFamily="34" charset="0"/>
                <a:ea typeface="IBM Plex Sans" pitchFamily="34" charset="-122"/>
                <a:cs typeface="IBM Plex Sans" pitchFamily="34" charset="-120"/>
              </a:rPr>
              <a:t> people tend to behave like their avatar looks. Design choices shape behaviour.</a:t>
            </a:r>
            <a:endParaRPr lang="en-US" sz="1600" dirty="0"/>
          </a:p>
        </p:txBody>
      </p:sp>
      <p:sp>
        <p:nvSpPr>
          <p:cNvPr id="17"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Yee &amp; Bailenson, "The Proteus Effect" (2007)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What do you actually own in a world?</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41"/>
          <a:ext cx="10553700" cy="2196207"/>
        </p:xfrm>
        <a:graphic>
          <a:graphicData uri="http://schemas.openxmlformats.org/drawingml/2006/table">
            <a:tbl>
              <a:tblPr/>
              <a:tblGrid>
                <a:gridCol w="4010406"/>
                <a:gridCol w="6543294"/>
              </a:tblGrid>
              <a:tr h="439241">
                <a:tc>
                  <a:txBody>
                    <a:bodyPr/>
                    <a:lstStyle/>
                    <a:p>
                      <a:pPr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What it feels like you own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3C4"/>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What you usually have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r>
              <a:tr h="439241">
                <a:tc>
                  <a:txBody>
                    <a:bodyPr/>
                    <a:lstStyle/>
                    <a:p>
                      <a:pPr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A skin or item you paid for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A licence, under the platform's terms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A world or object you built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Rights that depend on the platform's terms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Your avatar, voice or 3D scan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A likeness you may have licensed to the platform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439241">
                <a:tc>
                  <a:txBody>
                    <a:bodyPr/>
                    <a:lstStyle/>
                    <a:p>
                      <a:pPr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Your behaviour in the world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Data the platform collects — movement, gaze, voice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bl>
          </a:graphicData>
        </a:graphic>
      </p:graphicFrame>
      <p:sp>
        <p:nvSpPr>
          <p:cNvPr id="4" name="Text 1"/>
          <p:cNvSpPr/>
          <p:nvPr/>
        </p:nvSpPr>
        <p:spPr>
          <a:xfrm>
            <a:off x="812800" y="4134148"/>
            <a:ext cx="1013777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NFTs promised portable digital ownership; the 2021 boom faded fast in 2022. The question they raised — </a:t>
            </a:r>
            <a:r>
              <a:rPr lang="en-US" sz="1600" b="1" dirty="0">
                <a:solidFill>
                  <a:srgbClr val="14181D"/>
                </a:solidFill>
                <a:latin typeface="IBM Plex Sans" pitchFamily="34" charset="0"/>
                <a:ea typeface="IBM Plex Sans" pitchFamily="34" charset="-122"/>
                <a:cs typeface="IBM Plex Sans" pitchFamily="34" charset="-120"/>
              </a:rPr>
              <a:t>can you leave with what's yours?</a:t>
            </a:r>
            <a:r>
              <a:rPr lang="en-US" sz="1600" dirty="0">
                <a:solidFill>
                  <a:srgbClr val="4A5260"/>
                </a:solidFill>
                <a:latin typeface="IBM Plex Sans" pitchFamily="34" charset="0"/>
                <a:ea typeface="IBM Plex Sans" pitchFamily="34" charset="-122"/>
                <a:cs typeface="IBM Plex Sans" pitchFamily="34" charset="-120"/>
              </a:rPr>
              <a:t> — is still open.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1332409"/>
            <a:ext cx="5703316"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OWNERSHIP OF KNOWLEDGE</a:t>
            </a:r>
            <a:endParaRPr lang="en-US" sz="1300" dirty="0"/>
          </a:p>
        </p:txBody>
      </p:sp>
      <p:sp>
        <p:nvSpPr>
          <p:cNvPr id="3" name="Text 1"/>
          <p:cNvSpPr/>
          <p:nvPr>
            <p:ph type="title"/>
          </p:nvPr>
        </p:nvSpPr>
        <p:spPr>
          <a:xfrm>
            <a:off x="812800" y="1766689"/>
            <a:ext cx="5703316" cy="153392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When a world holds a community's knowledge, who controls it?</a:t>
            </a:r>
            <a:endParaRPr lang="en-US" sz="3600" dirty="0"/>
          </a:p>
        </p:txBody>
      </p:sp>
      <p:sp>
        <p:nvSpPr>
          <p:cNvPr id="4" name="Text 2"/>
          <p:cNvSpPr/>
          <p:nvPr/>
        </p:nvSpPr>
        <p:spPr>
          <a:xfrm>
            <a:off x="812800" y="3478411"/>
            <a:ext cx="2717800" cy="538460"/>
          </a:xfrm>
          <a:prstGeom prst="roundRect">
            <a:avLst>
              <a:gd name="adj" fmla="val 14151"/>
            </a:avLst>
          </a:prstGeom>
          <a:solidFill>
            <a:srgbClr val="1A1E24"/>
          </a:solidFill>
          <a:ln/>
        </p:spPr>
        <p:txBody>
          <a:bodyPr wrap="square" lIns="130082" tIns="104682" rIns="57692" bIns="79282" rtlCol="0" anchor="t">
            <a:normAutofit/>
          </a:bodyPr>
          <a:lstStyle/>
          <a:p>
            <a:pPr algn="l" indent="0" marL="0">
              <a:lnSpc>
                <a:spcPts val="2240"/>
              </a:lnSpc>
              <a:buNone/>
            </a:pPr>
            <a:r>
              <a:rPr lang="en-US" sz="1600" b="1" dirty="0">
                <a:solidFill>
                  <a:srgbClr val="00A8E8"/>
                </a:solidFill>
                <a:latin typeface="IBM Plex Sans" pitchFamily="34" charset="0"/>
                <a:ea typeface="IBM Plex Sans" pitchFamily="34" charset="-122"/>
                <a:cs typeface="IBM Plex Sans" pitchFamily="34" charset="-120"/>
              </a:rPr>
              <a:t>O</a:t>
            </a:r>
            <a:r>
              <a:rPr lang="en-US" sz="1600" dirty="0">
                <a:solidFill>
                  <a:srgbClr val="F3F4F6"/>
                </a:solidFill>
                <a:latin typeface="IBM Plex Sans" pitchFamily="34" charset="0"/>
                <a:ea typeface="IBM Plex Sans" pitchFamily="34" charset="-122"/>
                <a:cs typeface="IBM Plex Sans" pitchFamily="34" charset="-120"/>
              </a:rPr>
              <a:t>wnership</a:t>
            </a:r>
            <a:endParaRPr lang="en-US" sz="1600" dirty="0"/>
          </a:p>
        </p:txBody>
      </p:sp>
      <p:sp>
        <p:nvSpPr>
          <p:cNvPr id="5" name="Text 3"/>
          <p:cNvSpPr/>
          <p:nvPr/>
        </p:nvSpPr>
        <p:spPr>
          <a:xfrm>
            <a:off x="3632200" y="3478411"/>
            <a:ext cx="2717800" cy="538460"/>
          </a:xfrm>
          <a:prstGeom prst="roundRect">
            <a:avLst>
              <a:gd name="adj" fmla="val 14151"/>
            </a:avLst>
          </a:prstGeom>
          <a:solidFill>
            <a:srgbClr val="1A1E24"/>
          </a:solidFill>
          <a:ln/>
        </p:spPr>
        <p:txBody>
          <a:bodyPr wrap="square" lIns="130082" tIns="104682" rIns="57692" bIns="79282" rtlCol="0" anchor="t">
            <a:normAutofit/>
          </a:bodyPr>
          <a:lstStyle/>
          <a:p>
            <a:pPr algn="l" indent="0" marL="0">
              <a:lnSpc>
                <a:spcPts val="2240"/>
              </a:lnSpc>
              <a:buNone/>
            </a:pPr>
            <a:r>
              <a:rPr lang="en-US" sz="1600" b="1" dirty="0">
                <a:solidFill>
                  <a:srgbClr val="00A8E8"/>
                </a:solidFill>
                <a:latin typeface="IBM Plex Sans" pitchFamily="34" charset="0"/>
                <a:ea typeface="IBM Plex Sans" pitchFamily="34" charset="-122"/>
                <a:cs typeface="IBM Plex Sans" pitchFamily="34" charset="-120"/>
              </a:rPr>
              <a:t>C</a:t>
            </a:r>
            <a:r>
              <a:rPr lang="en-US" sz="1600" dirty="0">
                <a:solidFill>
                  <a:srgbClr val="F3F4F6"/>
                </a:solidFill>
                <a:latin typeface="IBM Plex Sans" pitchFamily="34" charset="0"/>
                <a:ea typeface="IBM Plex Sans" pitchFamily="34" charset="-122"/>
                <a:cs typeface="IBM Plex Sans" pitchFamily="34" charset="-120"/>
              </a:rPr>
              <a:t>ontrol</a:t>
            </a:r>
            <a:endParaRPr lang="en-US" sz="1600" dirty="0"/>
          </a:p>
        </p:txBody>
      </p:sp>
      <p:sp>
        <p:nvSpPr>
          <p:cNvPr id="6" name="Text 4"/>
          <p:cNvSpPr/>
          <p:nvPr/>
        </p:nvSpPr>
        <p:spPr>
          <a:xfrm>
            <a:off x="812800" y="4118471"/>
            <a:ext cx="2717800" cy="538460"/>
          </a:xfrm>
          <a:prstGeom prst="roundRect">
            <a:avLst>
              <a:gd name="adj" fmla="val 14151"/>
            </a:avLst>
          </a:prstGeom>
          <a:solidFill>
            <a:srgbClr val="1A1E24"/>
          </a:solidFill>
          <a:ln/>
        </p:spPr>
        <p:txBody>
          <a:bodyPr wrap="square" lIns="130082" tIns="104682" rIns="57692" bIns="79282" rtlCol="0" anchor="t">
            <a:normAutofit/>
          </a:bodyPr>
          <a:lstStyle/>
          <a:p>
            <a:pPr algn="l" indent="0" marL="0">
              <a:lnSpc>
                <a:spcPts val="2240"/>
              </a:lnSpc>
              <a:buNone/>
            </a:pPr>
            <a:r>
              <a:rPr lang="en-US" sz="1600" b="1" dirty="0">
                <a:solidFill>
                  <a:srgbClr val="00A8E8"/>
                </a:solidFill>
                <a:latin typeface="IBM Plex Sans" pitchFamily="34" charset="0"/>
                <a:ea typeface="IBM Plex Sans" pitchFamily="34" charset="-122"/>
                <a:cs typeface="IBM Plex Sans" pitchFamily="34" charset="-120"/>
              </a:rPr>
              <a:t>A</a:t>
            </a:r>
            <a:r>
              <a:rPr lang="en-US" sz="1600" dirty="0">
                <a:solidFill>
                  <a:srgbClr val="F3F4F6"/>
                </a:solidFill>
                <a:latin typeface="IBM Plex Sans" pitchFamily="34" charset="0"/>
                <a:ea typeface="IBM Plex Sans" pitchFamily="34" charset="-122"/>
                <a:cs typeface="IBM Plex Sans" pitchFamily="34" charset="-120"/>
              </a:rPr>
              <a:t>ccess</a:t>
            </a:r>
            <a:endParaRPr lang="en-US" sz="1600" dirty="0"/>
          </a:p>
        </p:txBody>
      </p:sp>
      <p:sp>
        <p:nvSpPr>
          <p:cNvPr id="7" name="Text 5"/>
          <p:cNvSpPr/>
          <p:nvPr/>
        </p:nvSpPr>
        <p:spPr>
          <a:xfrm>
            <a:off x="3632200" y="4118471"/>
            <a:ext cx="2717800" cy="538460"/>
          </a:xfrm>
          <a:prstGeom prst="roundRect">
            <a:avLst>
              <a:gd name="adj" fmla="val 14151"/>
            </a:avLst>
          </a:prstGeom>
          <a:solidFill>
            <a:srgbClr val="1A1E24"/>
          </a:solidFill>
          <a:ln/>
        </p:spPr>
        <p:txBody>
          <a:bodyPr wrap="square" lIns="130082" tIns="104682" rIns="57692" bIns="79282" rtlCol="0" anchor="t">
            <a:normAutofit/>
          </a:bodyPr>
          <a:lstStyle/>
          <a:p>
            <a:pPr algn="l" indent="0" marL="0">
              <a:lnSpc>
                <a:spcPts val="2240"/>
              </a:lnSpc>
              <a:buNone/>
            </a:pPr>
            <a:r>
              <a:rPr lang="en-US" sz="1600" b="1" dirty="0">
                <a:solidFill>
                  <a:srgbClr val="00A8E8"/>
                </a:solidFill>
                <a:latin typeface="IBM Plex Sans" pitchFamily="34" charset="0"/>
                <a:ea typeface="IBM Plex Sans" pitchFamily="34" charset="-122"/>
                <a:cs typeface="IBM Plex Sans" pitchFamily="34" charset="-120"/>
              </a:rPr>
              <a:t>P</a:t>
            </a:r>
            <a:r>
              <a:rPr lang="en-US" sz="1600" dirty="0">
                <a:solidFill>
                  <a:srgbClr val="F3F4F6"/>
                </a:solidFill>
                <a:latin typeface="IBM Plex Sans" pitchFamily="34" charset="0"/>
                <a:ea typeface="IBM Plex Sans" pitchFamily="34" charset="-122"/>
                <a:cs typeface="IBM Plex Sans" pitchFamily="34" charset="-120"/>
              </a:rPr>
              <a:t>ossession</a:t>
            </a:r>
            <a:endParaRPr lang="en-US" sz="1600" dirty="0"/>
          </a:p>
        </p:txBody>
      </p:sp>
      <p:sp>
        <p:nvSpPr>
          <p:cNvPr id="8" name="Text 6"/>
          <p:cNvSpPr/>
          <p:nvPr/>
        </p:nvSpPr>
        <p:spPr>
          <a:xfrm>
            <a:off x="812800" y="4860131"/>
            <a:ext cx="570331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OCAP® — First Nations principles for how data and knowledge are governed</a:t>
            </a:r>
            <a:endParaRPr lang="en-US" sz="1300" dirty="0"/>
          </a:p>
        </p:txBody>
      </p:sp>
      <p:pic>
        <p:nvPicPr>
          <p:cNvPr id="9" name="Image 0" descr="Harvesting corn in the Myera Farms digital twin">    </p:cNvPr>
          <p:cNvPicPr>
            <a:picLocks noChangeAspect="1"/>
          </p:cNvPicPr>
          <p:nvPr/>
        </p:nvPicPr>
        <p:blipFill>
          <a:blip r:embed="rId1"/>
          <a:srcRect l="21071" r="21071" t="0" b="0"/>
          <a:stretch/>
        </p:blipFill>
        <p:spPr>
          <a:xfrm>
            <a:off x="6807200" y="1104900"/>
            <a:ext cx="4572000" cy="4445000"/>
          </a:xfrm>
          <a:prstGeom prst="roundRect">
            <a:avLst>
              <a:gd name="adj" fmla="val 3429"/>
            </a:avLst>
          </a:prstGeom>
        </p:spPr>
      </p:pic>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OCAP® is a registered trademark of the First Nations Information Governance Centre (FNIGC) · Image: Myera Farms digital twin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Five questions every world builder should answer</a:t>
            </a:r>
            <a:endParaRPr lang="en-US" sz="3600" dirty="0"/>
          </a:p>
        </p:txBody>
      </p:sp>
      <p:sp>
        <p:nvSpPr>
          <p:cNvPr id="3" name="Shape 1"/>
          <p:cNvSpPr/>
          <p:nvPr/>
        </p:nvSpPr>
        <p:spPr>
          <a:xfrm>
            <a:off x="812800" y="2126456"/>
            <a:ext cx="10566400" cy="0"/>
          </a:xfrm>
          <a:prstGeom prst="line">
            <a:avLst/>
          </a:prstGeom>
          <a:noFill/>
          <a:ln w="6350">
            <a:solidFill>
              <a:srgbClr val="C9CED6"/>
            </a:solidFill>
            <a:prstDash val="solid"/>
          </a:ln>
        </p:spPr>
      </p:sp>
      <p:sp>
        <p:nvSpPr>
          <p:cNvPr id="4" name="Text 2"/>
          <p:cNvSpPr/>
          <p:nvPr/>
        </p:nvSpPr>
        <p:spPr>
          <a:xfrm>
            <a:off x="812800" y="2282031"/>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1</a:t>
            </a:r>
            <a:endParaRPr lang="en-US" sz="2200" dirty="0"/>
          </a:p>
        </p:txBody>
      </p:sp>
      <p:sp>
        <p:nvSpPr>
          <p:cNvPr id="5" name="Text 3"/>
          <p:cNvSpPr/>
          <p:nvPr/>
        </p:nvSpPr>
        <p:spPr>
          <a:xfrm>
            <a:off x="1574800" y="2340471"/>
            <a:ext cx="3867150"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Who owns what people make here?</a:t>
            </a:r>
            <a:endParaRPr lang="en-US" sz="1600" dirty="0"/>
          </a:p>
        </p:txBody>
      </p:sp>
      <p:sp>
        <p:nvSpPr>
          <p:cNvPr id="6" name="Shape 4"/>
          <p:cNvSpPr/>
          <p:nvPr/>
        </p:nvSpPr>
        <p:spPr>
          <a:xfrm>
            <a:off x="812800" y="2828727"/>
            <a:ext cx="10566400" cy="0"/>
          </a:xfrm>
          <a:prstGeom prst="line">
            <a:avLst/>
          </a:prstGeom>
          <a:noFill/>
          <a:ln w="6350">
            <a:solidFill>
              <a:srgbClr val="C9CED6"/>
            </a:solidFill>
            <a:prstDash val="solid"/>
          </a:ln>
        </p:spPr>
      </p:sp>
      <p:sp>
        <p:nvSpPr>
          <p:cNvPr id="7" name="Text 5"/>
          <p:cNvSpPr/>
          <p:nvPr/>
        </p:nvSpPr>
        <p:spPr>
          <a:xfrm>
            <a:off x="812800" y="2984302"/>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2</a:t>
            </a:r>
            <a:endParaRPr lang="en-US" sz="2200" dirty="0"/>
          </a:p>
        </p:txBody>
      </p:sp>
      <p:sp>
        <p:nvSpPr>
          <p:cNvPr id="8" name="Text 6"/>
          <p:cNvSpPr/>
          <p:nvPr/>
        </p:nvSpPr>
        <p:spPr>
          <a:xfrm>
            <a:off x="1574800" y="3042741"/>
            <a:ext cx="5294114"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What data do we collect, and why do we need it?</a:t>
            </a:r>
            <a:endParaRPr lang="en-US" sz="1600" dirty="0"/>
          </a:p>
        </p:txBody>
      </p:sp>
      <p:sp>
        <p:nvSpPr>
          <p:cNvPr id="9" name="Shape 7"/>
          <p:cNvSpPr/>
          <p:nvPr/>
        </p:nvSpPr>
        <p:spPr>
          <a:xfrm>
            <a:off x="812800" y="3530997"/>
            <a:ext cx="10566400" cy="0"/>
          </a:xfrm>
          <a:prstGeom prst="line">
            <a:avLst/>
          </a:prstGeom>
          <a:noFill/>
          <a:ln w="6350">
            <a:solidFill>
              <a:srgbClr val="C9CED6"/>
            </a:solidFill>
            <a:prstDash val="solid"/>
          </a:ln>
        </p:spPr>
      </p:sp>
      <p:sp>
        <p:nvSpPr>
          <p:cNvPr id="10" name="Text 8"/>
          <p:cNvSpPr/>
          <p:nvPr/>
        </p:nvSpPr>
        <p:spPr>
          <a:xfrm>
            <a:off x="812800" y="3686572"/>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3</a:t>
            </a:r>
            <a:endParaRPr lang="en-US" sz="2200" dirty="0"/>
          </a:p>
        </p:txBody>
      </p:sp>
      <p:sp>
        <p:nvSpPr>
          <p:cNvPr id="11" name="Text 9"/>
          <p:cNvSpPr/>
          <p:nvPr/>
        </p:nvSpPr>
        <p:spPr>
          <a:xfrm>
            <a:off x="1574800" y="3745012"/>
            <a:ext cx="3976807"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Can people leave with what's theirs?</a:t>
            </a:r>
            <a:endParaRPr lang="en-US" sz="1600" dirty="0"/>
          </a:p>
        </p:txBody>
      </p:sp>
      <p:sp>
        <p:nvSpPr>
          <p:cNvPr id="12" name="Shape 10"/>
          <p:cNvSpPr/>
          <p:nvPr/>
        </p:nvSpPr>
        <p:spPr>
          <a:xfrm>
            <a:off x="812800" y="4233267"/>
            <a:ext cx="10566400" cy="0"/>
          </a:xfrm>
          <a:prstGeom prst="line">
            <a:avLst/>
          </a:prstGeom>
          <a:noFill/>
          <a:ln w="6350">
            <a:solidFill>
              <a:srgbClr val="C9CED6"/>
            </a:solidFill>
            <a:prstDash val="solid"/>
          </a:ln>
        </p:spPr>
      </p:sp>
      <p:sp>
        <p:nvSpPr>
          <p:cNvPr id="13" name="Text 11"/>
          <p:cNvSpPr/>
          <p:nvPr/>
        </p:nvSpPr>
        <p:spPr>
          <a:xfrm>
            <a:off x="812800" y="4388842"/>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4</a:t>
            </a:r>
            <a:endParaRPr lang="en-US" sz="2200" dirty="0"/>
          </a:p>
        </p:txBody>
      </p:sp>
      <p:sp>
        <p:nvSpPr>
          <p:cNvPr id="14" name="Text 12"/>
          <p:cNvSpPr/>
          <p:nvPr/>
        </p:nvSpPr>
        <p:spPr>
          <a:xfrm>
            <a:off x="1574800" y="4447282"/>
            <a:ext cx="7243524"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Whose culture, place or likeness are we using — and who said yes?</a:t>
            </a:r>
            <a:endParaRPr lang="en-US" sz="1600" dirty="0"/>
          </a:p>
        </p:txBody>
      </p:sp>
      <p:sp>
        <p:nvSpPr>
          <p:cNvPr id="15" name="Shape 13"/>
          <p:cNvSpPr/>
          <p:nvPr/>
        </p:nvSpPr>
        <p:spPr>
          <a:xfrm>
            <a:off x="812800" y="4935538"/>
            <a:ext cx="10566400" cy="0"/>
          </a:xfrm>
          <a:prstGeom prst="line">
            <a:avLst/>
          </a:prstGeom>
          <a:noFill/>
          <a:ln w="6350">
            <a:solidFill>
              <a:srgbClr val="C9CED6"/>
            </a:solidFill>
            <a:prstDash val="solid"/>
          </a:ln>
        </p:spPr>
      </p:sp>
      <p:sp>
        <p:nvSpPr>
          <p:cNvPr id="16" name="Shape 14"/>
          <p:cNvSpPr/>
          <p:nvPr/>
        </p:nvSpPr>
        <p:spPr>
          <a:xfrm>
            <a:off x="812800" y="5637808"/>
            <a:ext cx="10566400" cy="0"/>
          </a:xfrm>
          <a:prstGeom prst="line">
            <a:avLst/>
          </a:prstGeom>
          <a:noFill/>
          <a:ln w="6350">
            <a:solidFill>
              <a:srgbClr val="C9CED6"/>
            </a:solidFill>
            <a:prstDash val="solid"/>
          </a:ln>
        </p:spPr>
      </p:sp>
      <p:sp>
        <p:nvSpPr>
          <p:cNvPr id="17" name="Text 15"/>
          <p:cNvSpPr/>
          <p:nvPr/>
        </p:nvSpPr>
        <p:spPr>
          <a:xfrm>
            <a:off x="812800" y="5091113"/>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5</a:t>
            </a:r>
            <a:endParaRPr lang="en-US" sz="2200" dirty="0"/>
          </a:p>
        </p:txBody>
      </p:sp>
      <p:sp>
        <p:nvSpPr>
          <p:cNvPr id="18" name="Text 16"/>
          <p:cNvSpPr/>
          <p:nvPr/>
        </p:nvSpPr>
        <p:spPr>
          <a:xfrm>
            <a:off x="1574800" y="5149552"/>
            <a:ext cx="6225778"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How do people choose how they appear — and stay safe?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 TRADES &amp; SAFETY</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Built in Manitoba, used on the job</a:t>
            </a:r>
            <a:endParaRPr lang="en-US" sz="3600" dirty="0"/>
          </a:p>
        </p:txBody>
      </p:sp>
      <p:pic>
        <p:nvPicPr>
          <p:cNvPr id="4" name="Image 0" descr="Rail yard with boxcars in CN Rail's Near Miss mixed-reality module">    </p:cNvPr>
          <p:cNvPicPr>
            <a:picLocks noChangeAspect="1"/>
          </p:cNvPicPr>
          <p:nvPr/>
        </p:nvPicPr>
        <p:blipFill>
          <a:blip r:embed="rId1"/>
          <a:srcRect l="0" r="0" t="6589" b="6589"/>
          <a:stretch/>
        </p:blipFill>
        <p:spPr>
          <a:xfrm>
            <a:off x="812800" y="1927721"/>
            <a:ext cx="5461000" cy="2667000"/>
          </a:xfrm>
          <a:custGeom>
            <a:avLst/>
            <a:gdLst/>
            <a:ahLst/>
            <a:cxnLst/>
            <a:rect l="l" t="t" r="r" b="b"/>
            <a:pathLst>
              <a:path w="5461000" h="2667000">
                <a:moveTo>
                  <a:pt x="101600" y="0"/>
                </a:moveTo>
                <a:lnTo>
                  <a:pt x="5359400" y="0"/>
                </a:lnTo>
                <a:arcTo wR="101600" hR="101600" stAng="16200000" swAng="5400000"/>
                <a:lnTo>
                  <a:pt x="5461000" y="2667000"/>
                </a:lnTo>
                <a:lnTo>
                  <a:pt x="0" y="2667000"/>
                </a:lnTo>
                <a:lnTo>
                  <a:pt x="0" y="101600"/>
                </a:lnTo>
                <a:arcTo wR="101600" hR="101600" stAng="10800000" swAng="5400000"/>
                <a:close/>
              </a:path>
            </a:pathLst>
          </a:custGeom>
        </p:spPr>
      </p:pic>
      <p:sp>
        <p:nvSpPr>
          <p:cNvPr id="5" name="Shape 2"/>
          <p:cNvSpPr/>
          <p:nvPr/>
        </p:nvSpPr>
        <p:spPr>
          <a:xfrm>
            <a:off x="812800" y="4594721"/>
            <a:ext cx="5461000" cy="1112341"/>
          </a:xfrm>
          <a:custGeom>
            <a:avLst/>
            <a:gdLst/>
            <a:ahLst/>
            <a:cxnLst/>
            <a:rect l="l" t="t" r="r" b="b"/>
            <a:pathLst>
              <a:path w="5461000" h="1112341">
                <a:moveTo>
                  <a:pt x="0" y="0"/>
                </a:moveTo>
                <a:lnTo>
                  <a:pt x="5461000" y="0"/>
                </a:lnTo>
                <a:lnTo>
                  <a:pt x="5461000" y="1010741"/>
                </a:lnTo>
                <a:arcTo hR="101600" wR="101600" stAng="0" swAng="5400000"/>
                <a:lnTo>
                  <a:pt x="101600" y="1112341"/>
                </a:lnTo>
                <a:arcTo hR="101600" wR="101600" stAng="5400000" swAng="5400000"/>
                <a:lnTo>
                  <a:pt x="0" y="0"/>
                </a:lnTo>
                <a:close/>
              </a:path>
            </a:pathLst>
          </a:custGeom>
          <a:solidFill>
            <a:srgbClr val="1B3D9E"/>
          </a:solidFill>
          <a:ln/>
        </p:spPr>
      </p:sp>
      <p:sp>
        <p:nvSpPr>
          <p:cNvPr id="6" name="Text 3"/>
          <p:cNvSpPr/>
          <p:nvPr/>
        </p:nvSpPr>
        <p:spPr>
          <a:xfrm>
            <a:off x="1016000" y="4772521"/>
            <a:ext cx="520623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CN Rail · Near Miss</a:t>
            </a:r>
            <a:endParaRPr lang="en-US" sz="1600" dirty="0"/>
          </a:p>
        </p:txBody>
      </p:sp>
      <p:sp>
        <p:nvSpPr>
          <p:cNvPr id="7" name="Text 4"/>
          <p:cNvSpPr/>
          <p:nvPr/>
        </p:nvSpPr>
        <p:spPr>
          <a:xfrm>
            <a:off x="1016000" y="5067102"/>
            <a:ext cx="520623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CFB"/>
                </a:solidFill>
                <a:latin typeface="IBM Plex Sans" pitchFamily="34" charset="0"/>
                <a:ea typeface="IBM Plex Sans" pitchFamily="34" charset="-122"/>
                <a:cs typeface="IBM Plex Sans" pitchFamily="34" charset="-120"/>
              </a:rPr>
              <a:t>Mixed reality: throw a real switch, Point and Call, gaze-validated safety checks</a:t>
            </a:r>
            <a:endParaRPr lang="en-US" sz="1300" dirty="0"/>
          </a:p>
        </p:txBody>
      </p:sp>
      <p:pic>
        <p:nvPicPr>
          <p:cNvPr id="8" name="Image 1" descr="Rail bridge for working-at-heights training">    </p:cNvPr>
          <p:cNvPicPr>
            <a:picLocks noChangeAspect="1"/>
          </p:cNvPicPr>
          <p:nvPr/>
        </p:nvPicPr>
        <p:blipFill>
          <a:blip r:embed="rId2"/>
          <a:srcRect l="1" r="1" t="0" b="0"/>
          <a:stretch/>
        </p:blipFill>
        <p:spPr>
          <a:xfrm>
            <a:off x="6426200" y="1927721"/>
            <a:ext cx="2257723" cy="1270000"/>
          </a:xfrm>
          <a:prstGeom prst="roundRect">
            <a:avLst>
              <a:gd name="adj" fmla="val 6000"/>
            </a:avLst>
          </a:prstGeom>
        </p:spPr>
      </p:pic>
      <p:sp>
        <p:nvSpPr>
          <p:cNvPr id="9" name="Text 5"/>
          <p:cNvSpPr/>
          <p:nvPr/>
        </p:nvSpPr>
        <p:spPr>
          <a:xfrm>
            <a:off x="6426200" y="3261221"/>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CN Rail · Working at Heights</a:t>
            </a:r>
            <a:endParaRPr lang="en-US" sz="1200" dirty="0"/>
          </a:p>
        </p:txBody>
      </p:sp>
      <p:pic>
        <p:nvPicPr>
          <p:cNvPr id="10" name="Image 2" descr="Confined space entry at a manhole">    </p:cNvPr>
          <p:cNvPicPr>
            <a:picLocks noChangeAspect="1"/>
          </p:cNvPicPr>
          <p:nvPr/>
        </p:nvPicPr>
        <p:blipFill>
          <a:blip r:embed="rId3"/>
          <a:srcRect l="0" r="0" t="0" b="0"/>
          <a:stretch/>
        </p:blipFill>
        <p:spPr>
          <a:xfrm>
            <a:off x="8966200" y="1927721"/>
            <a:ext cx="1270000" cy="1270000"/>
          </a:xfrm>
          <a:prstGeom prst="roundRect">
            <a:avLst>
              <a:gd name="adj" fmla="val 6000"/>
            </a:avLst>
          </a:prstGeom>
        </p:spPr>
      </p:pic>
      <p:sp>
        <p:nvSpPr>
          <p:cNvPr id="11" name="Text 6"/>
          <p:cNvSpPr/>
          <p:nvPr/>
        </p:nvSpPr>
        <p:spPr>
          <a:xfrm>
            <a:off x="8966200" y="3261221"/>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MadeSafe · Confined Space</a:t>
            </a:r>
            <a:endParaRPr lang="en-US" sz="1200" dirty="0"/>
          </a:p>
        </p:txBody>
      </p:sp>
      <p:pic>
        <p:nvPicPr>
          <p:cNvPr id="12" name="Image 3" descr="Chainsaw anatomy workshop in Chainsaw VR">    </p:cNvPr>
          <p:cNvPicPr>
            <a:picLocks noChangeAspect="1"/>
          </p:cNvPicPr>
          <p:nvPr/>
        </p:nvPicPr>
        <p:blipFill>
          <a:blip r:embed="rId4"/>
          <a:srcRect l="1" r="1" t="0" b="0"/>
          <a:stretch/>
        </p:blipFill>
        <p:spPr>
          <a:xfrm>
            <a:off x="6426200" y="3880842"/>
            <a:ext cx="2257723" cy="1270000"/>
          </a:xfrm>
          <a:prstGeom prst="roundRect">
            <a:avLst>
              <a:gd name="adj" fmla="val 6000"/>
            </a:avLst>
          </a:prstGeom>
        </p:spPr>
      </p:pic>
      <p:sp>
        <p:nvSpPr>
          <p:cNvPr id="13" name="Text 7"/>
          <p:cNvSpPr/>
          <p:nvPr/>
        </p:nvSpPr>
        <p:spPr>
          <a:xfrm>
            <a:off x="6426200" y="5214342"/>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MCSC + WCB · Chainsaw VR</a:t>
            </a:r>
            <a:endParaRPr lang="en-US" sz="1200" dirty="0"/>
          </a:p>
        </p:txBody>
      </p:sp>
      <p:pic>
        <p:nvPicPr>
          <p:cNvPr id="14" name="Image 4" descr="Cordless drill over a plywood board in Power Drill VR">    </p:cNvPr>
          <p:cNvPicPr>
            <a:picLocks noChangeAspect="1"/>
          </p:cNvPicPr>
          <p:nvPr/>
        </p:nvPicPr>
        <p:blipFill>
          <a:blip r:embed="rId5"/>
          <a:srcRect l="1" r="1" t="0" b="0"/>
          <a:stretch/>
        </p:blipFill>
        <p:spPr>
          <a:xfrm>
            <a:off x="8966200" y="3880842"/>
            <a:ext cx="2257723" cy="1270000"/>
          </a:xfrm>
          <a:prstGeom prst="roundRect">
            <a:avLst>
              <a:gd name="adj" fmla="val 6000"/>
            </a:avLst>
          </a:prstGeom>
        </p:spPr>
      </p:pic>
      <p:sp>
        <p:nvSpPr>
          <p:cNvPr id="15" name="Text 8"/>
          <p:cNvSpPr/>
          <p:nvPr/>
        </p:nvSpPr>
        <p:spPr>
          <a:xfrm>
            <a:off x="8966200" y="5214342"/>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MCSC · Power Drill VR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1832769"/>
            <a:ext cx="5101590"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CASE · CN RAIL</a:t>
            </a:r>
            <a:endParaRPr lang="en-US" sz="1300" dirty="0"/>
          </a:p>
        </p:txBody>
      </p:sp>
      <p:sp>
        <p:nvSpPr>
          <p:cNvPr id="3" name="Text 1"/>
          <p:cNvSpPr/>
          <p:nvPr>
            <p:ph type="title"/>
          </p:nvPr>
        </p:nvSpPr>
        <p:spPr>
          <a:xfrm>
            <a:off x="812800" y="2241649"/>
            <a:ext cx="5101590"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One world, many lessons</a:t>
            </a:r>
            <a:endParaRPr lang="en-US" sz="3600" dirty="0"/>
          </a:p>
        </p:txBody>
      </p:sp>
      <p:sp>
        <p:nvSpPr>
          <p:cNvPr id="4" name="Text 2"/>
          <p:cNvSpPr/>
          <p:nvPr/>
        </p:nvSpPr>
        <p:spPr>
          <a:xfrm>
            <a:off x="812800" y="3425130"/>
            <a:ext cx="5101590" cy="8787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The Grid</a:t>
            </a:r>
            <a:r>
              <a:rPr lang="en-US" sz="1600" dirty="0">
                <a:solidFill>
                  <a:srgbClr val="4A5260"/>
                </a:solidFill>
                <a:latin typeface="IBM Plex Sans" pitchFamily="34" charset="0"/>
                <a:ea typeface="IBM Plex Sans" pitchFamily="34" charset="-122"/>
                <a:cs typeface="IBM Plex Sans" pitchFamily="34" charset="-120"/>
              </a:rPr>
              <a:t> is a family of training modules — Working at Heights, Switches &amp; Routes, Near Miss, Slack Simulator — built on shared rail environments.</a:t>
            </a:r>
            <a:endParaRPr lang="en-US" sz="1600" dirty="0"/>
          </a:p>
        </p:txBody>
      </p:sp>
      <p:sp>
        <p:nvSpPr>
          <p:cNvPr id="5" name="Text 3"/>
          <p:cNvSpPr/>
          <p:nvPr/>
        </p:nvSpPr>
        <p:spPr>
          <a:xfrm>
            <a:off x="812800" y="4456311"/>
            <a:ext cx="510159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World-building lesson:</a:t>
            </a:r>
            <a:r>
              <a:rPr lang="en-US" sz="1600" dirty="0">
                <a:solidFill>
                  <a:srgbClr val="14181D"/>
                </a:solidFill>
                <a:latin typeface="IBM Plex Sans" pitchFamily="34" charset="0"/>
                <a:ea typeface="IBM Plex Sans" pitchFamily="34" charset="-122"/>
                <a:cs typeface="IBM Plex Sans" pitchFamily="34" charset="-120"/>
              </a:rPr>
              <a:t> build a modular kit once, then reuse it for every scenario.</a:t>
            </a:r>
            <a:endParaRPr lang="en-US" sz="1600" dirty="0"/>
          </a:p>
        </p:txBody>
      </p:sp>
      <p:pic>
        <p:nvPicPr>
          <p:cNvPr id="6" name="Image 0" descr="Rail bridge with a hi-rail vehicle in the Working at Heights module">    </p:cNvPr>
          <p:cNvPicPr>
            <a:picLocks noChangeAspect="1"/>
          </p:cNvPicPr>
          <p:nvPr/>
        </p:nvPicPr>
        <p:blipFill>
          <a:blip r:embed="rId1"/>
          <a:srcRect l="0" r="0" t="6640" b="6640"/>
          <a:stretch/>
        </p:blipFill>
        <p:spPr>
          <a:xfrm>
            <a:off x="6172200" y="825500"/>
            <a:ext cx="5207000" cy="2540000"/>
          </a:xfrm>
          <a:prstGeom prst="roundRect">
            <a:avLst>
              <a:gd name="adj" fmla="val 5000"/>
            </a:avLst>
          </a:prstGeom>
        </p:spPr>
      </p:pic>
      <p:pic>
        <p:nvPicPr>
          <p:cNvPr id="7" name="Image 1" descr="Manual rail switch and signage in the Switches and Routes module">    </p:cNvPr>
          <p:cNvPicPr>
            <a:picLocks noChangeAspect="1"/>
          </p:cNvPicPr>
          <p:nvPr/>
        </p:nvPicPr>
        <p:blipFill>
          <a:blip r:embed="rId2"/>
          <a:srcRect l="0" r="0" t="6640" b="6640"/>
          <a:stretch/>
        </p:blipFill>
        <p:spPr>
          <a:xfrm>
            <a:off x="6172200" y="3492500"/>
            <a:ext cx="5207000" cy="2540000"/>
          </a:xfrm>
          <a:prstGeom prst="roundRect">
            <a:avLst>
              <a:gd name="adj" fmla="val 5000"/>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4F6"/>
        </a:solidFill>
      </p:bgPr>
    </p:bg>
    <p:spTree>
      <p:nvGrpSpPr>
        <p:cNvPr id="1" name=""/>
        <p:cNvGrpSpPr/>
        <p:nvPr/>
      </p:nvGrpSpPr>
      <p:grpSpPr>
        <a:xfrm>
          <a:off x="0" y="0"/>
          <a:ext cx="0" cy="0"/>
          <a:chOff x="0" y="0"/>
          <a:chExt cx="0" cy="0"/>
        </a:xfrm>
      </p:grpSpPr>
      <p:pic>
        <p:nvPicPr>
          <p:cNvPr id="2" name="Image 0" descr="Virtual museum exhibit room with 3D-scanned bear and caribou artifacts">    </p:cNvPr>
          <p:cNvPicPr>
            <a:picLocks noChangeAspect="1"/>
          </p:cNvPicPr>
          <p:nvPr/>
        </p:nvPicPr>
        <p:blipFill>
          <a:blip r:embed="rId1"/>
          <a:srcRect l="16627" r="16627" t="0" b="0"/>
          <a:stretch/>
        </p:blipFill>
        <p:spPr>
          <a:xfrm>
            <a:off x="812800" y="1524000"/>
            <a:ext cx="5588000" cy="3810000"/>
          </a:xfrm>
          <a:prstGeom prst="roundRect">
            <a:avLst>
              <a:gd name="adj" fmla="val 3333"/>
            </a:avLst>
          </a:prstGeom>
        </p:spPr>
      </p:pic>
      <p:sp>
        <p:nvSpPr>
          <p:cNvPr id="3" name="Text 0"/>
          <p:cNvSpPr/>
          <p:nvPr/>
        </p:nvSpPr>
        <p:spPr>
          <a:xfrm>
            <a:off x="6807200" y="1832769"/>
            <a:ext cx="4709160"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CASE · CEDF</a:t>
            </a:r>
            <a:endParaRPr lang="en-US" sz="1300" dirty="0"/>
          </a:p>
        </p:txBody>
      </p:sp>
      <p:sp>
        <p:nvSpPr>
          <p:cNvPr id="4" name="Text 1"/>
          <p:cNvSpPr/>
          <p:nvPr>
            <p:ph type="title"/>
          </p:nvPr>
        </p:nvSpPr>
        <p:spPr>
          <a:xfrm>
            <a:off x="6807200" y="2241649"/>
            <a:ext cx="4709160"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Bringing northern museums to anyone</a:t>
            </a:r>
            <a:endParaRPr lang="en-US" sz="3600" dirty="0"/>
          </a:p>
        </p:txBody>
      </p:sp>
      <p:sp>
        <p:nvSpPr>
          <p:cNvPr id="5" name="Text 2"/>
          <p:cNvSpPr/>
          <p:nvPr/>
        </p:nvSpPr>
        <p:spPr>
          <a:xfrm>
            <a:off x="6807200" y="3425130"/>
            <a:ext cx="470916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A VR museum of northern Manitoba history, with 3D-scanned artifacts placed in custom exhibit worlds.</a:t>
            </a:r>
            <a:endParaRPr lang="en-US" sz="1600" dirty="0"/>
          </a:p>
        </p:txBody>
      </p:sp>
      <p:sp>
        <p:nvSpPr>
          <p:cNvPr id="6" name="Text 3"/>
          <p:cNvSpPr/>
          <p:nvPr/>
        </p:nvSpPr>
        <p:spPr>
          <a:xfrm>
            <a:off x="6807200" y="4456311"/>
            <a:ext cx="470916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Lesson:</a:t>
            </a:r>
            <a:r>
              <a:rPr lang="en-US" sz="1600" dirty="0">
                <a:solidFill>
                  <a:srgbClr val="14181D"/>
                </a:solidFill>
                <a:latin typeface="IBM Plex Sans" pitchFamily="34" charset="0"/>
                <a:ea typeface="IBM Plex Sans" pitchFamily="34" charset="-122"/>
                <a:cs typeface="IBM Plex Sans" pitchFamily="34" charset="-120"/>
              </a:rPr>
              <a:t> capture the real thing, then design the space around it.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0131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Worlds for gathering and belonging</a:t>
            </a:r>
            <a:endParaRPr lang="en-US" sz="3600" dirty="0"/>
          </a:p>
        </p:txBody>
      </p:sp>
      <p:pic>
        <p:nvPicPr>
          <p:cNvPr id="3" name="Image 0" descr="Virtual amphitheater with red seats, a stage and a timeline wall">    </p:cNvPr>
          <p:cNvPicPr>
            <a:picLocks noChangeAspect="1"/>
          </p:cNvPicPr>
          <p:nvPr/>
        </p:nvPicPr>
        <p:blipFill>
          <a:blip r:embed="rId1"/>
          <a:srcRect l="1" r="1" t="0" b="0"/>
          <a:stretch/>
        </p:blipFill>
        <p:spPr>
          <a:xfrm>
            <a:off x="812800" y="1569641"/>
            <a:ext cx="4342110" cy="2413000"/>
          </a:xfrm>
          <a:prstGeom prst="roundRect">
            <a:avLst>
              <a:gd name="adj" fmla="val 5263"/>
            </a:avLst>
          </a:prstGeom>
        </p:spPr>
      </p:pic>
      <p:sp>
        <p:nvSpPr>
          <p:cNvPr id="4" name="Text 1"/>
          <p:cNvSpPr/>
          <p:nvPr/>
        </p:nvSpPr>
        <p:spPr>
          <a:xfrm>
            <a:off x="812800" y="4109641"/>
            <a:ext cx="533704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VWS Amphitheater</a:t>
            </a:r>
            <a:endParaRPr lang="en-US" sz="2200" dirty="0"/>
          </a:p>
        </p:txBody>
      </p:sp>
      <p:sp>
        <p:nvSpPr>
          <p:cNvPr id="5" name="Text 2"/>
          <p:cNvSpPr/>
          <p:nvPr/>
        </p:nvSpPr>
        <p:spPr>
          <a:xfrm>
            <a:off x="812800" y="4571901"/>
            <a:ext cx="533704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For the Virtual World Society on ENGAGE: a stage, breakout tables and a wall that tells the society's history.</a:t>
            </a:r>
            <a:endParaRPr lang="en-US" sz="1600" dirty="0"/>
          </a:p>
        </p:txBody>
      </p:sp>
      <p:pic>
        <p:nvPicPr>
          <p:cNvPr id="6" name="Image 1" descr="Native Hawaiian birds in a virtual forest">    </p:cNvPr>
          <p:cNvPicPr>
            <a:picLocks noChangeAspect="1"/>
          </p:cNvPicPr>
          <p:nvPr/>
        </p:nvPicPr>
        <p:blipFill>
          <a:blip r:embed="rId2"/>
          <a:srcRect l="1" r="1" t="0" b="0"/>
          <a:stretch/>
        </p:blipFill>
        <p:spPr>
          <a:xfrm>
            <a:off x="6197600" y="1569641"/>
            <a:ext cx="4153198" cy="2413000"/>
          </a:xfrm>
          <a:prstGeom prst="roundRect">
            <a:avLst>
              <a:gd name="adj" fmla="val 5263"/>
            </a:avLst>
          </a:prstGeom>
        </p:spPr>
      </p:pic>
      <p:sp>
        <p:nvSpPr>
          <p:cNvPr id="7" name="Text 3"/>
          <p:cNvSpPr/>
          <p:nvPr/>
        </p:nvSpPr>
        <p:spPr>
          <a:xfrm>
            <a:off x="6197600" y="4109641"/>
            <a:ext cx="533704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Hawaiian Cultural Worlds</a:t>
            </a:r>
            <a:endParaRPr lang="en-US" sz="2200" dirty="0"/>
          </a:p>
        </p:txBody>
      </p:sp>
      <p:sp>
        <p:nvSpPr>
          <p:cNvPr id="8" name="Text 4"/>
          <p:cNvSpPr/>
          <p:nvPr/>
        </p:nvSpPr>
        <p:spPr>
          <a:xfrm>
            <a:off x="6197600" y="4571901"/>
            <a:ext cx="533704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Native flora and fauna, labelled in Hawaiian and English — a living encyclopedia to explore.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 WHAT WE'VE LEARNED</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What good immersive worlds get right</a:t>
            </a:r>
            <a:endParaRPr lang="en-US" sz="3600" dirty="0"/>
          </a:p>
        </p:txBody>
      </p:sp>
      <p:sp>
        <p:nvSpPr>
          <p:cNvPr id="4" name="Shape 2"/>
          <p:cNvSpPr/>
          <p:nvPr/>
        </p:nvSpPr>
        <p:spPr>
          <a:xfrm>
            <a:off x="812800" y="1981696"/>
            <a:ext cx="10566400" cy="0"/>
          </a:xfrm>
          <a:prstGeom prst="line">
            <a:avLst/>
          </a:prstGeom>
          <a:noFill/>
          <a:ln w="6350">
            <a:solidFill>
              <a:srgbClr val="C9CED6"/>
            </a:solidFill>
            <a:prstDash val="solid"/>
          </a:ln>
        </p:spPr>
      </p:sp>
      <p:sp>
        <p:nvSpPr>
          <p:cNvPr id="5" name="Text 3"/>
          <p:cNvSpPr/>
          <p:nvPr/>
        </p:nvSpPr>
        <p:spPr>
          <a:xfrm>
            <a:off x="812800" y="2124571"/>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01</a:t>
            </a:r>
            <a:endParaRPr lang="en-US" sz="2200" dirty="0"/>
          </a:p>
        </p:txBody>
      </p:sp>
      <p:sp>
        <p:nvSpPr>
          <p:cNvPr id="6" name="Text 4"/>
          <p:cNvSpPr/>
          <p:nvPr/>
        </p:nvSpPr>
        <p:spPr>
          <a:xfrm>
            <a:off x="1574800" y="2183011"/>
            <a:ext cx="7322582"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Start from a real problem, incident or near miss, not the technology</a:t>
            </a:r>
            <a:endParaRPr lang="en-US" sz="1600" dirty="0"/>
          </a:p>
        </p:txBody>
      </p:sp>
      <p:sp>
        <p:nvSpPr>
          <p:cNvPr id="7" name="Shape 5"/>
          <p:cNvSpPr/>
          <p:nvPr/>
        </p:nvSpPr>
        <p:spPr>
          <a:xfrm>
            <a:off x="812800" y="2658566"/>
            <a:ext cx="10566400" cy="0"/>
          </a:xfrm>
          <a:prstGeom prst="line">
            <a:avLst/>
          </a:prstGeom>
          <a:noFill/>
          <a:ln w="6350">
            <a:solidFill>
              <a:srgbClr val="C9CED6"/>
            </a:solidFill>
            <a:prstDash val="solid"/>
          </a:ln>
        </p:spPr>
      </p:sp>
      <p:sp>
        <p:nvSpPr>
          <p:cNvPr id="8" name="Text 6"/>
          <p:cNvSpPr/>
          <p:nvPr/>
        </p:nvSpPr>
        <p:spPr>
          <a:xfrm>
            <a:off x="812800" y="2801441"/>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02</a:t>
            </a:r>
            <a:endParaRPr lang="en-US" sz="2200" dirty="0"/>
          </a:p>
        </p:txBody>
      </p:sp>
      <p:sp>
        <p:nvSpPr>
          <p:cNvPr id="9" name="Text 7"/>
          <p:cNvSpPr/>
          <p:nvPr/>
        </p:nvSpPr>
        <p:spPr>
          <a:xfrm>
            <a:off x="1574800" y="2859881"/>
            <a:ext cx="3687604"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Build it with the people who live it</a:t>
            </a:r>
            <a:endParaRPr lang="en-US" sz="1600" dirty="0"/>
          </a:p>
        </p:txBody>
      </p:sp>
      <p:sp>
        <p:nvSpPr>
          <p:cNvPr id="10" name="Shape 8"/>
          <p:cNvSpPr/>
          <p:nvPr/>
        </p:nvSpPr>
        <p:spPr>
          <a:xfrm>
            <a:off x="812800" y="3335437"/>
            <a:ext cx="10566400" cy="0"/>
          </a:xfrm>
          <a:prstGeom prst="line">
            <a:avLst/>
          </a:prstGeom>
          <a:noFill/>
          <a:ln w="6350">
            <a:solidFill>
              <a:srgbClr val="C9CED6"/>
            </a:solidFill>
            <a:prstDash val="solid"/>
          </a:ln>
        </p:spPr>
      </p:sp>
      <p:sp>
        <p:nvSpPr>
          <p:cNvPr id="11" name="Text 9"/>
          <p:cNvSpPr/>
          <p:nvPr/>
        </p:nvSpPr>
        <p:spPr>
          <a:xfrm>
            <a:off x="812800" y="3478312"/>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03</a:t>
            </a:r>
            <a:endParaRPr lang="en-US" sz="2200" dirty="0"/>
          </a:p>
        </p:txBody>
      </p:sp>
      <p:sp>
        <p:nvSpPr>
          <p:cNvPr id="12" name="Text 10"/>
          <p:cNvSpPr/>
          <p:nvPr/>
        </p:nvSpPr>
        <p:spPr>
          <a:xfrm>
            <a:off x="1574800" y="3536752"/>
            <a:ext cx="5658326"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Measure what people did, not just that they finished</a:t>
            </a:r>
            <a:endParaRPr lang="en-US" sz="1600" dirty="0"/>
          </a:p>
        </p:txBody>
      </p:sp>
      <p:sp>
        <p:nvSpPr>
          <p:cNvPr id="13" name="Shape 11"/>
          <p:cNvSpPr/>
          <p:nvPr/>
        </p:nvSpPr>
        <p:spPr>
          <a:xfrm>
            <a:off x="812800" y="4012307"/>
            <a:ext cx="10566400" cy="0"/>
          </a:xfrm>
          <a:prstGeom prst="line">
            <a:avLst/>
          </a:prstGeom>
          <a:noFill/>
          <a:ln w="6350">
            <a:solidFill>
              <a:srgbClr val="C9CED6"/>
            </a:solidFill>
            <a:prstDash val="solid"/>
          </a:ln>
        </p:spPr>
      </p:sp>
      <p:sp>
        <p:nvSpPr>
          <p:cNvPr id="14" name="Text 12"/>
          <p:cNvSpPr/>
          <p:nvPr/>
        </p:nvSpPr>
        <p:spPr>
          <a:xfrm>
            <a:off x="812800" y="4155182"/>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04</a:t>
            </a:r>
            <a:endParaRPr lang="en-US" sz="2200" dirty="0"/>
          </a:p>
        </p:txBody>
      </p:sp>
      <p:sp>
        <p:nvSpPr>
          <p:cNvPr id="15" name="Text 13"/>
          <p:cNvSpPr/>
          <p:nvPr/>
        </p:nvSpPr>
        <p:spPr>
          <a:xfrm>
            <a:off x="1574800" y="4213622"/>
            <a:ext cx="3310890"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Keep it short enough to repeat</a:t>
            </a:r>
            <a:endParaRPr lang="en-US" sz="1600" dirty="0"/>
          </a:p>
        </p:txBody>
      </p:sp>
      <p:sp>
        <p:nvSpPr>
          <p:cNvPr id="16" name="Shape 14"/>
          <p:cNvSpPr/>
          <p:nvPr/>
        </p:nvSpPr>
        <p:spPr>
          <a:xfrm>
            <a:off x="812800" y="4689177"/>
            <a:ext cx="10566400" cy="0"/>
          </a:xfrm>
          <a:prstGeom prst="line">
            <a:avLst/>
          </a:prstGeom>
          <a:noFill/>
          <a:ln w="6350">
            <a:solidFill>
              <a:srgbClr val="C9CED6"/>
            </a:solidFill>
            <a:prstDash val="solid"/>
          </a:ln>
        </p:spPr>
      </p:sp>
      <p:sp>
        <p:nvSpPr>
          <p:cNvPr id="17" name="Shape 15"/>
          <p:cNvSpPr/>
          <p:nvPr/>
        </p:nvSpPr>
        <p:spPr>
          <a:xfrm>
            <a:off x="812800" y="5366048"/>
            <a:ext cx="10566400" cy="0"/>
          </a:xfrm>
          <a:prstGeom prst="line">
            <a:avLst/>
          </a:prstGeom>
          <a:noFill/>
          <a:ln w="6350">
            <a:solidFill>
              <a:srgbClr val="C9CED6"/>
            </a:solidFill>
            <a:prstDash val="solid"/>
          </a:ln>
        </p:spPr>
      </p:sp>
      <p:sp>
        <p:nvSpPr>
          <p:cNvPr id="18" name="Text 16"/>
          <p:cNvSpPr/>
          <p:nvPr/>
        </p:nvSpPr>
        <p:spPr>
          <a:xfrm>
            <a:off x="812800" y="4832052"/>
            <a:ext cx="5588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A64C8"/>
                </a:solidFill>
                <a:latin typeface="Space Grotesk" pitchFamily="34" charset="0"/>
                <a:ea typeface="Space Grotesk" pitchFamily="34" charset="-122"/>
                <a:cs typeface="Space Grotesk" pitchFamily="34" charset="-120"/>
              </a:rPr>
              <a:t>05</a:t>
            </a:r>
            <a:endParaRPr lang="en-US" sz="2200" dirty="0"/>
          </a:p>
        </p:txBody>
      </p:sp>
      <p:sp>
        <p:nvSpPr>
          <p:cNvPr id="19" name="Text 17"/>
          <p:cNvSpPr/>
          <p:nvPr/>
        </p:nvSpPr>
        <p:spPr>
          <a:xfrm>
            <a:off x="1574800" y="4890492"/>
            <a:ext cx="3690104"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181D"/>
                </a:solidFill>
                <a:latin typeface="IBM Plex Sans" pitchFamily="34" charset="0"/>
                <a:ea typeface="IBM Plex Sans" pitchFamily="34" charset="-122"/>
                <a:cs typeface="IBM Plex Sans" pitchFamily="34" charset="-120"/>
              </a:rPr>
              <a:t>Run it where people live and work</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A64C8"/>
        </a:solidFill>
      </p:bgPr>
    </p:bg>
    <p:spTree>
      <p:nvGrpSpPr>
        <p:cNvPr id="1" name=""/>
        <p:cNvGrpSpPr/>
        <p:nvPr/>
      </p:nvGrpSpPr>
      <p:grpSpPr>
        <a:xfrm>
          <a:off x="0" y="0"/>
          <a:ext cx="0" cy="0"/>
          <a:chOff x="0" y="0"/>
          <a:chExt cx="0" cy="0"/>
        </a:xfrm>
      </p:grpSpPr>
      <p:sp>
        <p:nvSpPr>
          <p:cNvPr id="2" name="Text 0"/>
          <p:cNvSpPr/>
          <p:nvPr/>
        </p:nvSpPr>
        <p:spPr>
          <a:xfrm>
            <a:off x="812800" y="146694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E3ECFB"/>
                </a:solidFill>
                <a:latin typeface="JetBrains Mono" pitchFamily="49" charset="0"/>
                <a:ea typeface="JetBrains Mono" pitchFamily="49" charset="-122"/>
                <a:cs typeface="JetBrains Mono" pitchFamily="49" charset="-120"/>
              </a:rPr>
              <a:t>PART 2 · THE WORLD SEED DEMO</a:t>
            </a:r>
            <a:endParaRPr lang="en-US" sz="1300" dirty="0"/>
          </a:p>
        </p:txBody>
      </p:sp>
      <p:sp>
        <p:nvSpPr>
          <p:cNvPr id="3" name="Text 1"/>
          <p:cNvSpPr/>
          <p:nvPr>
            <p:ph type="title"/>
          </p:nvPr>
        </p:nvSpPr>
        <p:spPr>
          <a:xfrm>
            <a:off x="812800" y="18504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4F6"/>
                </a:solidFill>
                <a:latin typeface="Space Grotesk" pitchFamily="34" charset="0"/>
                <a:ea typeface="Space Grotesk" pitchFamily="34" charset="-122"/>
                <a:cs typeface="Space Grotesk" pitchFamily="34" charset="-120"/>
              </a:rPr>
              <a:t>Two ways into a world.</a:t>
            </a:r>
            <a:endParaRPr lang="en-US" sz="6000" dirty="0"/>
          </a:p>
        </p:txBody>
      </p:sp>
      <p:sp>
        <p:nvSpPr>
          <p:cNvPr id="4" name="Shape 2"/>
          <p:cNvSpPr/>
          <p:nvPr/>
        </p:nvSpPr>
        <p:spPr>
          <a:xfrm>
            <a:off x="812800" y="2955330"/>
            <a:ext cx="5207000" cy="1846461"/>
          </a:xfrm>
          <a:prstGeom prst="roundRect">
            <a:avLst>
              <a:gd name="adj" fmla="val 6878"/>
            </a:avLst>
          </a:prstGeom>
          <a:solidFill>
            <a:srgbClr val="1B3D9E"/>
          </a:solidFill>
          <a:ln/>
        </p:spPr>
      </p:sp>
      <p:sp>
        <p:nvSpPr>
          <p:cNvPr id="5" name="Text 3"/>
          <p:cNvSpPr/>
          <p:nvPr/>
        </p:nvSpPr>
        <p:spPr>
          <a:xfrm>
            <a:off x="1066800" y="3209330"/>
            <a:ext cx="483997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CFB"/>
                </a:solidFill>
                <a:latin typeface="JetBrains Mono" pitchFamily="49" charset="0"/>
                <a:ea typeface="JetBrains Mono" pitchFamily="49" charset="-122"/>
                <a:cs typeface="JetBrains Mono" pitchFamily="49" charset="-120"/>
              </a:rPr>
              <a:t>01 · LEARN</a:t>
            </a:r>
            <a:endParaRPr lang="en-US" sz="1300" dirty="0"/>
          </a:p>
        </p:txBody>
      </p:sp>
      <p:sp>
        <p:nvSpPr>
          <p:cNvPr id="6" name="Text 4"/>
          <p:cNvSpPr/>
          <p:nvPr/>
        </p:nvSpPr>
        <p:spPr>
          <a:xfrm>
            <a:off x="1066800" y="3542010"/>
            <a:ext cx="483997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Developing for WebXR</a:t>
            </a:r>
            <a:endParaRPr lang="en-US" sz="2200" dirty="0"/>
          </a:p>
        </p:txBody>
      </p:sp>
      <p:sp>
        <p:nvSpPr>
          <p:cNvPr id="7" name="Text 5"/>
          <p:cNvSpPr/>
          <p:nvPr/>
        </p:nvSpPr>
        <p:spPr>
          <a:xfrm>
            <a:off x="1066800" y="3978870"/>
            <a:ext cx="483997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ECFB"/>
                </a:solidFill>
                <a:latin typeface="IBM Plex Sans" pitchFamily="34" charset="0"/>
                <a:ea typeface="IBM Plex Sans" pitchFamily="34" charset="-122"/>
                <a:cs typeface="IBM Plex Sans" pitchFamily="34" charset="-120"/>
              </a:rPr>
              <a:t>How a world gets built for the browser and the headset</a:t>
            </a:r>
            <a:endParaRPr lang="en-US" sz="1600" dirty="0"/>
          </a:p>
        </p:txBody>
      </p:sp>
      <p:sp>
        <p:nvSpPr>
          <p:cNvPr id="8" name="Shape 6"/>
          <p:cNvSpPr/>
          <p:nvPr/>
        </p:nvSpPr>
        <p:spPr>
          <a:xfrm>
            <a:off x="6172200" y="2955330"/>
            <a:ext cx="5207000" cy="1846461"/>
          </a:xfrm>
          <a:prstGeom prst="roundRect">
            <a:avLst>
              <a:gd name="adj" fmla="val 6878"/>
            </a:avLst>
          </a:prstGeom>
          <a:solidFill>
            <a:srgbClr val="1B3D9E"/>
          </a:solidFill>
          <a:ln/>
        </p:spPr>
      </p:sp>
      <p:sp>
        <p:nvSpPr>
          <p:cNvPr id="9" name="Text 7"/>
          <p:cNvSpPr/>
          <p:nvPr/>
        </p:nvSpPr>
        <p:spPr>
          <a:xfrm>
            <a:off x="6426200" y="3209330"/>
            <a:ext cx="483997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CFB"/>
                </a:solidFill>
                <a:latin typeface="JetBrains Mono" pitchFamily="49" charset="0"/>
                <a:ea typeface="JetBrains Mono" pitchFamily="49" charset="-122"/>
                <a:cs typeface="JetBrains Mono" pitchFamily="49" charset="-120"/>
              </a:rPr>
              <a:t>02 · CREATE</a:t>
            </a:r>
            <a:endParaRPr lang="en-US" sz="1300" dirty="0"/>
          </a:p>
        </p:txBody>
      </p:sp>
      <p:sp>
        <p:nvSpPr>
          <p:cNvPr id="10" name="Text 8"/>
          <p:cNvSpPr/>
          <p:nvPr/>
        </p:nvSpPr>
        <p:spPr>
          <a:xfrm>
            <a:off x="6426200" y="3542010"/>
            <a:ext cx="483997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Build your own world</a:t>
            </a:r>
            <a:endParaRPr lang="en-US" sz="2200" dirty="0"/>
          </a:p>
        </p:txBody>
      </p:sp>
      <p:sp>
        <p:nvSpPr>
          <p:cNvPr id="11" name="Text 9"/>
          <p:cNvSpPr/>
          <p:nvPr/>
        </p:nvSpPr>
        <p:spPr>
          <a:xfrm>
            <a:off x="6426200" y="3978870"/>
            <a:ext cx="483997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ECFB"/>
                </a:solidFill>
                <a:latin typeface="IBM Plex Sans" pitchFamily="34" charset="0"/>
                <a:ea typeface="IBM Plex Sans" pitchFamily="34" charset="-122"/>
                <a:cs typeface="IBM Plex Sans" pitchFamily="34" charset="-120"/>
              </a:rPr>
              <a:t>Design it and view it in the browser. No code.</a:t>
            </a:r>
            <a:endParaRPr lang="en-US" sz="1600" dirty="0"/>
          </a:p>
        </p:txBody>
      </p:sp>
      <p:sp>
        <p:nvSpPr>
          <p:cNvPr id="12" name="Text 10"/>
          <p:cNvSpPr/>
          <p:nvPr/>
        </p:nvSpPr>
        <p:spPr>
          <a:xfrm>
            <a:off x="812800" y="510659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4F6"/>
                </a:solidFill>
                <a:latin typeface="IBM Plex Sans" pitchFamily="34" charset="0"/>
                <a:ea typeface="IBM Plex Sans" pitchFamily="34" charset="-122"/>
                <a:cs typeface="IBM Plex Sans" pitchFamily="34" charset="-120"/>
              </a:rPr>
              <a:t>Plus an optional challenge: take the repo, extend the tool, build something bigger.</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Ten questions every world must answer</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1541"/>
          <a:ext cx="10553700" cy="3951982"/>
        </p:xfrm>
        <a:graphic>
          <a:graphicData uri="http://schemas.openxmlformats.org/drawingml/2006/table">
            <a:tbl>
              <a:tblPr/>
              <a:tblGrid>
                <a:gridCol w="3166110"/>
                <a:gridCol w="7387590"/>
              </a:tblGrid>
              <a:tr h="359271">
                <a:tc>
                  <a:txBody>
                    <a:bodyPr/>
                    <a:lstStyle/>
                    <a:p>
                      <a:pPr indent="0" marL="0">
                        <a:lnSpc>
                          <a:spcPts val="1820"/>
                        </a:lnSpc>
                        <a:buNone/>
                      </a:pPr>
                      <a:r>
                        <a:rPr lang="en-US" sz="1300" b="1" dirty="0">
                          <a:solidFill>
                            <a:srgbClr val="14181D"/>
                          </a:solidFill>
                          <a:latin typeface="IBM Plex Sans" pitchFamily="34" charset="0"/>
                          <a:ea typeface="IBM Plex Sans" pitchFamily="34" charset="-122"/>
                          <a:cs typeface="IBM Plex Sans" pitchFamily="34" charset="-120"/>
                        </a:rPr>
                        <a:t>Consideration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1820"/>
                        </a:lnSpc>
                        <a:buNone/>
                      </a:pPr>
                      <a:r>
                        <a:rPr lang="en-US" sz="1300" b="1" dirty="0">
                          <a:solidFill>
                            <a:srgbClr val="14181D"/>
                          </a:solidFill>
                          <a:latin typeface="IBM Plex Sans" pitchFamily="34" charset="0"/>
                          <a:ea typeface="IBM Plex Sans" pitchFamily="34" charset="-122"/>
                          <a:cs typeface="IBM Plex Sans" pitchFamily="34" charset="-120"/>
                        </a:rPr>
                        <a:t>The question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Purpose &amp; audience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Why does it exist, and who is it for?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Platform &amp; constraints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Browser, phone, headset? What does that cost 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Experience &amp; verbs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What does a visitor do in the first 60 seconds?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Space &amp; wayfinding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How is it laid out, and how do people find their way?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Story &amp; lore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What happened here before you arrived?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Rules &amp; systems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What's true here — time, weather, physics, economy?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Look, sound &amp; mood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Three mood words, five colours, one sound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Comfort &amp; access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Motion comfort, seated play, captions, contrast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Culture &amp; ethics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Whose places, symbols and stories? Who said 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Scope &amp; feasibility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What can we build with our time, skills and budget?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2096889"/>
            <a:ext cx="3662680"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SCOPE</a:t>
            </a:r>
            <a:endParaRPr lang="en-US" sz="1300" dirty="0"/>
          </a:p>
        </p:txBody>
      </p:sp>
      <p:sp>
        <p:nvSpPr>
          <p:cNvPr id="3" name="Text 1"/>
          <p:cNvSpPr/>
          <p:nvPr>
            <p:ph type="title"/>
          </p:nvPr>
        </p:nvSpPr>
        <p:spPr>
          <a:xfrm>
            <a:off x="812800" y="2505770"/>
            <a:ext cx="3662680" cy="153392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A world is scoped in layers</a:t>
            </a:r>
            <a:endParaRPr lang="en-US" sz="3600" dirty="0"/>
          </a:p>
        </p:txBody>
      </p:sp>
      <p:sp>
        <p:nvSpPr>
          <p:cNvPr id="4" name="Text 2"/>
          <p:cNvSpPr/>
          <p:nvPr/>
        </p:nvSpPr>
        <p:spPr>
          <a:xfrm>
            <a:off x="812800" y="4192091"/>
            <a:ext cx="36626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Each layer is only as detailed as the build needs.</a:t>
            </a:r>
            <a:endParaRPr lang="en-US" sz="1600" dirty="0"/>
          </a:p>
        </p:txBody>
      </p:sp>
      <p:sp>
        <p:nvSpPr>
          <p:cNvPr id="5" name="Shape 3"/>
          <p:cNvSpPr/>
          <p:nvPr/>
        </p:nvSpPr>
        <p:spPr>
          <a:xfrm>
            <a:off x="4826000" y="1591370"/>
            <a:ext cx="6553200" cy="538460"/>
          </a:xfrm>
          <a:prstGeom prst="roundRect">
            <a:avLst>
              <a:gd name="adj" fmla="val 14151"/>
            </a:avLst>
          </a:prstGeom>
          <a:solidFill>
            <a:srgbClr val="2A64C8"/>
          </a:solidFill>
          <a:ln/>
        </p:spPr>
      </p:sp>
      <p:sp>
        <p:nvSpPr>
          <p:cNvPr id="6" name="Text 4"/>
          <p:cNvSpPr/>
          <p:nvPr/>
        </p:nvSpPr>
        <p:spPr>
          <a:xfrm>
            <a:off x="5029200" y="1718370"/>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4F6"/>
                </a:solidFill>
                <a:latin typeface="IBM Plex Sans" pitchFamily="34" charset="0"/>
                <a:ea typeface="IBM Plex Sans" pitchFamily="34" charset="-122"/>
                <a:cs typeface="IBM Plex Sans" pitchFamily="34" charset="-120"/>
              </a:rPr>
              <a:t>1 · World Brief</a:t>
            </a:r>
            <a:endParaRPr lang="en-US" sz="1600" dirty="0"/>
          </a:p>
        </p:txBody>
      </p:sp>
      <p:sp>
        <p:nvSpPr>
          <p:cNvPr id="7" name="Text 5"/>
          <p:cNvSpPr/>
          <p:nvPr/>
        </p:nvSpPr>
        <p:spPr>
          <a:xfrm>
            <a:off x="7594600" y="1745059"/>
            <a:ext cx="34010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CFB"/>
                </a:solidFill>
                <a:latin typeface="IBM Plex Sans" pitchFamily="34" charset="0"/>
                <a:ea typeface="IBM Plex Sans" pitchFamily="34" charset="-122"/>
                <a:cs typeface="IBM Plex Sans" pitchFamily="34" charset="-120"/>
              </a:rPr>
              <a:t>One page: purpose, pillars, experience</a:t>
            </a:r>
            <a:endParaRPr lang="en-US" sz="1300" dirty="0"/>
          </a:p>
        </p:txBody>
      </p:sp>
      <p:sp>
        <p:nvSpPr>
          <p:cNvPr id="8" name="Shape 6"/>
          <p:cNvSpPr/>
          <p:nvPr/>
        </p:nvSpPr>
        <p:spPr>
          <a:xfrm>
            <a:off x="4829175" y="2209205"/>
            <a:ext cx="6546850" cy="544810"/>
          </a:xfrm>
          <a:prstGeom prst="roundRect">
            <a:avLst>
              <a:gd name="adj" fmla="val 13404"/>
            </a:avLst>
          </a:prstGeom>
          <a:solidFill>
            <a:srgbClr val="FBFBFC"/>
          </a:solidFill>
          <a:ln w="6350">
            <a:solidFill>
              <a:srgbClr val="DDE1E6"/>
            </a:solidFill>
            <a:prstDash val="solid"/>
          </a:ln>
        </p:spPr>
      </p:sp>
      <p:sp>
        <p:nvSpPr>
          <p:cNvPr id="9" name="Text 7"/>
          <p:cNvSpPr/>
          <p:nvPr/>
        </p:nvSpPr>
        <p:spPr>
          <a:xfrm>
            <a:off x="5035550" y="2339380"/>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2 · World Bible</a:t>
            </a:r>
            <a:endParaRPr lang="en-US" sz="1600" dirty="0"/>
          </a:p>
        </p:txBody>
      </p:sp>
      <p:sp>
        <p:nvSpPr>
          <p:cNvPr id="10" name="Text 8"/>
          <p:cNvSpPr/>
          <p:nvPr/>
        </p:nvSpPr>
        <p:spPr>
          <a:xfrm>
            <a:off x="7600950" y="2366070"/>
            <a:ext cx="21851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Lore, rules, tone, naming</a:t>
            </a:r>
            <a:endParaRPr lang="en-US" sz="1300" dirty="0"/>
          </a:p>
        </p:txBody>
      </p:sp>
      <p:sp>
        <p:nvSpPr>
          <p:cNvPr id="11" name="Shape 9"/>
          <p:cNvSpPr/>
          <p:nvPr/>
        </p:nvSpPr>
        <p:spPr>
          <a:xfrm>
            <a:off x="4829175" y="2836565"/>
            <a:ext cx="6546850" cy="544810"/>
          </a:xfrm>
          <a:prstGeom prst="roundRect">
            <a:avLst>
              <a:gd name="adj" fmla="val 13404"/>
            </a:avLst>
          </a:prstGeom>
          <a:solidFill>
            <a:srgbClr val="FBFBFC"/>
          </a:solidFill>
          <a:ln w="6350">
            <a:solidFill>
              <a:srgbClr val="DDE1E6"/>
            </a:solidFill>
            <a:prstDash val="solid"/>
          </a:ln>
        </p:spPr>
      </p:sp>
      <p:sp>
        <p:nvSpPr>
          <p:cNvPr id="12" name="Text 10"/>
          <p:cNvSpPr/>
          <p:nvPr/>
        </p:nvSpPr>
        <p:spPr>
          <a:xfrm>
            <a:off x="5035550" y="2966740"/>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3 · Spatial Plan</a:t>
            </a:r>
            <a:endParaRPr lang="en-US" sz="1600" dirty="0"/>
          </a:p>
        </p:txBody>
      </p:sp>
      <p:sp>
        <p:nvSpPr>
          <p:cNvPr id="13" name="Text 11"/>
          <p:cNvSpPr/>
          <p:nvPr/>
        </p:nvSpPr>
        <p:spPr>
          <a:xfrm>
            <a:off x="7600950" y="2993430"/>
            <a:ext cx="310384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Map, zones, paths, landmark, scale</a:t>
            </a:r>
            <a:endParaRPr lang="en-US" sz="1300" dirty="0"/>
          </a:p>
        </p:txBody>
      </p:sp>
      <p:sp>
        <p:nvSpPr>
          <p:cNvPr id="14" name="Shape 12"/>
          <p:cNvSpPr/>
          <p:nvPr/>
        </p:nvSpPr>
        <p:spPr>
          <a:xfrm>
            <a:off x="4829175" y="3463925"/>
            <a:ext cx="6546850" cy="544810"/>
          </a:xfrm>
          <a:prstGeom prst="roundRect">
            <a:avLst>
              <a:gd name="adj" fmla="val 13404"/>
            </a:avLst>
          </a:prstGeom>
          <a:solidFill>
            <a:srgbClr val="FBFBFC"/>
          </a:solidFill>
          <a:ln w="6350">
            <a:solidFill>
              <a:srgbClr val="DDE1E6"/>
            </a:solidFill>
            <a:prstDash val="solid"/>
          </a:ln>
        </p:spPr>
      </p:sp>
      <p:sp>
        <p:nvSpPr>
          <p:cNvPr id="15" name="Text 13"/>
          <p:cNvSpPr/>
          <p:nvPr/>
        </p:nvSpPr>
        <p:spPr>
          <a:xfrm>
            <a:off x="5035550" y="3594100"/>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4 · Asset List</a:t>
            </a:r>
            <a:endParaRPr lang="en-US" sz="1600" dirty="0"/>
          </a:p>
        </p:txBody>
      </p:sp>
      <p:sp>
        <p:nvSpPr>
          <p:cNvPr id="16" name="Text 14"/>
          <p:cNvSpPr/>
          <p:nvPr/>
        </p:nvSpPr>
        <p:spPr>
          <a:xfrm>
            <a:off x="7600950" y="3620790"/>
            <a:ext cx="31065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Every object, its source and budget</a:t>
            </a:r>
            <a:endParaRPr lang="en-US" sz="1300" dirty="0"/>
          </a:p>
        </p:txBody>
      </p:sp>
      <p:sp>
        <p:nvSpPr>
          <p:cNvPr id="17" name="Shape 15"/>
          <p:cNvSpPr/>
          <p:nvPr/>
        </p:nvSpPr>
        <p:spPr>
          <a:xfrm>
            <a:off x="4829175" y="4091285"/>
            <a:ext cx="6546850" cy="544810"/>
          </a:xfrm>
          <a:prstGeom prst="roundRect">
            <a:avLst>
              <a:gd name="adj" fmla="val 13404"/>
            </a:avLst>
          </a:prstGeom>
          <a:solidFill>
            <a:srgbClr val="FBFBFC"/>
          </a:solidFill>
          <a:ln w="6350">
            <a:solidFill>
              <a:srgbClr val="DDE1E6"/>
            </a:solidFill>
            <a:prstDash val="solid"/>
          </a:ln>
        </p:spPr>
      </p:sp>
      <p:sp>
        <p:nvSpPr>
          <p:cNvPr id="18" name="Text 16"/>
          <p:cNvSpPr/>
          <p:nvPr/>
        </p:nvSpPr>
        <p:spPr>
          <a:xfrm>
            <a:off x="5035550" y="4221460"/>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5 · Interaction Spec</a:t>
            </a:r>
            <a:endParaRPr lang="en-US" sz="1600" dirty="0"/>
          </a:p>
        </p:txBody>
      </p:sp>
      <p:sp>
        <p:nvSpPr>
          <p:cNvPr id="19" name="Text 17"/>
          <p:cNvSpPr/>
          <p:nvPr/>
        </p:nvSpPr>
        <p:spPr>
          <a:xfrm>
            <a:off x="7600950" y="4248150"/>
            <a:ext cx="172890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Trigger → response</a:t>
            </a:r>
            <a:endParaRPr lang="en-US" sz="1300" dirty="0"/>
          </a:p>
        </p:txBody>
      </p:sp>
      <p:sp>
        <p:nvSpPr>
          <p:cNvPr id="20" name="Shape 18"/>
          <p:cNvSpPr/>
          <p:nvPr/>
        </p:nvSpPr>
        <p:spPr>
          <a:xfrm>
            <a:off x="4829175" y="4718645"/>
            <a:ext cx="6546850" cy="544810"/>
          </a:xfrm>
          <a:prstGeom prst="roundRect">
            <a:avLst>
              <a:gd name="adj" fmla="val 13404"/>
            </a:avLst>
          </a:prstGeom>
          <a:solidFill>
            <a:srgbClr val="FBFBFC"/>
          </a:solidFill>
          <a:ln w="6350">
            <a:solidFill>
              <a:srgbClr val="DDE1E6"/>
            </a:solidFill>
            <a:prstDash val="solid"/>
          </a:ln>
        </p:spPr>
      </p:sp>
      <p:sp>
        <p:nvSpPr>
          <p:cNvPr id="21" name="Text 19"/>
          <p:cNvSpPr/>
          <p:nvPr/>
        </p:nvSpPr>
        <p:spPr>
          <a:xfrm>
            <a:off x="5035550" y="4848820"/>
            <a:ext cx="248539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81D"/>
                </a:solidFill>
                <a:latin typeface="IBM Plex Sans" pitchFamily="34" charset="0"/>
                <a:ea typeface="IBM Plex Sans" pitchFamily="34" charset="-122"/>
                <a:cs typeface="IBM Plex Sans" pitchFamily="34" charset="-120"/>
              </a:rPr>
              <a:t>6 · Build Plan</a:t>
            </a:r>
            <a:endParaRPr lang="en-US" sz="1600" dirty="0"/>
          </a:p>
        </p:txBody>
      </p:sp>
      <p:sp>
        <p:nvSpPr>
          <p:cNvPr id="22" name="Text 20"/>
          <p:cNvSpPr/>
          <p:nvPr/>
        </p:nvSpPr>
        <p:spPr>
          <a:xfrm>
            <a:off x="7600950" y="4875510"/>
            <a:ext cx="312777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Milestones and what "done" means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Two paths to a brief: by hand, or with AI and the 4 Ds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085181"/>
          <a:ext cx="10553700" cy="1929805"/>
        </p:xfrm>
        <a:graphic>
          <a:graphicData uri="http://schemas.openxmlformats.org/drawingml/2006/table">
            <a:tbl>
              <a:tblPr/>
              <a:tblGrid>
                <a:gridCol w="1688592"/>
                <a:gridCol w="4010406"/>
                <a:gridCol w="4854702"/>
              </a:tblGrid>
              <a:tr h="385961">
                <a:tc>
                  <a:txBody>
                    <a:bodyPr/>
                    <a:lstStyle/>
                    <a:p>
                      <a:pPr indent="0" marL="0">
                        <a:lnSpc>
                          <a:spcPts val="1960"/>
                        </a:lnSpc>
                        <a:buNone/>
                      </a:pPr>
                      <a:r>
                        <a:rPr lang="en-US" sz="1400" b="1" dirty="0">
                          <a:solidFill>
                            <a:srgbClr val="14181D"/>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1960"/>
                        </a:lnSpc>
                        <a:buNone/>
                      </a:pPr>
                      <a:r>
                        <a:rPr lang="en-US" sz="1400" b="1" dirty="0">
                          <a:solidFill>
                            <a:srgbClr val="14181D"/>
                          </a:solidFill>
                          <a:latin typeface="IBM Plex Sans" pitchFamily="34" charset="0"/>
                          <a:ea typeface="IBM Plex Sans" pitchFamily="34" charset="-122"/>
                          <a:cs typeface="IBM Plex Sans" pitchFamily="34" charset="-120"/>
                        </a:rPr>
                        <a:t>By hand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1960"/>
                        </a:lnSpc>
                        <a:buNone/>
                      </a:pPr>
                      <a:r>
                        <a:rPr lang="en-US" sz="1400" b="1" dirty="0">
                          <a:solidFill>
                            <a:srgbClr val="14181D"/>
                          </a:solidFill>
                          <a:latin typeface="IBM Plex Sans" pitchFamily="34" charset="0"/>
                          <a:ea typeface="IBM Plex Sans" pitchFamily="34" charset="-122"/>
                          <a:cs typeface="IBM Plex Sans" pitchFamily="34" charset="-120"/>
                        </a:rPr>
                        <a:t>With AI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r>
              <a:tr h="385961">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Frame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Whiteboard the ten questions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Direction: set goal, audience, limits first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Generate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Sticky notes, sketches, mood board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Description: a prompt chain, not one prompt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Judge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Group critique against pillars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Discernment: cut the generic and the wrong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Hand 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Brief goes to the team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Delegation: AI drafts; humans own taste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bl>
          </a:graphicData>
        </a:graphic>
      </p:graphicFrame>
      <p:sp>
        <p:nvSpPr>
          <p:cNvPr id="4" name="Text 1"/>
          <p:cNvSpPr/>
          <p:nvPr/>
        </p:nvSpPr>
        <p:spPr>
          <a:xfrm>
            <a:off x="812800" y="4268986"/>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AI is fast at volume and structure. </a:t>
            </a:r>
            <a:r>
              <a:rPr lang="en-US" sz="1600" b="1" dirty="0">
                <a:solidFill>
                  <a:srgbClr val="2A64C8"/>
                </a:solidFill>
                <a:latin typeface="IBM Plex Sans" pitchFamily="34" charset="0"/>
                <a:ea typeface="IBM Plex Sans" pitchFamily="34" charset="-122"/>
                <a:cs typeface="IBM Plex Sans" pitchFamily="34" charset="-120"/>
              </a:rPr>
              <a:t>You</a:t>
            </a:r>
            <a:r>
              <a:rPr lang="en-US" sz="1600" dirty="0">
                <a:solidFill>
                  <a:srgbClr val="14181D"/>
                </a:solidFill>
                <a:latin typeface="IBM Plex Sans" pitchFamily="34" charset="0"/>
                <a:ea typeface="IBM Plex Sans" pitchFamily="34" charset="-122"/>
                <a:cs typeface="IBM Plex Sans" pitchFamily="34" charset="-120"/>
              </a:rPr>
              <a:t> own the pillars, the culture and the final call.</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ACTIVITY · 25 MINUTES</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Brief it twice</a:t>
            </a:r>
            <a:endParaRPr lang="en-US" sz="3600" dirty="0"/>
          </a:p>
        </p:txBody>
      </p:sp>
      <p:sp>
        <p:nvSpPr>
          <p:cNvPr id="4" name="Shape 2"/>
          <p:cNvSpPr/>
          <p:nvPr/>
        </p:nvSpPr>
        <p:spPr>
          <a:xfrm>
            <a:off x="812800" y="1978521"/>
            <a:ext cx="3420467" cy="2006501"/>
          </a:xfrm>
          <a:prstGeom prst="roundRect">
            <a:avLst>
              <a:gd name="adj" fmla="val 6329"/>
            </a:avLst>
          </a:prstGeom>
          <a:solidFill>
            <a:srgbClr val="1A1E24"/>
          </a:solidFill>
          <a:ln/>
        </p:spPr>
      </p:sp>
      <p:sp>
        <p:nvSpPr>
          <p:cNvPr id="5" name="Text 3"/>
          <p:cNvSpPr/>
          <p:nvPr/>
        </p:nvSpPr>
        <p:spPr>
          <a:xfrm>
            <a:off x="1066800" y="2232521"/>
            <a:ext cx="299984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10 min</a:t>
            </a:r>
            <a:endParaRPr lang="en-US" sz="2200" dirty="0"/>
          </a:p>
        </p:txBody>
      </p:sp>
      <p:sp>
        <p:nvSpPr>
          <p:cNvPr id="6" name="Text 4"/>
          <p:cNvSpPr/>
          <p:nvPr/>
        </p:nvSpPr>
        <p:spPr>
          <a:xfrm>
            <a:off x="1066800" y="2725241"/>
            <a:ext cx="299984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By hand</a:t>
            </a:r>
            <a:endParaRPr lang="en-US" sz="2200" dirty="0"/>
          </a:p>
        </p:txBody>
      </p:sp>
      <p:sp>
        <p:nvSpPr>
          <p:cNvPr id="7" name="Text 5"/>
          <p:cNvSpPr/>
          <p:nvPr/>
        </p:nvSpPr>
        <p:spPr>
          <a:xfrm>
            <a:off x="1066800" y="3162102"/>
            <a:ext cx="299984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Write a one-page World Brief for your world idea</a:t>
            </a:r>
            <a:endParaRPr lang="en-US" sz="1600" dirty="0"/>
          </a:p>
        </p:txBody>
      </p:sp>
      <p:sp>
        <p:nvSpPr>
          <p:cNvPr id="8" name="Shape 6"/>
          <p:cNvSpPr/>
          <p:nvPr/>
        </p:nvSpPr>
        <p:spPr>
          <a:xfrm>
            <a:off x="4385667" y="1978521"/>
            <a:ext cx="3420566" cy="2006501"/>
          </a:xfrm>
          <a:prstGeom prst="roundRect">
            <a:avLst>
              <a:gd name="adj" fmla="val 6329"/>
            </a:avLst>
          </a:prstGeom>
          <a:solidFill>
            <a:srgbClr val="1A1E24"/>
          </a:solidFill>
          <a:ln/>
        </p:spPr>
      </p:sp>
      <p:sp>
        <p:nvSpPr>
          <p:cNvPr id="9" name="Text 7"/>
          <p:cNvSpPr/>
          <p:nvPr/>
        </p:nvSpPr>
        <p:spPr>
          <a:xfrm>
            <a:off x="4639667" y="2232521"/>
            <a:ext cx="299994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10 min</a:t>
            </a:r>
            <a:endParaRPr lang="en-US" sz="2200" dirty="0"/>
          </a:p>
        </p:txBody>
      </p:sp>
      <p:sp>
        <p:nvSpPr>
          <p:cNvPr id="10" name="Text 8"/>
          <p:cNvSpPr/>
          <p:nvPr/>
        </p:nvSpPr>
        <p:spPr>
          <a:xfrm>
            <a:off x="4639667" y="2725241"/>
            <a:ext cx="299994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With AI</a:t>
            </a:r>
            <a:endParaRPr lang="en-US" sz="2200" dirty="0"/>
          </a:p>
        </p:txBody>
      </p:sp>
      <p:sp>
        <p:nvSpPr>
          <p:cNvPr id="11" name="Text 9"/>
          <p:cNvSpPr/>
          <p:nvPr/>
        </p:nvSpPr>
        <p:spPr>
          <a:xfrm>
            <a:off x="4639667" y="3162102"/>
            <a:ext cx="299994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Ask AI to interview you, draft the brief, then critique it</a:t>
            </a:r>
            <a:endParaRPr lang="en-US" sz="1600" dirty="0"/>
          </a:p>
        </p:txBody>
      </p:sp>
      <p:sp>
        <p:nvSpPr>
          <p:cNvPr id="12" name="Shape 10"/>
          <p:cNvSpPr/>
          <p:nvPr/>
        </p:nvSpPr>
        <p:spPr>
          <a:xfrm>
            <a:off x="7958634" y="1978521"/>
            <a:ext cx="3420566" cy="2006501"/>
          </a:xfrm>
          <a:prstGeom prst="roundRect">
            <a:avLst>
              <a:gd name="adj" fmla="val 6329"/>
            </a:avLst>
          </a:prstGeom>
          <a:solidFill>
            <a:srgbClr val="1A1E24"/>
          </a:solidFill>
          <a:ln/>
        </p:spPr>
      </p:sp>
      <p:sp>
        <p:nvSpPr>
          <p:cNvPr id="13" name="Text 11"/>
          <p:cNvSpPr/>
          <p:nvPr/>
        </p:nvSpPr>
        <p:spPr>
          <a:xfrm>
            <a:off x="8212634" y="2232521"/>
            <a:ext cx="299994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5 min</a:t>
            </a:r>
            <a:endParaRPr lang="en-US" sz="2200" dirty="0"/>
          </a:p>
        </p:txBody>
      </p:sp>
      <p:sp>
        <p:nvSpPr>
          <p:cNvPr id="14" name="Text 12"/>
          <p:cNvSpPr/>
          <p:nvPr/>
        </p:nvSpPr>
        <p:spPr>
          <a:xfrm>
            <a:off x="8212634" y="2725241"/>
            <a:ext cx="299994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Compare</a:t>
            </a:r>
            <a:endParaRPr lang="en-US" sz="2200" dirty="0"/>
          </a:p>
        </p:txBody>
      </p:sp>
      <p:sp>
        <p:nvSpPr>
          <p:cNvPr id="15" name="Text 13"/>
          <p:cNvSpPr/>
          <p:nvPr/>
        </p:nvSpPr>
        <p:spPr>
          <a:xfrm>
            <a:off x="8212634" y="3162102"/>
            <a:ext cx="299994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What did AI add that's good? Generic? What only you knew?</a:t>
            </a:r>
            <a:endParaRPr lang="en-US" sz="1600" dirty="0"/>
          </a:p>
        </p:txBody>
      </p:sp>
      <p:sp>
        <p:nvSpPr>
          <p:cNvPr id="16" name="Text 14"/>
          <p:cNvSpPr/>
          <p:nvPr/>
        </p:nvSpPr>
        <p:spPr>
          <a:xfrm>
            <a:off x="812800" y="428982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4F6"/>
                </a:solidFill>
                <a:latin typeface="IBM Plex Sans" pitchFamily="34" charset="0"/>
                <a:ea typeface="IBM Plex Sans" pitchFamily="34" charset="-122"/>
                <a:cs typeface="IBM Plex Sans" pitchFamily="34" charset="-120"/>
              </a:rPr>
              <a:t>Output: one revised World Brief per group. You'll build it in the browser after the break.</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01317"/>
        </a:solidFill>
      </p:bgPr>
    </p:bg>
    <p:spTree>
      <p:nvGrpSpPr>
        <p:cNvPr id="1" name=""/>
        <p:cNvGrpSpPr/>
        <p:nvPr/>
      </p:nvGrpSpPr>
      <p:grpSpPr>
        <a:xfrm>
          <a:off x="0" y="0"/>
          <a:ext cx="0" cy="0"/>
          <a:chOff x="0" y="0"/>
          <a:chExt cx="0" cy="0"/>
        </a:xfrm>
      </p:grpSpPr>
      <p:sp>
        <p:nvSpPr>
          <p:cNvPr id="2" name="Text 0"/>
          <p:cNvSpPr/>
          <p:nvPr>
            <p:ph type="title"/>
          </p:nvPr>
        </p:nvSpPr>
        <p:spPr>
          <a:xfrm>
            <a:off x="2107297" y="2745780"/>
            <a:ext cx="7977307" cy="825500"/>
          </a:xfrm>
          <a:prstGeom prst="rect">
            <a:avLst/>
          </a:prstGeom>
          <a:noFill/>
          <a:ln/>
        </p:spPr>
        <p:txBody>
          <a:bodyPr wrap="square" lIns="0" tIns="0" rIns="0" bIns="0" rtlCol="0" anchor="t">
            <a:normAutofit/>
          </a:bodyPr>
          <a:lstStyle/>
          <a:p>
            <a:pPr algn="ctr" indent="0" marL="0">
              <a:lnSpc>
                <a:spcPts val="6300"/>
              </a:lnSpc>
              <a:buNone/>
            </a:pPr>
            <a:r>
              <a:rPr lang="en-US" sz="6000" b="1" i="0" dirty="0">
                <a:solidFill>
                  <a:srgbClr val="F3F4F6"/>
                </a:solidFill>
                <a:latin typeface="Space Grotesk" pitchFamily="34" charset="0"/>
                <a:ea typeface="Space Grotesk" pitchFamily="34" charset="-122"/>
                <a:cs typeface="Space Grotesk" pitchFamily="34" charset="-120"/>
              </a:rPr>
              <a:t>Break · 10 minutes</a:t>
            </a:r>
            <a:endParaRPr lang="en-US" sz="6000" dirty="0"/>
          </a:p>
        </p:txBody>
      </p:sp>
      <p:sp>
        <p:nvSpPr>
          <p:cNvPr id="3" name="Text 1"/>
          <p:cNvSpPr/>
          <p:nvPr/>
        </p:nvSpPr>
        <p:spPr>
          <a:xfrm>
            <a:off x="3203267" y="3749080"/>
            <a:ext cx="5785366" cy="388541"/>
          </a:xfrm>
          <a:prstGeom prst="rect">
            <a:avLst/>
          </a:prstGeom>
          <a:noFill/>
          <a:ln/>
        </p:spPr>
        <p:txBody>
          <a:bodyPr wrap="square" lIns="0" tIns="0" rIns="0" bIns="0" rtlCol="0" anchor="t">
            <a:normAutofit/>
          </a:bodyPr>
          <a:lstStyle/>
          <a:p>
            <a:pPr algn="ctr" indent="0" marL="0">
              <a:lnSpc>
                <a:spcPts val="2860"/>
              </a:lnSpc>
              <a:buNone/>
            </a:pPr>
            <a:r>
              <a:rPr lang="en-US" sz="2200" dirty="0">
                <a:solidFill>
                  <a:srgbClr val="B7C0CC"/>
                </a:solidFill>
                <a:latin typeface="IBM Plex Sans" pitchFamily="34" charset="0"/>
                <a:ea typeface="IBM Plex Sans" pitchFamily="34" charset="-122"/>
                <a:cs typeface="IBM Plex Sans" pitchFamily="34" charset="-120"/>
              </a:rPr>
              <a:t>Next: we build one of your worlds, live.</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TOOLS · GAME ENGINES</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Four ways to bring a world to life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5021"/>
          <a:ext cx="10553700" cy="1796355"/>
        </p:xfrm>
        <a:graphic>
          <a:graphicData uri="http://schemas.openxmlformats.org/drawingml/2006/table">
            <a:tbl>
              <a:tblPr/>
              <a:tblGrid>
                <a:gridCol w="1688592"/>
                <a:gridCol w="2216277"/>
                <a:gridCol w="2216277"/>
                <a:gridCol w="2216277"/>
                <a:gridCol w="2216277"/>
              </a:tblGrid>
              <a:tr h="35927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1820"/>
                        </a:lnSpc>
                        <a:buNone/>
                      </a:pPr>
                      <a:r>
                        <a:rPr lang="en-US" sz="1300" b="1" dirty="0">
                          <a:solidFill>
                            <a:srgbClr val="14181D"/>
                          </a:solidFill>
                          <a:latin typeface="IBM Plex Sans" pitchFamily="34" charset="0"/>
                          <a:ea typeface="IBM Plex Sans" pitchFamily="34" charset="-122"/>
                          <a:cs typeface="IBM Plex Sans" pitchFamily="34" charset="-120"/>
                        </a:rPr>
                        <a:t>Godot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1820"/>
                        </a:lnSpc>
                        <a:buNone/>
                      </a:pPr>
                      <a:r>
                        <a:rPr lang="en-US" sz="1300" b="1" dirty="0">
                          <a:solidFill>
                            <a:srgbClr val="14181D"/>
                          </a:solidFill>
                          <a:latin typeface="IBM Plex Sans" pitchFamily="34" charset="0"/>
                          <a:ea typeface="IBM Plex Sans" pitchFamily="34" charset="-122"/>
                          <a:cs typeface="IBM Plex Sans" pitchFamily="34" charset="-120"/>
                        </a:rPr>
                        <a:t>Unity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1820"/>
                        </a:lnSpc>
                        <a:buNone/>
                      </a:pPr>
                      <a:r>
                        <a:rPr lang="en-US" sz="1300" b="1" dirty="0">
                          <a:solidFill>
                            <a:srgbClr val="14181D"/>
                          </a:solidFill>
                          <a:latin typeface="IBM Plex Sans" pitchFamily="34" charset="0"/>
                          <a:ea typeface="IBM Plex Sans" pitchFamily="34" charset="-122"/>
                          <a:cs typeface="IBM Plex Sans" pitchFamily="34" charset="-120"/>
                        </a:rPr>
                        <a:t>Unreal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1820"/>
                        </a:lnSpc>
                        <a:buNone/>
                      </a:pPr>
                      <a:r>
                        <a:rPr lang="en-US" sz="1300" b="1" dirty="0">
                          <a:solidFill>
                            <a:srgbClr val="14181D"/>
                          </a:solidFill>
                          <a:latin typeface="IBM Plex Sans" pitchFamily="34" charset="0"/>
                          <a:ea typeface="IBM Plex Sans" pitchFamily="34" charset="-122"/>
                          <a:cs typeface="IBM Plex Sans" pitchFamily="34" charset="-120"/>
                        </a:rPr>
                        <a:t>Web (A-Frame)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Cost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Free, open source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Free under $200K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5% after $1M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Free, open source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Language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GDScript, 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Blueprints, 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HTML, JavaScript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Strength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Light, gentle 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XR and mobile reach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Top-end visuals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Runs from a link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Watch for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XR still maturing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Terms have changed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Heavy hardware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1820"/>
                        </a:lnSpc>
                        <a:buNone/>
                      </a:pPr>
                      <a:r>
                        <a:rPr lang="en-US" sz="1300" dirty="0">
                          <a:solidFill>
                            <a:srgbClr val="14181D"/>
                          </a:solidFill>
                          <a:latin typeface="IBM Plex Sans" pitchFamily="34" charset="0"/>
                          <a:ea typeface="IBM Plex Sans" pitchFamily="34" charset="-122"/>
                          <a:cs typeface="IBM Plex Sans" pitchFamily="34" charset="-120"/>
                        </a:rPr>
                        <a:t>Performance ceiling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Licence terms as of fall 2026 — check before you commit. Unity: Personal plan under $200K revenue or funding. Unreal: per title, lifetime gross.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0131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Let the brief choose the engine</a:t>
            </a:r>
            <a:endParaRPr lang="en-US" sz="3600" dirty="0"/>
          </a:p>
        </p:txBody>
      </p:sp>
      <p:sp>
        <p:nvSpPr>
          <p:cNvPr id="3" name="Shape 1"/>
          <p:cNvSpPr/>
          <p:nvPr/>
        </p:nvSpPr>
        <p:spPr>
          <a:xfrm>
            <a:off x="812800" y="1623616"/>
            <a:ext cx="10566400" cy="0"/>
          </a:xfrm>
          <a:prstGeom prst="line">
            <a:avLst/>
          </a:prstGeom>
          <a:noFill/>
          <a:ln w="6350">
            <a:solidFill>
              <a:srgbClr val="2C323A"/>
            </a:solidFill>
            <a:prstDash val="solid"/>
          </a:ln>
        </p:spPr>
      </p:sp>
      <p:sp>
        <p:nvSpPr>
          <p:cNvPr id="4" name="Text 2"/>
          <p:cNvSpPr/>
          <p:nvPr/>
        </p:nvSpPr>
        <p:spPr>
          <a:xfrm>
            <a:off x="812800" y="1857871"/>
            <a:ext cx="58864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"It has to open from a link, on any device"</a:t>
            </a:r>
            <a:endParaRPr lang="en-US" sz="1600" dirty="0"/>
          </a:p>
        </p:txBody>
      </p:sp>
      <p:sp>
        <p:nvSpPr>
          <p:cNvPr id="5" name="Text 3"/>
          <p:cNvSpPr/>
          <p:nvPr/>
        </p:nvSpPr>
        <p:spPr>
          <a:xfrm>
            <a:off x="6781800" y="1804591"/>
            <a:ext cx="270902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 Web, or Godot</a:t>
            </a:r>
            <a:endParaRPr lang="en-US" sz="2200" dirty="0"/>
          </a:p>
        </p:txBody>
      </p:sp>
      <p:sp>
        <p:nvSpPr>
          <p:cNvPr id="6" name="Shape 4"/>
          <p:cNvSpPr/>
          <p:nvPr/>
        </p:nvSpPr>
        <p:spPr>
          <a:xfrm>
            <a:off x="812800" y="2376686"/>
            <a:ext cx="10566400" cy="0"/>
          </a:xfrm>
          <a:prstGeom prst="line">
            <a:avLst/>
          </a:prstGeom>
          <a:noFill/>
          <a:ln w="6350">
            <a:solidFill>
              <a:srgbClr val="2C323A"/>
            </a:solidFill>
            <a:prstDash val="solid"/>
          </a:ln>
        </p:spPr>
      </p:sp>
      <p:sp>
        <p:nvSpPr>
          <p:cNvPr id="7" name="Text 5"/>
          <p:cNvSpPr/>
          <p:nvPr/>
        </p:nvSpPr>
        <p:spPr>
          <a:xfrm>
            <a:off x="812800" y="2610941"/>
            <a:ext cx="58864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"It has to run on a standalone headset"</a:t>
            </a:r>
            <a:endParaRPr lang="en-US" sz="1600" dirty="0"/>
          </a:p>
        </p:txBody>
      </p:sp>
      <p:sp>
        <p:nvSpPr>
          <p:cNvPr id="8" name="Text 6"/>
          <p:cNvSpPr/>
          <p:nvPr/>
        </p:nvSpPr>
        <p:spPr>
          <a:xfrm>
            <a:off x="6781800" y="2557661"/>
            <a:ext cx="129897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 Unity</a:t>
            </a:r>
            <a:endParaRPr lang="en-US" sz="2200" dirty="0"/>
          </a:p>
        </p:txBody>
      </p:sp>
      <p:sp>
        <p:nvSpPr>
          <p:cNvPr id="9" name="Shape 7"/>
          <p:cNvSpPr/>
          <p:nvPr/>
        </p:nvSpPr>
        <p:spPr>
          <a:xfrm>
            <a:off x="812800" y="3129756"/>
            <a:ext cx="10566400" cy="0"/>
          </a:xfrm>
          <a:prstGeom prst="line">
            <a:avLst/>
          </a:prstGeom>
          <a:noFill/>
          <a:ln w="6350">
            <a:solidFill>
              <a:srgbClr val="2C323A"/>
            </a:solidFill>
            <a:prstDash val="solid"/>
          </a:ln>
        </p:spPr>
      </p:sp>
      <p:sp>
        <p:nvSpPr>
          <p:cNvPr id="10" name="Text 8"/>
          <p:cNvSpPr/>
          <p:nvPr/>
        </p:nvSpPr>
        <p:spPr>
          <a:xfrm>
            <a:off x="812800" y="3364012"/>
            <a:ext cx="58864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"Photoreal is one of our pillars"</a:t>
            </a:r>
            <a:endParaRPr lang="en-US" sz="1600" dirty="0"/>
          </a:p>
        </p:txBody>
      </p:sp>
      <p:sp>
        <p:nvSpPr>
          <p:cNvPr id="11" name="Text 9"/>
          <p:cNvSpPr/>
          <p:nvPr/>
        </p:nvSpPr>
        <p:spPr>
          <a:xfrm>
            <a:off x="6781800" y="3310731"/>
            <a:ext cx="145280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 Unreal</a:t>
            </a:r>
            <a:endParaRPr lang="en-US" sz="2200" dirty="0"/>
          </a:p>
        </p:txBody>
      </p:sp>
      <p:sp>
        <p:nvSpPr>
          <p:cNvPr id="12" name="Shape 10"/>
          <p:cNvSpPr/>
          <p:nvPr/>
        </p:nvSpPr>
        <p:spPr>
          <a:xfrm>
            <a:off x="812800" y="3882827"/>
            <a:ext cx="10566400" cy="0"/>
          </a:xfrm>
          <a:prstGeom prst="line">
            <a:avLst/>
          </a:prstGeom>
          <a:noFill/>
          <a:ln w="6350">
            <a:solidFill>
              <a:srgbClr val="2C323A"/>
            </a:solidFill>
            <a:prstDash val="solid"/>
          </a:ln>
        </p:spPr>
      </p:sp>
      <p:sp>
        <p:nvSpPr>
          <p:cNvPr id="13" name="Shape 11"/>
          <p:cNvSpPr/>
          <p:nvPr/>
        </p:nvSpPr>
        <p:spPr>
          <a:xfrm>
            <a:off x="812800" y="4635897"/>
            <a:ext cx="10566400" cy="0"/>
          </a:xfrm>
          <a:prstGeom prst="line">
            <a:avLst/>
          </a:prstGeom>
          <a:noFill/>
          <a:ln w="6350">
            <a:solidFill>
              <a:srgbClr val="2C323A"/>
            </a:solidFill>
            <a:prstDash val="solid"/>
          </a:ln>
        </p:spPr>
      </p:sp>
      <p:sp>
        <p:nvSpPr>
          <p:cNvPr id="14" name="Text 12"/>
          <p:cNvSpPr/>
          <p:nvPr/>
        </p:nvSpPr>
        <p:spPr>
          <a:xfrm>
            <a:off x="812800" y="4117082"/>
            <a:ext cx="58864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"Nobody on the team codes yet"</a:t>
            </a:r>
            <a:endParaRPr lang="en-US" sz="1600" dirty="0"/>
          </a:p>
        </p:txBody>
      </p:sp>
      <p:sp>
        <p:nvSpPr>
          <p:cNvPr id="15" name="Text 13"/>
          <p:cNvSpPr/>
          <p:nvPr/>
        </p:nvSpPr>
        <p:spPr>
          <a:xfrm>
            <a:off x="6781800" y="4063802"/>
            <a:ext cx="3682246"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 Godot, or Blueprints</a:t>
            </a:r>
            <a:endParaRPr lang="en-US" sz="2200" dirty="0"/>
          </a:p>
        </p:txBody>
      </p:sp>
      <p:sp>
        <p:nvSpPr>
          <p:cNvPr id="16" name="Text 14"/>
          <p:cNvSpPr/>
          <p:nvPr/>
        </p:nvSpPr>
        <p:spPr>
          <a:xfrm>
            <a:off x="812800" y="494387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A8E8"/>
                </a:solidFill>
                <a:latin typeface="JetBrains Mono" pitchFamily="49" charset="0"/>
                <a:ea typeface="JetBrains Mono" pitchFamily="49" charset="-122"/>
                <a:cs typeface="JetBrains Mono" pitchFamily="49" charset="-120"/>
              </a:rPr>
              <a:t>&gt; Problem → People → Process → Tool. The tool comes last.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TOOLS · ASSET PIPELINE</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From an idea to an asset in your world</a:t>
            </a:r>
            <a:endParaRPr lang="en-US" sz="3600" dirty="0"/>
          </a:p>
        </p:txBody>
      </p:sp>
      <p:sp>
        <p:nvSpPr>
          <p:cNvPr id="4" name="Shape 2"/>
          <p:cNvSpPr/>
          <p:nvPr/>
        </p:nvSpPr>
        <p:spPr>
          <a:xfrm>
            <a:off x="815975" y="2083296"/>
            <a:ext cx="2257425" cy="1502172"/>
          </a:xfrm>
          <a:prstGeom prst="roundRect">
            <a:avLst>
              <a:gd name="adj" fmla="val 6552"/>
            </a:avLst>
          </a:prstGeom>
          <a:solidFill>
            <a:srgbClr val="FBFBFC"/>
          </a:solidFill>
          <a:ln w="6350">
            <a:solidFill>
              <a:srgbClr val="DDE1E6"/>
            </a:solidFill>
            <a:prstDash val="solid"/>
          </a:ln>
        </p:spPr>
      </p:sp>
      <p:sp>
        <p:nvSpPr>
          <p:cNvPr id="5" name="Text 3"/>
          <p:cNvSpPr/>
          <p:nvPr/>
        </p:nvSpPr>
        <p:spPr>
          <a:xfrm>
            <a:off x="1022350" y="2289671"/>
            <a:ext cx="190001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64C8"/>
                </a:solidFill>
                <a:latin typeface="JetBrains Mono" pitchFamily="49" charset="0"/>
                <a:ea typeface="JetBrains Mono" pitchFamily="49" charset="-122"/>
                <a:cs typeface="JetBrains Mono" pitchFamily="49" charset="-120"/>
              </a:rPr>
              <a:t>01</a:t>
            </a:r>
            <a:endParaRPr lang="en-US" sz="1300" dirty="0"/>
          </a:p>
        </p:txBody>
      </p:sp>
      <p:sp>
        <p:nvSpPr>
          <p:cNvPr id="6" name="Text 4"/>
          <p:cNvSpPr/>
          <p:nvPr/>
        </p:nvSpPr>
        <p:spPr>
          <a:xfrm>
            <a:off x="1022350" y="2596952"/>
            <a:ext cx="190001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Asset list</a:t>
            </a:r>
            <a:endParaRPr lang="en-US" sz="1600" dirty="0"/>
          </a:p>
        </p:txBody>
      </p:sp>
      <p:sp>
        <p:nvSpPr>
          <p:cNvPr id="7" name="Text 5"/>
          <p:cNvSpPr/>
          <p:nvPr/>
        </p:nvSpPr>
        <p:spPr>
          <a:xfrm>
            <a:off x="1022350" y="2916932"/>
            <a:ext cx="190001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What, where, how many triangles</a:t>
            </a:r>
            <a:endParaRPr lang="en-US" sz="1300" dirty="0"/>
          </a:p>
        </p:txBody>
      </p:sp>
      <p:pic>
        <p:nvPicPr>
          <p:cNvPr id="8" name="Image 0" descr="arrow-right">    </p:cNvPr>
          <p:cNvPicPr>
            <a:picLocks noChangeAspect="1"/>
          </p:cNvPicPr>
          <p:nvPr/>
        </p:nvPicPr>
        <p:blipFill>
          <a:blip r:embed="rId1"/>
          <a:srcRect l="0" r="0" t="0" b="0"/>
          <a:stretch/>
        </p:blipFill>
        <p:spPr>
          <a:xfrm>
            <a:off x="3178175" y="2758182"/>
            <a:ext cx="304800" cy="152400"/>
          </a:xfrm>
          <a:prstGeom prst="rect">
            <a:avLst/>
          </a:prstGeom>
        </p:spPr>
      </p:pic>
      <p:sp>
        <p:nvSpPr>
          <p:cNvPr id="9" name="Shape 6"/>
          <p:cNvSpPr/>
          <p:nvPr/>
        </p:nvSpPr>
        <p:spPr>
          <a:xfrm>
            <a:off x="3587750" y="2083296"/>
            <a:ext cx="2257425" cy="1502172"/>
          </a:xfrm>
          <a:prstGeom prst="roundRect">
            <a:avLst>
              <a:gd name="adj" fmla="val 6552"/>
            </a:avLst>
          </a:prstGeom>
          <a:solidFill>
            <a:srgbClr val="FBFBFC"/>
          </a:solidFill>
          <a:ln w="6350">
            <a:solidFill>
              <a:srgbClr val="DDE1E6"/>
            </a:solidFill>
            <a:prstDash val="solid"/>
          </a:ln>
        </p:spPr>
      </p:sp>
      <p:sp>
        <p:nvSpPr>
          <p:cNvPr id="10" name="Text 7"/>
          <p:cNvSpPr/>
          <p:nvPr/>
        </p:nvSpPr>
        <p:spPr>
          <a:xfrm>
            <a:off x="3794125" y="2289671"/>
            <a:ext cx="190001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64C8"/>
                </a:solidFill>
                <a:latin typeface="JetBrains Mono" pitchFamily="49" charset="0"/>
                <a:ea typeface="JetBrains Mono" pitchFamily="49" charset="-122"/>
                <a:cs typeface="JetBrains Mono" pitchFamily="49" charset="-120"/>
              </a:rPr>
              <a:t>02</a:t>
            </a:r>
            <a:endParaRPr lang="en-US" sz="1300" dirty="0"/>
          </a:p>
        </p:txBody>
      </p:sp>
      <p:sp>
        <p:nvSpPr>
          <p:cNvPr id="11" name="Text 8"/>
          <p:cNvSpPr/>
          <p:nvPr/>
        </p:nvSpPr>
        <p:spPr>
          <a:xfrm>
            <a:off x="3794125" y="2596952"/>
            <a:ext cx="190001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ComfyUI</a:t>
            </a:r>
            <a:endParaRPr lang="en-US" sz="1600" dirty="0"/>
          </a:p>
        </p:txBody>
      </p:sp>
      <p:sp>
        <p:nvSpPr>
          <p:cNvPr id="12" name="Text 9"/>
          <p:cNvSpPr/>
          <p:nvPr/>
        </p:nvSpPr>
        <p:spPr>
          <a:xfrm>
            <a:off x="3794125" y="2916932"/>
            <a:ext cx="190001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Concept image, texture, or a rough mesh</a:t>
            </a:r>
            <a:endParaRPr lang="en-US" sz="1300" dirty="0"/>
          </a:p>
        </p:txBody>
      </p:sp>
      <p:pic>
        <p:nvPicPr>
          <p:cNvPr id="13" name="Image 1" descr="arrow-right">    </p:cNvPr>
          <p:cNvPicPr>
            <a:picLocks noChangeAspect="1"/>
          </p:cNvPicPr>
          <p:nvPr/>
        </p:nvPicPr>
        <p:blipFill>
          <a:blip r:embed="rId2"/>
          <a:srcRect l="0" r="0" t="0" b="0"/>
          <a:stretch/>
        </p:blipFill>
        <p:spPr>
          <a:xfrm>
            <a:off x="5949950" y="2758182"/>
            <a:ext cx="304800" cy="152400"/>
          </a:xfrm>
          <a:prstGeom prst="rect">
            <a:avLst/>
          </a:prstGeom>
        </p:spPr>
      </p:pic>
      <p:sp>
        <p:nvSpPr>
          <p:cNvPr id="14" name="Shape 10"/>
          <p:cNvSpPr/>
          <p:nvPr/>
        </p:nvSpPr>
        <p:spPr>
          <a:xfrm>
            <a:off x="6359525" y="2083296"/>
            <a:ext cx="2257425" cy="1502172"/>
          </a:xfrm>
          <a:prstGeom prst="roundRect">
            <a:avLst>
              <a:gd name="adj" fmla="val 6552"/>
            </a:avLst>
          </a:prstGeom>
          <a:solidFill>
            <a:srgbClr val="FBFBFC"/>
          </a:solidFill>
          <a:ln w="6350">
            <a:solidFill>
              <a:srgbClr val="DDE1E6"/>
            </a:solidFill>
            <a:prstDash val="solid"/>
          </a:ln>
        </p:spPr>
      </p:sp>
      <p:sp>
        <p:nvSpPr>
          <p:cNvPr id="15" name="Text 11"/>
          <p:cNvSpPr/>
          <p:nvPr/>
        </p:nvSpPr>
        <p:spPr>
          <a:xfrm>
            <a:off x="6565900" y="2289671"/>
            <a:ext cx="190001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A64C8"/>
                </a:solidFill>
                <a:latin typeface="JetBrains Mono" pitchFamily="49" charset="0"/>
                <a:ea typeface="JetBrains Mono" pitchFamily="49" charset="-122"/>
                <a:cs typeface="JetBrains Mono" pitchFamily="49" charset="-120"/>
              </a:rPr>
              <a:t>03</a:t>
            </a:r>
            <a:endParaRPr lang="en-US" sz="1300" dirty="0"/>
          </a:p>
        </p:txBody>
      </p:sp>
      <p:sp>
        <p:nvSpPr>
          <p:cNvPr id="16" name="Text 12"/>
          <p:cNvSpPr/>
          <p:nvPr/>
        </p:nvSpPr>
        <p:spPr>
          <a:xfrm>
            <a:off x="6565900" y="2596952"/>
            <a:ext cx="190001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Blender + Claude</a:t>
            </a:r>
            <a:endParaRPr lang="en-US" sz="1600" dirty="0"/>
          </a:p>
        </p:txBody>
      </p:sp>
      <p:sp>
        <p:nvSpPr>
          <p:cNvPr id="17" name="Text 13"/>
          <p:cNvSpPr/>
          <p:nvPr/>
        </p:nvSpPr>
        <p:spPr>
          <a:xfrm>
            <a:off x="6565900" y="2916932"/>
            <a:ext cx="190001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Build, clean up, scale, name, export</a:t>
            </a:r>
            <a:endParaRPr lang="en-US" sz="1300" dirty="0"/>
          </a:p>
        </p:txBody>
      </p:sp>
      <p:pic>
        <p:nvPicPr>
          <p:cNvPr id="18" name="Image 2" descr="arrow-right">    </p:cNvPr>
          <p:cNvPicPr>
            <a:picLocks noChangeAspect="1"/>
          </p:cNvPicPr>
          <p:nvPr/>
        </p:nvPicPr>
        <p:blipFill>
          <a:blip r:embed="rId3"/>
          <a:srcRect l="0" r="0" t="0" b="0"/>
          <a:stretch/>
        </p:blipFill>
        <p:spPr>
          <a:xfrm>
            <a:off x="8721725" y="2758182"/>
            <a:ext cx="304800" cy="152400"/>
          </a:xfrm>
          <a:prstGeom prst="rect">
            <a:avLst/>
          </a:prstGeom>
        </p:spPr>
      </p:pic>
      <p:sp>
        <p:nvSpPr>
          <p:cNvPr id="19" name="Shape 14"/>
          <p:cNvSpPr/>
          <p:nvPr/>
        </p:nvSpPr>
        <p:spPr>
          <a:xfrm>
            <a:off x="9128125" y="2201962"/>
            <a:ext cx="2251075" cy="1264741"/>
          </a:xfrm>
          <a:prstGeom prst="roundRect">
            <a:avLst>
              <a:gd name="adj" fmla="val 8033"/>
            </a:avLst>
          </a:prstGeom>
          <a:solidFill>
            <a:srgbClr val="2A64C8"/>
          </a:solidFill>
          <a:ln/>
        </p:spPr>
      </p:sp>
      <p:sp>
        <p:nvSpPr>
          <p:cNvPr id="20" name="Text 15"/>
          <p:cNvSpPr/>
          <p:nvPr/>
        </p:nvSpPr>
        <p:spPr>
          <a:xfrm>
            <a:off x="9331325" y="2405162"/>
            <a:ext cx="190001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CFB"/>
                </a:solidFill>
                <a:latin typeface="JetBrains Mono" pitchFamily="49" charset="0"/>
                <a:ea typeface="JetBrains Mono" pitchFamily="49" charset="-122"/>
                <a:cs typeface="JetBrains Mono" pitchFamily="49" charset="-120"/>
              </a:rPr>
              <a:t>04</a:t>
            </a:r>
            <a:endParaRPr lang="en-US" sz="1300" dirty="0"/>
          </a:p>
        </p:txBody>
      </p:sp>
      <p:sp>
        <p:nvSpPr>
          <p:cNvPr id="21" name="Text 16"/>
          <p:cNvSpPr/>
          <p:nvPr/>
        </p:nvSpPr>
        <p:spPr>
          <a:xfrm>
            <a:off x="9331325" y="2712442"/>
            <a:ext cx="190001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Engine</a:t>
            </a:r>
            <a:endParaRPr lang="en-US" sz="1600" dirty="0"/>
          </a:p>
        </p:txBody>
      </p:sp>
      <p:sp>
        <p:nvSpPr>
          <p:cNvPr id="22" name="Text 17"/>
          <p:cNvSpPr/>
          <p:nvPr/>
        </p:nvSpPr>
        <p:spPr>
          <a:xfrm>
            <a:off x="9331325" y="3032423"/>
            <a:ext cx="20478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CFB"/>
                </a:solidFill>
                <a:latin typeface="IBM Plex Sans" pitchFamily="34" charset="0"/>
                <a:ea typeface="IBM Plex Sans" pitchFamily="34" charset="-122"/>
                <a:cs typeface="IBM Plex Sans" pitchFamily="34" charset="-120"/>
              </a:rPr>
              <a:t>GLB in, test at true scale</a:t>
            </a:r>
            <a:endParaRPr lang="en-US" sz="1300" dirty="0"/>
          </a:p>
        </p:txBody>
      </p:sp>
      <p:sp>
        <p:nvSpPr>
          <p:cNvPr id="23" name="Text 18"/>
          <p:cNvSpPr/>
          <p:nvPr/>
        </p:nvSpPr>
        <p:spPr>
          <a:xfrm>
            <a:off x="812800" y="399504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AI speeds up every step. </a:t>
            </a:r>
            <a:r>
              <a:rPr lang="en-US" sz="1600" b="1" dirty="0">
                <a:solidFill>
                  <a:srgbClr val="2A64C8"/>
                </a:solidFill>
                <a:latin typeface="IBM Plex Sans" pitchFamily="34" charset="0"/>
                <a:ea typeface="IBM Plex Sans" pitchFamily="34" charset="-122"/>
                <a:cs typeface="IBM Plex Sans" pitchFamily="34" charset="-120"/>
              </a:rPr>
              <a:t>The asset list still decides what gets made.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01317"/>
        </a:solidFill>
      </p:bgPr>
    </p:bg>
    <p:spTree>
      <p:nvGrpSpPr>
        <p:cNvPr id="1" name=""/>
        <p:cNvGrpSpPr/>
        <p:nvPr/>
      </p:nvGrpSpPr>
      <p:grpSpPr>
        <a:xfrm>
          <a:off x="0" y="0"/>
          <a:ext cx="0" cy="0"/>
          <a:chOff x="0" y="0"/>
          <a:chExt cx="0" cy="0"/>
        </a:xfrm>
      </p:grpSpPr>
      <p:pic>
        <p:nvPicPr>
          <p:cNvPr id="2" name="Image 0" descr="Snowy road through a winter spruce forest, an XR scene generated with AI">    </p:cNvPr>
          <p:cNvPicPr>
            <a:picLocks noChangeAspect="1"/>
          </p:cNvPicPr>
          <p:nvPr/>
        </p:nvPicPr>
        <p:blipFill>
          <a:blip r:embed="rId1"/>
          <a:srcRect l="10024" r="10024" t="0" b="0"/>
          <a:stretch/>
        </p:blipFill>
        <p:spPr>
          <a:xfrm>
            <a:off x="812800" y="1620540"/>
            <a:ext cx="5207000" cy="3302000"/>
          </a:xfrm>
          <a:prstGeom prst="roundRect">
            <a:avLst>
              <a:gd name="adj" fmla="val 3846"/>
            </a:avLst>
          </a:prstGeom>
        </p:spPr>
      </p:pic>
      <p:sp>
        <p:nvSpPr>
          <p:cNvPr id="3" name="Text 0"/>
          <p:cNvSpPr/>
          <p:nvPr/>
        </p:nvSpPr>
        <p:spPr>
          <a:xfrm>
            <a:off x="812800" y="5024140"/>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A winter forest XR world, generated with AI</a:t>
            </a:r>
            <a:endParaRPr lang="en-US" sz="1200" dirty="0"/>
          </a:p>
        </p:txBody>
      </p:sp>
      <p:sp>
        <p:nvSpPr>
          <p:cNvPr id="4" name="Text 1"/>
          <p:cNvSpPr/>
          <p:nvPr/>
        </p:nvSpPr>
        <p:spPr>
          <a:xfrm>
            <a:off x="6426200" y="1673324"/>
            <a:ext cx="5101590"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 WHY I'M OPTIMISTIC</a:t>
            </a:r>
            <a:endParaRPr lang="en-US" sz="1300" dirty="0"/>
          </a:p>
        </p:txBody>
      </p:sp>
      <p:sp>
        <p:nvSpPr>
          <p:cNvPr id="5" name="Text 2"/>
          <p:cNvSpPr/>
          <p:nvPr>
            <p:ph type="title"/>
          </p:nvPr>
        </p:nvSpPr>
        <p:spPr>
          <a:xfrm>
            <a:off x="6426200" y="2107605"/>
            <a:ext cx="5101590"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AI makes the first version cheap again</a:t>
            </a:r>
            <a:endParaRPr lang="en-US" sz="3600" dirty="0"/>
          </a:p>
        </p:txBody>
      </p:sp>
      <p:sp>
        <p:nvSpPr>
          <p:cNvPr id="6" name="Shape 3"/>
          <p:cNvSpPr/>
          <p:nvPr/>
        </p:nvSpPr>
        <p:spPr>
          <a:xfrm>
            <a:off x="6426200" y="3319661"/>
            <a:ext cx="4953000" cy="0"/>
          </a:xfrm>
          <a:prstGeom prst="line">
            <a:avLst/>
          </a:prstGeom>
          <a:noFill/>
          <a:ln w="6350">
            <a:solidFill>
              <a:srgbClr val="2C323A"/>
            </a:solidFill>
            <a:prstDash val="solid"/>
          </a:ln>
        </p:spPr>
      </p:sp>
      <p:sp>
        <p:nvSpPr>
          <p:cNvPr id="7" name="Text 4"/>
          <p:cNvSpPr/>
          <p:nvPr/>
        </p:nvSpPr>
        <p:spPr>
          <a:xfrm>
            <a:off x="6426200" y="3449836"/>
            <a:ext cx="812800" cy="3098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JetBrains Mono" pitchFamily="49" charset="0"/>
                <a:ea typeface="JetBrains Mono" pitchFamily="49" charset="-122"/>
                <a:cs typeface="JetBrains Mono" pitchFamily="49" charset="-120"/>
              </a:rPr>
              <a:t>THEN</a:t>
            </a:r>
            <a:endParaRPr lang="en-US" sz="1200" dirty="0"/>
          </a:p>
        </p:txBody>
      </p:sp>
      <p:sp>
        <p:nvSpPr>
          <p:cNvPr id="8" name="Text 5"/>
          <p:cNvSpPr/>
          <p:nvPr/>
        </p:nvSpPr>
        <p:spPr>
          <a:xfrm>
            <a:off x="7340600" y="3449836"/>
            <a:ext cx="260699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4F6"/>
                </a:solidFill>
                <a:latin typeface="IBM Plex Sans" pitchFamily="34" charset="0"/>
                <a:ea typeface="IBM Plex Sans" pitchFamily="34" charset="-122"/>
                <a:cs typeface="IBM Plex Sans" pitchFamily="34" charset="-120"/>
              </a:rPr>
              <a:t>"Show me it's possible."</a:t>
            </a:r>
            <a:endParaRPr lang="en-US" sz="1600" dirty="0"/>
          </a:p>
        </p:txBody>
      </p:sp>
      <p:sp>
        <p:nvSpPr>
          <p:cNvPr id="9" name="Shape 6"/>
          <p:cNvSpPr/>
          <p:nvPr/>
        </p:nvSpPr>
        <p:spPr>
          <a:xfrm>
            <a:off x="6426200" y="3864471"/>
            <a:ext cx="4953000" cy="0"/>
          </a:xfrm>
          <a:prstGeom prst="line">
            <a:avLst/>
          </a:prstGeom>
          <a:noFill/>
          <a:ln w="6350">
            <a:solidFill>
              <a:srgbClr val="2C323A"/>
            </a:solidFill>
            <a:prstDash val="solid"/>
          </a:ln>
        </p:spPr>
      </p:sp>
      <p:sp>
        <p:nvSpPr>
          <p:cNvPr id="10" name="Shape 7"/>
          <p:cNvSpPr/>
          <p:nvPr/>
        </p:nvSpPr>
        <p:spPr>
          <a:xfrm>
            <a:off x="6426200" y="4409281"/>
            <a:ext cx="4953000" cy="0"/>
          </a:xfrm>
          <a:prstGeom prst="line">
            <a:avLst/>
          </a:prstGeom>
          <a:noFill/>
          <a:ln w="6350">
            <a:solidFill>
              <a:srgbClr val="2C323A"/>
            </a:solidFill>
            <a:prstDash val="solid"/>
          </a:ln>
        </p:spPr>
      </p:sp>
      <p:sp>
        <p:nvSpPr>
          <p:cNvPr id="11" name="Text 8"/>
          <p:cNvSpPr/>
          <p:nvPr/>
        </p:nvSpPr>
        <p:spPr>
          <a:xfrm>
            <a:off x="6426200" y="3994646"/>
            <a:ext cx="812800" cy="3098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A8E8"/>
                </a:solidFill>
                <a:latin typeface="JetBrains Mono" pitchFamily="49" charset="0"/>
                <a:ea typeface="JetBrains Mono" pitchFamily="49" charset="-122"/>
                <a:cs typeface="JetBrains Mono" pitchFamily="49" charset="-120"/>
              </a:rPr>
              <a:t>NOW</a:t>
            </a:r>
            <a:endParaRPr lang="en-US" sz="1200" dirty="0"/>
          </a:p>
        </p:txBody>
      </p:sp>
      <p:sp>
        <p:nvSpPr>
          <p:cNvPr id="12" name="Text 9"/>
          <p:cNvSpPr/>
          <p:nvPr/>
        </p:nvSpPr>
        <p:spPr>
          <a:xfrm>
            <a:off x="7340600" y="3994646"/>
            <a:ext cx="25654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4F6"/>
                </a:solidFill>
                <a:latin typeface="IBM Plex Sans" pitchFamily="34" charset="0"/>
                <a:ea typeface="IBM Plex Sans" pitchFamily="34" charset="-122"/>
                <a:cs typeface="IBM Plex Sans" pitchFamily="34" charset="-120"/>
              </a:rPr>
              <a:t>"Show me it's finished."</a:t>
            </a:r>
            <a:endParaRPr lang="en-US" sz="1600" dirty="0"/>
          </a:p>
        </p:txBody>
      </p:sp>
      <p:sp>
        <p:nvSpPr>
          <p:cNvPr id="13" name="Text 10"/>
          <p:cNvSpPr/>
          <p:nvPr/>
        </p:nvSpPr>
        <p:spPr>
          <a:xfrm>
            <a:off x="6426200" y="4615656"/>
            <a:ext cx="51015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Don't skip the step where you learn. Use cheap AI drafts to greybox faster, not to skip the greybox.</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LIVE DEMO · BLENDER + CLAUDE</a:t>
            </a:r>
            <a:endParaRPr lang="en-US" sz="1300" dirty="0"/>
          </a:p>
        </p:txBody>
      </p:sp>
      <p:sp>
        <p:nvSpPr>
          <p:cNvPr id="3" name="Text 1"/>
          <p:cNvSpPr/>
          <p:nvPr>
            <p:ph type="title"/>
          </p:nvPr>
        </p:nvSpPr>
        <p:spPr>
          <a:xfrm>
            <a:off x="812800" y="1170880"/>
            <a:ext cx="11379200"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Describe it in words, watch it appear in Blender</a:t>
            </a:r>
            <a:endParaRPr lang="en-US" sz="3600" dirty="0"/>
          </a:p>
        </p:txBody>
      </p:sp>
      <p:sp>
        <p:nvSpPr>
          <p:cNvPr id="4" name="Shape 2"/>
          <p:cNvSpPr/>
          <p:nvPr/>
        </p:nvSpPr>
        <p:spPr>
          <a:xfrm>
            <a:off x="812800" y="1978521"/>
            <a:ext cx="5181600" cy="2214860"/>
          </a:xfrm>
          <a:prstGeom prst="roundRect">
            <a:avLst>
              <a:gd name="adj" fmla="val 5734"/>
            </a:avLst>
          </a:prstGeom>
          <a:solidFill>
            <a:srgbClr val="1A1E24"/>
          </a:solidFill>
          <a:ln/>
        </p:spPr>
      </p:sp>
      <p:sp>
        <p:nvSpPr>
          <p:cNvPr id="5" name="Text 3"/>
          <p:cNvSpPr/>
          <p:nvPr/>
        </p:nvSpPr>
        <p:spPr>
          <a:xfrm>
            <a:off x="1066800" y="2232521"/>
            <a:ext cx="481380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How it works</a:t>
            </a:r>
            <a:endParaRPr lang="en-US" sz="2200" dirty="0"/>
          </a:p>
        </p:txBody>
      </p:sp>
      <p:sp>
        <p:nvSpPr>
          <p:cNvPr id="6" name="Text 4"/>
          <p:cNvSpPr/>
          <p:nvPr/>
        </p:nvSpPr>
        <p:spPr>
          <a:xfrm>
            <a:off x="1066800" y="2694781"/>
            <a:ext cx="4813808" cy="9091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7C0CC"/>
                </a:solidFill>
                <a:latin typeface="IBM Plex Sans" pitchFamily="34" charset="0"/>
                <a:ea typeface="IBM Plex Sans" pitchFamily="34" charset="-122"/>
                <a:cs typeface="IBM Plex Sans" pitchFamily="34" charset="-120"/>
              </a:rPr>
              <a:t>The </a:t>
            </a:r>
            <a:r>
              <a:rPr lang="en-US" sz="1600" b="1" dirty="0">
                <a:solidFill>
                  <a:srgbClr val="F3F4F6"/>
                </a:solidFill>
                <a:latin typeface="IBM Plex Sans" pitchFamily="34" charset="0"/>
                <a:ea typeface="IBM Plex Sans" pitchFamily="34" charset="-122"/>
                <a:cs typeface="IBM Plex Sans" pitchFamily="34" charset="-120"/>
              </a:rPr>
              <a:t>Model Context Protocol (MCP)</a:t>
            </a:r>
            <a:r>
              <a:rPr lang="en-US" sz="1600" dirty="0">
                <a:solidFill>
                  <a:srgbClr val="B7C0CC"/>
                </a:solidFill>
                <a:latin typeface="IBM Plex Sans" pitchFamily="34" charset="0"/>
                <a:ea typeface="IBM Plex Sans" pitchFamily="34" charset="-122"/>
                <a:cs typeface="IBM Plex Sans" pitchFamily="34" charset="-120"/>
              </a:rPr>
              <a:t> connects Claude to Blender. Claude reads your scene, writes Blender Python, runs it, and checks the result.</a:t>
            </a:r>
            <a:endParaRPr lang="en-US" sz="1600" dirty="0"/>
          </a:p>
        </p:txBody>
      </p:sp>
      <p:sp>
        <p:nvSpPr>
          <p:cNvPr id="7" name="Shape 5"/>
          <p:cNvSpPr/>
          <p:nvPr/>
        </p:nvSpPr>
        <p:spPr>
          <a:xfrm>
            <a:off x="6203950" y="1984871"/>
            <a:ext cx="5168900" cy="2202160"/>
          </a:xfrm>
          <a:prstGeom prst="roundRect">
            <a:avLst>
              <a:gd name="adj" fmla="val 5479"/>
            </a:avLst>
          </a:prstGeom>
          <a:solidFill>
            <a:srgbClr val="1A1E24"/>
          </a:solidFill>
          <a:ln w="12700">
            <a:solidFill>
              <a:srgbClr val="00A8E8"/>
            </a:solidFill>
            <a:prstDash val="solid"/>
          </a:ln>
        </p:spPr>
      </p:sp>
      <p:sp>
        <p:nvSpPr>
          <p:cNvPr id="8" name="Text 6"/>
          <p:cNvSpPr/>
          <p:nvPr/>
        </p:nvSpPr>
        <p:spPr>
          <a:xfrm>
            <a:off x="6464300" y="2245221"/>
            <a:ext cx="478764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What we'll do</a:t>
            </a:r>
            <a:endParaRPr lang="en-US" sz="2200" dirty="0"/>
          </a:p>
        </p:txBody>
      </p:sp>
      <p:sp>
        <p:nvSpPr>
          <p:cNvPr id="9" name="Text 7"/>
          <p:cNvSpPr/>
          <p:nvPr/>
        </p:nvSpPr>
        <p:spPr>
          <a:xfrm>
            <a:off x="6464300" y="2707481"/>
            <a:ext cx="4787646" cy="12446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1. Build a lantern from the asset list</a:t>
            </a:r>
            <a:endParaRPr lang="en-US" sz="1600" dirty="0"/>
          </a:p>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2. Fix scale, pivot and names</a:t>
            </a:r>
            <a:endParaRPr lang="en-US" sz="1600" dirty="0"/>
          </a:p>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3. Export a GLB</a:t>
            </a:r>
            <a:endParaRPr lang="en-US" sz="1600" dirty="0"/>
          </a:p>
          <a:p>
            <a:pPr algn="l" indent="0" marL="0">
              <a:lnSpc>
                <a:spcPts val="2400"/>
              </a:lnSpc>
              <a:buNone/>
            </a:pPr>
            <a:r>
              <a:rPr lang="en-US" sz="1600" dirty="0">
                <a:solidFill>
                  <a:srgbClr val="B7C0CC"/>
                </a:solidFill>
                <a:latin typeface="IBM Plex Sans" pitchFamily="34" charset="0"/>
                <a:ea typeface="IBM Plex Sans" pitchFamily="34" charset="-122"/>
                <a:cs typeface="IBM Plex Sans" pitchFamily="34" charset="-120"/>
              </a:rPr>
              <a:t>4. Import it into the World Seed editor</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CC"/>
                </a:solidFill>
                <a:latin typeface="IBM Plex Sans" pitchFamily="34" charset="0"/>
                <a:ea typeface="IBM Plex Sans" pitchFamily="34" charset="-122"/>
                <a:cs typeface="IBM Plex Sans" pitchFamily="34" charset="-120"/>
              </a:rPr>
              <a:t>Official Blender Lab MCP server (Blender 5.1+) · community "MCP for Blender" adds Poly Haven, Sketchfab and AI model generation</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LIVE DEMO · COMFYUI</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One node graph: images, video and 3D</a:t>
            </a:r>
            <a:endParaRPr lang="en-US" sz="3600" dirty="0"/>
          </a:p>
        </p:txBody>
      </p:sp>
      <p:sp>
        <p:nvSpPr>
          <p:cNvPr id="4" name="Shape 2"/>
          <p:cNvSpPr/>
          <p:nvPr/>
        </p:nvSpPr>
        <p:spPr>
          <a:xfrm>
            <a:off x="812800" y="1978521"/>
            <a:ext cx="3420467" cy="1996380"/>
          </a:xfrm>
          <a:prstGeom prst="roundRect">
            <a:avLst>
              <a:gd name="adj" fmla="val 6362"/>
            </a:avLst>
          </a:prstGeom>
          <a:solidFill>
            <a:srgbClr val="1A1E24"/>
          </a:solidFill>
          <a:ln/>
        </p:spPr>
      </p:sp>
      <p:sp>
        <p:nvSpPr>
          <p:cNvPr id="5" name="Shape 3"/>
          <p:cNvSpPr/>
          <p:nvPr/>
        </p:nvSpPr>
        <p:spPr>
          <a:xfrm>
            <a:off x="812800" y="1978521"/>
            <a:ext cx="3420467" cy="1996380"/>
          </a:xfrm>
          <a:custGeom>
            <a:avLst/>
            <a:gdLst/>
            <a:ahLst/>
            <a:cxnLst/>
            <a:rect l="l" t="t" r="r" b="b"/>
            <a:pathLst>
              <a:path w="3420467" h="1996380">
                <a:moveTo>
                  <a:pt x="0" y="127000"/>
                </a:moveTo>
                <a:lnTo>
                  <a:pt x="0" y="127000"/>
                </a:lnTo>
                <a:arcTo hR="127000" wR="127000" stAng="10800000" swAng="5400000"/>
                <a:lnTo>
                  <a:pt x="3293467" y="0"/>
                </a:lnTo>
                <a:arcTo hR="127000" wR="127000" stAng="16200000" swAng="5400000"/>
                <a:lnTo>
                  <a:pt x="3420467" y="127000"/>
                </a:lnTo>
                <a:arcTo hR="101600" wR="127000" stAng="0" swAng="-5400000"/>
                <a:lnTo>
                  <a:pt x="127000" y="25400"/>
                </a:lnTo>
                <a:arcTo hR="101600" wR="127000" stAng="16200000" swAng="-5400000"/>
                <a:close/>
              </a:path>
            </a:pathLst>
          </a:custGeom>
          <a:solidFill>
            <a:srgbClr val="00A8E8"/>
          </a:solidFill>
          <a:ln/>
        </p:spPr>
      </p:sp>
      <p:pic>
        <p:nvPicPr>
          <p:cNvPr id="6" name="Image 0" descr="Lightbulb">    </p:cNvPr>
          <p:cNvPicPr>
            <a:picLocks noChangeAspect="1"/>
          </p:cNvPicPr>
          <p:nvPr/>
        </p:nvPicPr>
        <p:blipFill>
          <a:blip r:embed="rId1"/>
          <a:srcRect l="0" r="0" t="0" b="0"/>
          <a:stretch/>
        </p:blipFill>
        <p:spPr>
          <a:xfrm>
            <a:off x="1066800" y="2257921"/>
            <a:ext cx="355600" cy="355600"/>
          </a:xfrm>
          <a:prstGeom prst="rect">
            <a:avLst/>
          </a:prstGeom>
        </p:spPr>
      </p:pic>
      <p:sp>
        <p:nvSpPr>
          <p:cNvPr id="7" name="Text 4"/>
          <p:cNvSpPr/>
          <p:nvPr/>
        </p:nvSpPr>
        <p:spPr>
          <a:xfrm>
            <a:off x="1066800" y="2715121"/>
            <a:ext cx="2999841"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Images</a:t>
            </a:r>
            <a:endParaRPr lang="en-US" sz="2200" dirty="0"/>
          </a:p>
        </p:txBody>
      </p:sp>
      <p:sp>
        <p:nvSpPr>
          <p:cNvPr id="8" name="Text 5"/>
          <p:cNvSpPr/>
          <p:nvPr/>
        </p:nvSpPr>
        <p:spPr>
          <a:xfrm>
            <a:off x="1066800" y="3151981"/>
            <a:ext cx="299984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Concept art, mood boards, textures and skyboxes</a:t>
            </a:r>
            <a:endParaRPr lang="en-US" sz="1600" dirty="0"/>
          </a:p>
        </p:txBody>
      </p:sp>
      <p:sp>
        <p:nvSpPr>
          <p:cNvPr id="9" name="Shape 6"/>
          <p:cNvSpPr/>
          <p:nvPr/>
        </p:nvSpPr>
        <p:spPr>
          <a:xfrm>
            <a:off x="4385667" y="1978521"/>
            <a:ext cx="3420566" cy="1996380"/>
          </a:xfrm>
          <a:prstGeom prst="roundRect">
            <a:avLst>
              <a:gd name="adj" fmla="val 6362"/>
            </a:avLst>
          </a:prstGeom>
          <a:solidFill>
            <a:srgbClr val="1A1E24"/>
          </a:solidFill>
          <a:ln/>
        </p:spPr>
      </p:sp>
      <p:sp>
        <p:nvSpPr>
          <p:cNvPr id="10" name="Shape 7"/>
          <p:cNvSpPr/>
          <p:nvPr/>
        </p:nvSpPr>
        <p:spPr>
          <a:xfrm>
            <a:off x="4385667" y="1978521"/>
            <a:ext cx="3420566" cy="1996380"/>
          </a:xfrm>
          <a:custGeom>
            <a:avLst/>
            <a:gdLst/>
            <a:ahLst/>
            <a:cxnLst/>
            <a:rect l="l" t="t" r="r" b="b"/>
            <a:pathLst>
              <a:path w="3420566" h="1996380">
                <a:moveTo>
                  <a:pt x="0" y="127000"/>
                </a:moveTo>
                <a:lnTo>
                  <a:pt x="0" y="127000"/>
                </a:lnTo>
                <a:arcTo hR="127000" wR="127000" stAng="10800000" swAng="5400000"/>
                <a:lnTo>
                  <a:pt x="3293566" y="0"/>
                </a:lnTo>
                <a:arcTo hR="127000" wR="127000" stAng="16200000" swAng="5400000"/>
                <a:lnTo>
                  <a:pt x="3420566" y="127000"/>
                </a:lnTo>
                <a:arcTo hR="101600" wR="127000" stAng="0" swAng="-5400000"/>
                <a:lnTo>
                  <a:pt x="127000" y="25400"/>
                </a:lnTo>
                <a:arcTo hR="101600" wR="127000" stAng="16200000" swAng="-5400000"/>
                <a:close/>
              </a:path>
            </a:pathLst>
          </a:custGeom>
          <a:solidFill>
            <a:srgbClr val="00A8E8"/>
          </a:solidFill>
          <a:ln/>
        </p:spPr>
      </p:sp>
      <p:pic>
        <p:nvPicPr>
          <p:cNvPr id="11" name="Image 1" descr="Play">    </p:cNvPr>
          <p:cNvPicPr>
            <a:picLocks noChangeAspect="1"/>
          </p:cNvPicPr>
          <p:nvPr/>
        </p:nvPicPr>
        <p:blipFill>
          <a:blip r:embed="rId2"/>
          <a:srcRect l="0" r="0" t="0" b="0"/>
          <a:stretch/>
        </p:blipFill>
        <p:spPr>
          <a:xfrm>
            <a:off x="4639667" y="2257921"/>
            <a:ext cx="355600" cy="355600"/>
          </a:xfrm>
          <a:prstGeom prst="rect">
            <a:avLst/>
          </a:prstGeom>
        </p:spPr>
      </p:pic>
      <p:sp>
        <p:nvSpPr>
          <p:cNvPr id="12" name="Text 8"/>
          <p:cNvSpPr/>
          <p:nvPr/>
        </p:nvSpPr>
        <p:spPr>
          <a:xfrm>
            <a:off x="4639667" y="2715121"/>
            <a:ext cx="299994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Video</a:t>
            </a:r>
            <a:endParaRPr lang="en-US" sz="2200" dirty="0"/>
          </a:p>
        </p:txBody>
      </p:sp>
      <p:sp>
        <p:nvSpPr>
          <p:cNvPr id="13" name="Text 9"/>
          <p:cNvSpPr/>
          <p:nvPr/>
        </p:nvSpPr>
        <p:spPr>
          <a:xfrm>
            <a:off x="4639667" y="3151981"/>
            <a:ext cx="299994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Animatics, mood clips, trailer beats</a:t>
            </a:r>
            <a:endParaRPr lang="en-US" sz="1600" dirty="0"/>
          </a:p>
        </p:txBody>
      </p:sp>
      <p:sp>
        <p:nvSpPr>
          <p:cNvPr id="14" name="Shape 10"/>
          <p:cNvSpPr/>
          <p:nvPr/>
        </p:nvSpPr>
        <p:spPr>
          <a:xfrm>
            <a:off x="7958634" y="1978521"/>
            <a:ext cx="3420566" cy="1996380"/>
          </a:xfrm>
          <a:prstGeom prst="roundRect">
            <a:avLst>
              <a:gd name="adj" fmla="val 6362"/>
            </a:avLst>
          </a:prstGeom>
          <a:solidFill>
            <a:srgbClr val="1A1E24"/>
          </a:solidFill>
          <a:ln/>
        </p:spPr>
      </p:sp>
      <p:sp>
        <p:nvSpPr>
          <p:cNvPr id="15" name="Shape 11"/>
          <p:cNvSpPr/>
          <p:nvPr/>
        </p:nvSpPr>
        <p:spPr>
          <a:xfrm>
            <a:off x="7958634" y="1978521"/>
            <a:ext cx="3420566" cy="1996380"/>
          </a:xfrm>
          <a:custGeom>
            <a:avLst/>
            <a:gdLst/>
            <a:ahLst/>
            <a:cxnLst/>
            <a:rect l="l" t="t" r="r" b="b"/>
            <a:pathLst>
              <a:path w="3420566" h="1996380">
                <a:moveTo>
                  <a:pt x="0" y="127000"/>
                </a:moveTo>
                <a:lnTo>
                  <a:pt x="0" y="127000"/>
                </a:lnTo>
                <a:arcTo hR="127000" wR="127000" stAng="10800000" swAng="5400000"/>
                <a:lnTo>
                  <a:pt x="3293566" y="0"/>
                </a:lnTo>
                <a:arcTo hR="127000" wR="127000" stAng="16200000" swAng="5400000"/>
                <a:lnTo>
                  <a:pt x="3420566" y="127000"/>
                </a:lnTo>
                <a:arcTo hR="101600" wR="127000" stAng="0" swAng="-5400000"/>
                <a:lnTo>
                  <a:pt x="127000" y="25400"/>
                </a:lnTo>
                <a:arcTo hR="101600" wR="127000" stAng="16200000" swAng="-5400000"/>
                <a:close/>
              </a:path>
            </a:pathLst>
          </a:custGeom>
          <a:solidFill>
            <a:srgbClr val="00A8E8"/>
          </a:solidFill>
          <a:ln/>
        </p:spPr>
      </p:sp>
      <p:pic>
        <p:nvPicPr>
          <p:cNvPr id="16" name="Image 2" descr="Globe">    </p:cNvPr>
          <p:cNvPicPr>
            <a:picLocks noChangeAspect="1"/>
          </p:cNvPicPr>
          <p:nvPr/>
        </p:nvPicPr>
        <p:blipFill>
          <a:blip r:embed="rId3"/>
          <a:srcRect l="0" r="0" t="0" b="0"/>
          <a:stretch/>
        </p:blipFill>
        <p:spPr>
          <a:xfrm>
            <a:off x="8212634" y="2257921"/>
            <a:ext cx="355600" cy="355600"/>
          </a:xfrm>
          <a:prstGeom prst="rect">
            <a:avLst/>
          </a:prstGeom>
        </p:spPr>
      </p:pic>
      <p:sp>
        <p:nvSpPr>
          <p:cNvPr id="17" name="Text 12"/>
          <p:cNvSpPr/>
          <p:nvPr/>
        </p:nvSpPr>
        <p:spPr>
          <a:xfrm>
            <a:off x="8212634" y="2715121"/>
            <a:ext cx="299994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3D</a:t>
            </a:r>
            <a:endParaRPr lang="en-US" sz="2200" dirty="0"/>
          </a:p>
        </p:txBody>
      </p:sp>
      <p:sp>
        <p:nvSpPr>
          <p:cNvPr id="18" name="Text 13"/>
          <p:cNvSpPr/>
          <p:nvPr/>
        </p:nvSpPr>
        <p:spPr>
          <a:xfrm>
            <a:off x="8212634" y="3151981"/>
            <a:ext cx="299994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Image to textured mesh, then clean-up in Blender</a:t>
            </a:r>
            <a:endParaRPr lang="en-US" sz="1600" dirty="0"/>
          </a:p>
        </p:txBody>
      </p:sp>
      <p:sp>
        <p:nvSpPr>
          <p:cNvPr id="19" name="Text 14"/>
          <p:cNvSpPr/>
          <p:nvPr/>
        </p:nvSpPr>
        <p:spPr>
          <a:xfrm>
            <a:off x="812800" y="42797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4F6"/>
                </a:solidFill>
                <a:latin typeface="IBM Plex Sans" pitchFamily="34" charset="0"/>
                <a:ea typeface="IBM Plex Sans" pitchFamily="34" charset="-122"/>
                <a:cs typeface="IBM Plex Sans" pitchFamily="34" charset="-120"/>
              </a:rPr>
              <a:t>Runs on your own GPU. Every step is a visible node, so you can see and share the whole recipe.</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Four guardrails for AI-made assets</a:t>
            </a:r>
            <a:endParaRPr lang="en-US" sz="3600" dirty="0"/>
          </a:p>
        </p:txBody>
      </p:sp>
      <p:sp>
        <p:nvSpPr>
          <p:cNvPr id="3" name="Shape 1"/>
          <p:cNvSpPr/>
          <p:nvPr/>
        </p:nvSpPr>
        <p:spPr>
          <a:xfrm>
            <a:off x="815975" y="1623616"/>
            <a:ext cx="5200650" cy="1423491"/>
          </a:xfrm>
          <a:prstGeom prst="roundRect">
            <a:avLst>
              <a:gd name="adj" fmla="val 6914"/>
            </a:avLst>
          </a:prstGeom>
          <a:solidFill>
            <a:srgbClr val="FBFBFC"/>
          </a:solidFill>
          <a:ln w="6350">
            <a:solidFill>
              <a:srgbClr val="DDE1E6"/>
            </a:solidFill>
            <a:prstDash val="solid"/>
          </a:ln>
        </p:spPr>
      </p:sp>
      <p:sp>
        <p:nvSpPr>
          <p:cNvPr id="4" name="Text 2"/>
          <p:cNvSpPr/>
          <p:nvPr/>
        </p:nvSpPr>
        <p:spPr>
          <a:xfrm>
            <a:off x="1047750" y="1855391"/>
            <a:ext cx="487921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Check the model's licence</a:t>
            </a:r>
            <a:endParaRPr lang="en-US" sz="2200" dirty="0"/>
          </a:p>
        </p:txBody>
      </p:sp>
      <p:sp>
        <p:nvSpPr>
          <p:cNvPr id="5" name="Text 3"/>
          <p:cNvSpPr/>
          <p:nvPr/>
        </p:nvSpPr>
        <p:spPr>
          <a:xfrm>
            <a:off x="1047750" y="2266851"/>
            <a:ext cx="487921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Not just the output: some models restrict commercial use</a:t>
            </a:r>
            <a:endParaRPr lang="en-US" sz="1600" dirty="0"/>
          </a:p>
        </p:txBody>
      </p:sp>
      <p:sp>
        <p:nvSpPr>
          <p:cNvPr id="6" name="Shape 4"/>
          <p:cNvSpPr/>
          <p:nvPr/>
        </p:nvSpPr>
        <p:spPr>
          <a:xfrm>
            <a:off x="6175375" y="1623616"/>
            <a:ext cx="5200650" cy="1423491"/>
          </a:xfrm>
          <a:prstGeom prst="roundRect">
            <a:avLst>
              <a:gd name="adj" fmla="val 6914"/>
            </a:avLst>
          </a:prstGeom>
          <a:solidFill>
            <a:srgbClr val="FBFBFC"/>
          </a:solidFill>
          <a:ln w="6350">
            <a:solidFill>
              <a:srgbClr val="DDE1E6"/>
            </a:solidFill>
            <a:prstDash val="solid"/>
          </a:ln>
        </p:spPr>
      </p:sp>
      <p:sp>
        <p:nvSpPr>
          <p:cNvPr id="7" name="Text 5"/>
          <p:cNvSpPr/>
          <p:nvPr/>
        </p:nvSpPr>
        <p:spPr>
          <a:xfrm>
            <a:off x="6407150" y="1855391"/>
            <a:ext cx="487921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Ask before you generate</a:t>
            </a:r>
            <a:endParaRPr lang="en-US" sz="2200" dirty="0"/>
          </a:p>
        </p:txBody>
      </p:sp>
      <p:sp>
        <p:nvSpPr>
          <p:cNvPr id="8" name="Text 6"/>
          <p:cNvSpPr/>
          <p:nvPr/>
        </p:nvSpPr>
        <p:spPr>
          <a:xfrm>
            <a:off x="6407150" y="2266851"/>
            <a:ext cx="487921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No real people, logos or cultural designs without permission</a:t>
            </a:r>
            <a:endParaRPr lang="en-US" sz="1600" dirty="0"/>
          </a:p>
        </p:txBody>
      </p:sp>
      <p:sp>
        <p:nvSpPr>
          <p:cNvPr id="9" name="Shape 7"/>
          <p:cNvSpPr/>
          <p:nvPr/>
        </p:nvSpPr>
        <p:spPr>
          <a:xfrm>
            <a:off x="815975" y="3205857"/>
            <a:ext cx="5200650" cy="1423491"/>
          </a:xfrm>
          <a:prstGeom prst="roundRect">
            <a:avLst>
              <a:gd name="adj" fmla="val 6914"/>
            </a:avLst>
          </a:prstGeom>
          <a:solidFill>
            <a:srgbClr val="FBFBFC"/>
          </a:solidFill>
          <a:ln w="6350">
            <a:solidFill>
              <a:srgbClr val="DDE1E6"/>
            </a:solidFill>
            <a:prstDash val="solid"/>
          </a:ln>
        </p:spPr>
      </p:sp>
      <p:sp>
        <p:nvSpPr>
          <p:cNvPr id="10" name="Text 8"/>
          <p:cNvSpPr/>
          <p:nvPr/>
        </p:nvSpPr>
        <p:spPr>
          <a:xfrm>
            <a:off x="1047750" y="3437632"/>
            <a:ext cx="487921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Label it</a:t>
            </a:r>
            <a:endParaRPr lang="en-US" sz="2200" dirty="0"/>
          </a:p>
        </p:txBody>
      </p:sp>
      <p:sp>
        <p:nvSpPr>
          <p:cNvPr id="11" name="Text 9"/>
          <p:cNvSpPr/>
          <p:nvPr/>
        </p:nvSpPr>
        <p:spPr>
          <a:xfrm>
            <a:off x="1047750" y="3849092"/>
            <a:ext cx="4879213"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Mark AI-generated assets in your licence ledger</a:t>
            </a:r>
            <a:endParaRPr lang="en-US" sz="1600" dirty="0"/>
          </a:p>
        </p:txBody>
      </p:sp>
      <p:sp>
        <p:nvSpPr>
          <p:cNvPr id="12" name="Shape 10"/>
          <p:cNvSpPr/>
          <p:nvPr/>
        </p:nvSpPr>
        <p:spPr>
          <a:xfrm>
            <a:off x="6175375" y="3205857"/>
            <a:ext cx="5200650" cy="1423491"/>
          </a:xfrm>
          <a:prstGeom prst="roundRect">
            <a:avLst>
              <a:gd name="adj" fmla="val 6914"/>
            </a:avLst>
          </a:prstGeom>
          <a:solidFill>
            <a:srgbClr val="FBFBFC"/>
          </a:solidFill>
          <a:ln w="6350">
            <a:solidFill>
              <a:srgbClr val="DDE1E6"/>
            </a:solidFill>
            <a:prstDash val="solid"/>
          </a:ln>
        </p:spPr>
      </p:sp>
      <p:sp>
        <p:nvSpPr>
          <p:cNvPr id="13" name="Text 11"/>
          <p:cNvSpPr/>
          <p:nvPr/>
        </p:nvSpPr>
        <p:spPr>
          <a:xfrm>
            <a:off x="6407150" y="3437632"/>
            <a:ext cx="487921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Clean it up</a:t>
            </a:r>
            <a:endParaRPr lang="en-US" sz="2200" dirty="0"/>
          </a:p>
        </p:txBody>
      </p:sp>
      <p:sp>
        <p:nvSpPr>
          <p:cNvPr id="14" name="Text 12"/>
          <p:cNvSpPr/>
          <p:nvPr/>
        </p:nvSpPr>
        <p:spPr>
          <a:xfrm>
            <a:off x="6407150" y="3849092"/>
            <a:ext cx="487921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260"/>
                </a:solidFill>
                <a:latin typeface="IBM Plex Sans" pitchFamily="34" charset="0"/>
                <a:ea typeface="IBM Plex Sans" pitchFamily="34" charset="-122"/>
                <a:cs typeface="IBM Plex Sans" pitchFamily="34" charset="-120"/>
              </a:rPr>
              <a:t>Fix scale, triangle count, holes and UVs before it ships</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BUILD</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Build in stages — greybox first, polish last</a:t>
            </a:r>
            <a:endParaRPr lang="en-US" sz="3600" dirty="0"/>
          </a:p>
        </p:txBody>
      </p:sp>
      <p:sp>
        <p:nvSpPr>
          <p:cNvPr id="4" name="Shape 2"/>
          <p:cNvSpPr/>
          <p:nvPr/>
        </p:nvSpPr>
        <p:spPr>
          <a:xfrm>
            <a:off x="812800" y="1978521"/>
            <a:ext cx="2032000" cy="1681262"/>
          </a:xfrm>
          <a:prstGeom prst="roundRect">
            <a:avLst>
              <a:gd name="adj" fmla="val 6043"/>
            </a:avLst>
          </a:prstGeom>
          <a:solidFill>
            <a:srgbClr val="2A2E34"/>
          </a:solidFill>
          <a:ln/>
        </p:spPr>
      </p:sp>
      <p:sp>
        <p:nvSpPr>
          <p:cNvPr id="5" name="Text 3"/>
          <p:cNvSpPr/>
          <p:nvPr/>
        </p:nvSpPr>
        <p:spPr>
          <a:xfrm>
            <a:off x="990600" y="2181721"/>
            <a:ext cx="17272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7C0CC"/>
                </a:solidFill>
                <a:latin typeface="JetBrains Mono" pitchFamily="49" charset="0"/>
                <a:ea typeface="JetBrains Mono" pitchFamily="49" charset="-122"/>
                <a:cs typeface="JetBrains Mono" pitchFamily="49" charset="-120"/>
              </a:rPr>
              <a:t>1</a:t>
            </a:r>
            <a:endParaRPr lang="en-US" sz="2200" dirty="0"/>
          </a:p>
        </p:txBody>
      </p:sp>
      <p:sp>
        <p:nvSpPr>
          <p:cNvPr id="6" name="Text 4"/>
          <p:cNvSpPr/>
          <p:nvPr/>
        </p:nvSpPr>
        <p:spPr>
          <a:xfrm>
            <a:off x="990600" y="2661741"/>
            <a:ext cx="1727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Greybox</a:t>
            </a:r>
            <a:endParaRPr lang="en-US" sz="1600" dirty="0"/>
          </a:p>
        </p:txBody>
      </p:sp>
      <p:sp>
        <p:nvSpPr>
          <p:cNvPr id="7" name="Text 5"/>
          <p:cNvSpPr/>
          <p:nvPr/>
        </p:nvSpPr>
        <p:spPr>
          <a:xfrm>
            <a:off x="990600" y="2994422"/>
            <a:ext cx="17272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Prove layout, scale and flow with boxes</a:t>
            </a:r>
            <a:endParaRPr lang="en-US" sz="1300" dirty="0"/>
          </a:p>
        </p:txBody>
      </p:sp>
      <p:sp>
        <p:nvSpPr>
          <p:cNvPr id="8" name="Shape 6"/>
          <p:cNvSpPr/>
          <p:nvPr/>
        </p:nvSpPr>
        <p:spPr>
          <a:xfrm>
            <a:off x="2946400" y="1978521"/>
            <a:ext cx="2032000" cy="1681262"/>
          </a:xfrm>
          <a:prstGeom prst="roundRect">
            <a:avLst>
              <a:gd name="adj" fmla="val 6043"/>
            </a:avLst>
          </a:prstGeom>
          <a:solidFill>
            <a:srgbClr val="26303D"/>
          </a:solidFill>
          <a:ln/>
        </p:spPr>
      </p:sp>
      <p:sp>
        <p:nvSpPr>
          <p:cNvPr id="9" name="Text 7"/>
          <p:cNvSpPr/>
          <p:nvPr/>
        </p:nvSpPr>
        <p:spPr>
          <a:xfrm>
            <a:off x="3124200" y="2181721"/>
            <a:ext cx="17272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7C0CC"/>
                </a:solidFill>
                <a:latin typeface="JetBrains Mono" pitchFamily="49" charset="0"/>
                <a:ea typeface="JetBrains Mono" pitchFamily="49" charset="-122"/>
                <a:cs typeface="JetBrains Mono" pitchFamily="49" charset="-120"/>
              </a:rPr>
              <a:t>2</a:t>
            </a:r>
            <a:endParaRPr lang="en-US" sz="2200" dirty="0"/>
          </a:p>
        </p:txBody>
      </p:sp>
      <p:sp>
        <p:nvSpPr>
          <p:cNvPr id="10" name="Text 8"/>
          <p:cNvSpPr/>
          <p:nvPr/>
        </p:nvSpPr>
        <p:spPr>
          <a:xfrm>
            <a:off x="3124200" y="2661741"/>
            <a:ext cx="1727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Blockout</a:t>
            </a:r>
            <a:endParaRPr lang="en-US" sz="1600" dirty="0"/>
          </a:p>
        </p:txBody>
      </p:sp>
      <p:sp>
        <p:nvSpPr>
          <p:cNvPr id="11" name="Text 9"/>
          <p:cNvSpPr/>
          <p:nvPr/>
        </p:nvSpPr>
        <p:spPr>
          <a:xfrm>
            <a:off x="3124200" y="2994422"/>
            <a:ext cx="17272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Zones, paths, landmarks, sightlines</a:t>
            </a:r>
            <a:endParaRPr lang="en-US" sz="1300" dirty="0"/>
          </a:p>
        </p:txBody>
      </p:sp>
      <p:sp>
        <p:nvSpPr>
          <p:cNvPr id="12" name="Shape 10"/>
          <p:cNvSpPr/>
          <p:nvPr/>
        </p:nvSpPr>
        <p:spPr>
          <a:xfrm>
            <a:off x="5080000" y="1978521"/>
            <a:ext cx="2032000" cy="1681262"/>
          </a:xfrm>
          <a:prstGeom prst="roundRect">
            <a:avLst>
              <a:gd name="adj" fmla="val 6043"/>
            </a:avLst>
          </a:prstGeom>
          <a:solidFill>
            <a:srgbClr val="223246"/>
          </a:solidFill>
          <a:ln/>
        </p:spPr>
      </p:sp>
      <p:sp>
        <p:nvSpPr>
          <p:cNvPr id="13" name="Text 11"/>
          <p:cNvSpPr/>
          <p:nvPr/>
        </p:nvSpPr>
        <p:spPr>
          <a:xfrm>
            <a:off x="5257800" y="2181721"/>
            <a:ext cx="17272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7C0CC"/>
                </a:solidFill>
                <a:latin typeface="JetBrains Mono" pitchFamily="49" charset="0"/>
                <a:ea typeface="JetBrains Mono" pitchFamily="49" charset="-122"/>
                <a:cs typeface="JetBrains Mono" pitchFamily="49" charset="-120"/>
              </a:rPr>
              <a:t>3</a:t>
            </a:r>
            <a:endParaRPr lang="en-US" sz="2200" dirty="0"/>
          </a:p>
        </p:txBody>
      </p:sp>
      <p:sp>
        <p:nvSpPr>
          <p:cNvPr id="14" name="Text 12"/>
          <p:cNvSpPr/>
          <p:nvPr/>
        </p:nvSpPr>
        <p:spPr>
          <a:xfrm>
            <a:off x="5257800" y="2661741"/>
            <a:ext cx="1727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Art pass</a:t>
            </a:r>
            <a:endParaRPr lang="en-US" sz="1600" dirty="0"/>
          </a:p>
        </p:txBody>
      </p:sp>
      <p:sp>
        <p:nvSpPr>
          <p:cNvPr id="15" name="Text 13"/>
          <p:cNvSpPr/>
          <p:nvPr/>
        </p:nvSpPr>
        <p:spPr>
          <a:xfrm>
            <a:off x="5257800" y="2994422"/>
            <a:ext cx="17272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Palette, style, lighting from the brief</a:t>
            </a:r>
            <a:endParaRPr lang="en-US" sz="1300" dirty="0"/>
          </a:p>
        </p:txBody>
      </p:sp>
      <p:sp>
        <p:nvSpPr>
          <p:cNvPr id="16" name="Shape 14"/>
          <p:cNvSpPr/>
          <p:nvPr/>
        </p:nvSpPr>
        <p:spPr>
          <a:xfrm>
            <a:off x="7213600" y="1978521"/>
            <a:ext cx="2032000" cy="1681262"/>
          </a:xfrm>
          <a:prstGeom prst="roundRect">
            <a:avLst>
              <a:gd name="adj" fmla="val 6043"/>
            </a:avLst>
          </a:prstGeom>
          <a:solidFill>
            <a:srgbClr val="1D3554"/>
          </a:solidFill>
          <a:ln/>
        </p:spPr>
      </p:sp>
      <p:sp>
        <p:nvSpPr>
          <p:cNvPr id="17" name="Text 15"/>
          <p:cNvSpPr/>
          <p:nvPr/>
        </p:nvSpPr>
        <p:spPr>
          <a:xfrm>
            <a:off x="7391400" y="2181721"/>
            <a:ext cx="17272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7C0CC"/>
                </a:solidFill>
                <a:latin typeface="JetBrains Mono" pitchFamily="49" charset="0"/>
                <a:ea typeface="JetBrains Mono" pitchFamily="49" charset="-122"/>
                <a:cs typeface="JetBrains Mono" pitchFamily="49" charset="-120"/>
              </a:rPr>
              <a:t>4</a:t>
            </a:r>
            <a:endParaRPr lang="en-US" sz="2200" dirty="0"/>
          </a:p>
        </p:txBody>
      </p:sp>
      <p:sp>
        <p:nvSpPr>
          <p:cNvPr id="18" name="Text 16"/>
          <p:cNvSpPr/>
          <p:nvPr/>
        </p:nvSpPr>
        <p:spPr>
          <a:xfrm>
            <a:off x="7391400" y="2661741"/>
            <a:ext cx="1727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Life</a:t>
            </a:r>
            <a:endParaRPr lang="en-US" sz="1600" dirty="0"/>
          </a:p>
        </p:txBody>
      </p:sp>
      <p:sp>
        <p:nvSpPr>
          <p:cNvPr id="19" name="Text 17"/>
          <p:cNvSpPr/>
          <p:nvPr/>
        </p:nvSpPr>
        <p:spPr>
          <a:xfrm>
            <a:off x="7391400" y="2994422"/>
            <a:ext cx="17272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Interaction, audio, story beats</a:t>
            </a:r>
            <a:endParaRPr lang="en-US" sz="1300" dirty="0"/>
          </a:p>
        </p:txBody>
      </p:sp>
      <p:sp>
        <p:nvSpPr>
          <p:cNvPr id="20" name="Shape 18"/>
          <p:cNvSpPr/>
          <p:nvPr/>
        </p:nvSpPr>
        <p:spPr>
          <a:xfrm>
            <a:off x="9347200" y="1978521"/>
            <a:ext cx="2032000" cy="1681262"/>
          </a:xfrm>
          <a:prstGeom prst="roundRect">
            <a:avLst>
              <a:gd name="adj" fmla="val 6043"/>
            </a:avLst>
          </a:prstGeom>
          <a:solidFill>
            <a:srgbClr val="2A64C8"/>
          </a:solidFill>
          <a:ln/>
        </p:spPr>
      </p:sp>
      <p:sp>
        <p:nvSpPr>
          <p:cNvPr id="21" name="Text 19"/>
          <p:cNvSpPr/>
          <p:nvPr/>
        </p:nvSpPr>
        <p:spPr>
          <a:xfrm>
            <a:off x="9525000" y="2181721"/>
            <a:ext cx="17272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3F4F6"/>
                </a:solidFill>
                <a:latin typeface="JetBrains Mono" pitchFamily="49" charset="0"/>
                <a:ea typeface="JetBrains Mono" pitchFamily="49" charset="-122"/>
                <a:cs typeface="JetBrains Mono" pitchFamily="49" charset="-120"/>
              </a:rPr>
              <a:t>5</a:t>
            </a:r>
            <a:endParaRPr lang="en-US" sz="2200" dirty="0"/>
          </a:p>
        </p:txBody>
      </p:sp>
      <p:sp>
        <p:nvSpPr>
          <p:cNvPr id="22" name="Text 20"/>
          <p:cNvSpPr/>
          <p:nvPr/>
        </p:nvSpPr>
        <p:spPr>
          <a:xfrm>
            <a:off x="9525000" y="2661741"/>
            <a:ext cx="1727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Polish</a:t>
            </a:r>
            <a:endParaRPr lang="en-US" sz="1600" dirty="0"/>
          </a:p>
        </p:txBody>
      </p:sp>
      <p:sp>
        <p:nvSpPr>
          <p:cNvPr id="23" name="Text 21"/>
          <p:cNvSpPr/>
          <p:nvPr/>
        </p:nvSpPr>
        <p:spPr>
          <a:xfrm>
            <a:off x="9525000" y="2994422"/>
            <a:ext cx="17272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CFB"/>
                </a:solidFill>
                <a:latin typeface="IBM Plex Sans" pitchFamily="34" charset="0"/>
                <a:ea typeface="IBM Plex Sans" pitchFamily="34" charset="-122"/>
                <a:cs typeface="IBM Plex Sans" pitchFamily="34" charset="-120"/>
              </a:rPr>
              <a:t>Fog, particles, tuned to budget</a:t>
            </a:r>
            <a:endParaRPr lang="en-US" sz="1300" dirty="0"/>
          </a:p>
        </p:txBody>
      </p:sp>
      <p:sp>
        <p:nvSpPr>
          <p:cNvPr id="24" name="Text 22"/>
          <p:cNvSpPr/>
          <p:nvPr/>
        </p:nvSpPr>
        <p:spPr>
          <a:xfrm>
            <a:off x="812800" y="396458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Changing a box costs seconds. Changing a finished building costs days.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3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Habits that keep worlds buildable</a:t>
            </a:r>
            <a:endParaRPr lang="en-US" sz="3600" dirty="0"/>
          </a:p>
        </p:txBody>
      </p:sp>
      <p:sp>
        <p:nvSpPr>
          <p:cNvPr id="3" name="Shape 1"/>
          <p:cNvSpPr/>
          <p:nvPr/>
        </p:nvSpPr>
        <p:spPr>
          <a:xfrm>
            <a:off x="815975" y="1572816"/>
            <a:ext cx="2540000" cy="1425972"/>
          </a:xfrm>
          <a:prstGeom prst="roundRect">
            <a:avLst>
              <a:gd name="adj" fmla="val 6902"/>
            </a:avLst>
          </a:prstGeom>
          <a:solidFill>
            <a:srgbClr val="FBFBFC"/>
          </a:solidFill>
          <a:ln w="6350">
            <a:solidFill>
              <a:srgbClr val="DDE1E6"/>
            </a:solidFill>
            <a:prstDash val="solid"/>
          </a:ln>
        </p:spPr>
      </p:sp>
      <p:sp>
        <p:nvSpPr>
          <p:cNvPr id="4" name="Text 2"/>
          <p:cNvSpPr/>
          <p:nvPr/>
        </p:nvSpPr>
        <p:spPr>
          <a:xfrm>
            <a:off x="1022350" y="1779191"/>
            <a:ext cx="21910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Real scale</a:t>
            </a:r>
            <a:endParaRPr lang="en-US" sz="1600" dirty="0"/>
          </a:p>
        </p:txBody>
      </p:sp>
      <p:sp>
        <p:nvSpPr>
          <p:cNvPr id="5" name="Text 3"/>
          <p:cNvSpPr/>
          <p:nvPr/>
        </p:nvSpPr>
        <p:spPr>
          <a:xfrm>
            <a:off x="1022350" y="2099171"/>
            <a:ext cx="219106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1 unit = 1 metre. Doors 2.1 m, eyes 1.6 m</a:t>
            </a:r>
            <a:endParaRPr lang="en-US" sz="1300" dirty="0"/>
          </a:p>
        </p:txBody>
      </p:sp>
      <p:sp>
        <p:nvSpPr>
          <p:cNvPr id="6" name="Shape 4"/>
          <p:cNvSpPr/>
          <p:nvPr/>
        </p:nvSpPr>
        <p:spPr>
          <a:xfrm>
            <a:off x="3489325" y="1572816"/>
            <a:ext cx="2540000" cy="1425972"/>
          </a:xfrm>
          <a:prstGeom prst="roundRect">
            <a:avLst>
              <a:gd name="adj" fmla="val 6902"/>
            </a:avLst>
          </a:prstGeom>
          <a:solidFill>
            <a:srgbClr val="FBFBFC"/>
          </a:solidFill>
          <a:ln w="6350">
            <a:solidFill>
              <a:srgbClr val="DDE1E6"/>
            </a:solidFill>
            <a:prstDash val="solid"/>
          </a:ln>
        </p:spPr>
      </p:sp>
      <p:sp>
        <p:nvSpPr>
          <p:cNvPr id="7" name="Text 5"/>
          <p:cNvSpPr/>
          <p:nvPr/>
        </p:nvSpPr>
        <p:spPr>
          <a:xfrm>
            <a:off x="3695700" y="1779191"/>
            <a:ext cx="21910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Wayfinding</a:t>
            </a:r>
            <a:endParaRPr lang="en-US" sz="1600" dirty="0"/>
          </a:p>
        </p:txBody>
      </p:sp>
      <p:sp>
        <p:nvSpPr>
          <p:cNvPr id="8" name="Text 6"/>
          <p:cNvSpPr/>
          <p:nvPr/>
        </p:nvSpPr>
        <p:spPr>
          <a:xfrm>
            <a:off x="3695700" y="2099171"/>
            <a:ext cx="219106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A landmark visible from everywhere; light leads the eye</a:t>
            </a:r>
            <a:endParaRPr lang="en-US" sz="1300" dirty="0"/>
          </a:p>
        </p:txBody>
      </p:sp>
      <p:sp>
        <p:nvSpPr>
          <p:cNvPr id="9" name="Shape 7"/>
          <p:cNvSpPr/>
          <p:nvPr/>
        </p:nvSpPr>
        <p:spPr>
          <a:xfrm>
            <a:off x="6162675" y="1572816"/>
            <a:ext cx="2540000" cy="1425972"/>
          </a:xfrm>
          <a:prstGeom prst="roundRect">
            <a:avLst>
              <a:gd name="adj" fmla="val 6902"/>
            </a:avLst>
          </a:prstGeom>
          <a:solidFill>
            <a:srgbClr val="FBFBFC"/>
          </a:solidFill>
          <a:ln w="6350">
            <a:solidFill>
              <a:srgbClr val="DDE1E6"/>
            </a:solidFill>
            <a:prstDash val="solid"/>
          </a:ln>
        </p:spPr>
      </p:sp>
      <p:sp>
        <p:nvSpPr>
          <p:cNvPr id="10" name="Text 8"/>
          <p:cNvSpPr/>
          <p:nvPr/>
        </p:nvSpPr>
        <p:spPr>
          <a:xfrm>
            <a:off x="6369050" y="1779191"/>
            <a:ext cx="21910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Modular kits</a:t>
            </a:r>
            <a:endParaRPr lang="en-US" sz="1600" dirty="0"/>
          </a:p>
        </p:txBody>
      </p:sp>
      <p:sp>
        <p:nvSpPr>
          <p:cNvPr id="11" name="Text 9"/>
          <p:cNvSpPr/>
          <p:nvPr/>
        </p:nvSpPr>
        <p:spPr>
          <a:xfrm>
            <a:off x="6369050" y="2099171"/>
            <a:ext cx="219106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Reusable pieces, shared pivots, snap to grid</a:t>
            </a:r>
            <a:endParaRPr lang="en-US" sz="1300" dirty="0"/>
          </a:p>
        </p:txBody>
      </p:sp>
      <p:sp>
        <p:nvSpPr>
          <p:cNvPr id="12" name="Shape 10"/>
          <p:cNvSpPr/>
          <p:nvPr/>
        </p:nvSpPr>
        <p:spPr>
          <a:xfrm>
            <a:off x="8836025" y="1572816"/>
            <a:ext cx="2540000" cy="1425972"/>
          </a:xfrm>
          <a:prstGeom prst="roundRect">
            <a:avLst>
              <a:gd name="adj" fmla="val 6902"/>
            </a:avLst>
          </a:prstGeom>
          <a:solidFill>
            <a:srgbClr val="FBFBFC"/>
          </a:solidFill>
          <a:ln w="6350">
            <a:solidFill>
              <a:srgbClr val="DDE1E6"/>
            </a:solidFill>
            <a:prstDash val="solid"/>
          </a:ln>
        </p:spPr>
      </p:sp>
      <p:sp>
        <p:nvSpPr>
          <p:cNvPr id="13" name="Text 11"/>
          <p:cNvSpPr/>
          <p:nvPr/>
        </p:nvSpPr>
        <p:spPr>
          <a:xfrm>
            <a:off x="9042400" y="1779191"/>
            <a:ext cx="21910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Budgets</a:t>
            </a:r>
            <a:endParaRPr lang="en-US" sz="1600" dirty="0"/>
          </a:p>
        </p:txBody>
      </p:sp>
      <p:sp>
        <p:nvSpPr>
          <p:cNvPr id="14" name="Text 12"/>
          <p:cNvSpPr/>
          <p:nvPr/>
        </p:nvSpPr>
        <p:spPr>
          <a:xfrm>
            <a:off x="9042400" y="2099171"/>
            <a:ext cx="219106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Set triangle, draw-call and frame-rate targets up front</a:t>
            </a:r>
            <a:endParaRPr lang="en-US" sz="1300" dirty="0"/>
          </a:p>
        </p:txBody>
      </p:sp>
      <p:sp>
        <p:nvSpPr>
          <p:cNvPr id="15" name="Shape 13"/>
          <p:cNvSpPr/>
          <p:nvPr/>
        </p:nvSpPr>
        <p:spPr>
          <a:xfrm>
            <a:off x="815975" y="3132138"/>
            <a:ext cx="2540000" cy="1194891"/>
          </a:xfrm>
          <a:prstGeom prst="roundRect">
            <a:avLst>
              <a:gd name="adj" fmla="val 8237"/>
            </a:avLst>
          </a:prstGeom>
          <a:solidFill>
            <a:srgbClr val="FBFBFC"/>
          </a:solidFill>
          <a:ln w="6350">
            <a:solidFill>
              <a:srgbClr val="DDE1E6"/>
            </a:solidFill>
            <a:prstDash val="solid"/>
          </a:ln>
        </p:spPr>
      </p:sp>
      <p:sp>
        <p:nvSpPr>
          <p:cNvPr id="16" name="Text 14"/>
          <p:cNvSpPr/>
          <p:nvPr/>
        </p:nvSpPr>
        <p:spPr>
          <a:xfrm>
            <a:off x="1022350" y="3338513"/>
            <a:ext cx="21910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One style</a:t>
            </a:r>
            <a:endParaRPr lang="en-US" sz="1600" dirty="0"/>
          </a:p>
        </p:txBody>
      </p:sp>
      <p:sp>
        <p:nvSpPr>
          <p:cNvPr id="17" name="Text 15"/>
          <p:cNvSpPr/>
          <p:nvPr/>
        </p:nvSpPr>
        <p:spPr>
          <a:xfrm>
            <a:off x="1022350" y="3658493"/>
            <a:ext cx="219106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Consistency beats fidelity</a:t>
            </a:r>
            <a:endParaRPr lang="en-US" sz="1300" dirty="0"/>
          </a:p>
        </p:txBody>
      </p:sp>
      <p:sp>
        <p:nvSpPr>
          <p:cNvPr id="18" name="Shape 16"/>
          <p:cNvSpPr/>
          <p:nvPr/>
        </p:nvSpPr>
        <p:spPr>
          <a:xfrm>
            <a:off x="3489325" y="3132138"/>
            <a:ext cx="2540000" cy="1194891"/>
          </a:xfrm>
          <a:prstGeom prst="roundRect">
            <a:avLst>
              <a:gd name="adj" fmla="val 8237"/>
            </a:avLst>
          </a:prstGeom>
          <a:solidFill>
            <a:srgbClr val="FBFBFC"/>
          </a:solidFill>
          <a:ln w="6350">
            <a:solidFill>
              <a:srgbClr val="DDE1E6"/>
            </a:solidFill>
            <a:prstDash val="solid"/>
          </a:ln>
        </p:spPr>
      </p:sp>
      <p:sp>
        <p:nvSpPr>
          <p:cNvPr id="19" name="Text 17"/>
          <p:cNvSpPr/>
          <p:nvPr/>
        </p:nvSpPr>
        <p:spPr>
          <a:xfrm>
            <a:off x="3695700" y="3338513"/>
            <a:ext cx="21910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Licence ledger</a:t>
            </a:r>
            <a:endParaRPr lang="en-US" sz="1600" dirty="0"/>
          </a:p>
        </p:txBody>
      </p:sp>
      <p:sp>
        <p:nvSpPr>
          <p:cNvPr id="20" name="Text 18"/>
          <p:cNvSpPr/>
          <p:nvPr/>
        </p:nvSpPr>
        <p:spPr>
          <a:xfrm>
            <a:off x="3695700" y="3658493"/>
            <a:ext cx="219106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Log the source and licence of every asset</a:t>
            </a:r>
            <a:endParaRPr lang="en-US" sz="1300" dirty="0"/>
          </a:p>
        </p:txBody>
      </p:sp>
      <p:sp>
        <p:nvSpPr>
          <p:cNvPr id="21" name="Shape 19"/>
          <p:cNvSpPr/>
          <p:nvPr/>
        </p:nvSpPr>
        <p:spPr>
          <a:xfrm>
            <a:off x="6162675" y="3132138"/>
            <a:ext cx="2540000" cy="1194891"/>
          </a:xfrm>
          <a:prstGeom prst="roundRect">
            <a:avLst>
              <a:gd name="adj" fmla="val 8237"/>
            </a:avLst>
          </a:prstGeom>
          <a:solidFill>
            <a:srgbClr val="FBFBFC"/>
          </a:solidFill>
          <a:ln w="6350">
            <a:solidFill>
              <a:srgbClr val="DDE1E6"/>
            </a:solidFill>
            <a:prstDash val="solid"/>
          </a:ln>
        </p:spPr>
      </p:sp>
      <p:sp>
        <p:nvSpPr>
          <p:cNvPr id="22" name="Text 20"/>
          <p:cNvSpPr/>
          <p:nvPr/>
        </p:nvSpPr>
        <p:spPr>
          <a:xfrm>
            <a:off x="6369050" y="3338513"/>
            <a:ext cx="21910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Commit small</a:t>
            </a:r>
            <a:endParaRPr lang="en-US" sz="1600" dirty="0"/>
          </a:p>
        </p:txBody>
      </p:sp>
      <p:sp>
        <p:nvSpPr>
          <p:cNvPr id="23" name="Text 21"/>
          <p:cNvSpPr/>
          <p:nvPr/>
        </p:nvSpPr>
        <p:spPr>
          <a:xfrm>
            <a:off x="6369050" y="3658493"/>
            <a:ext cx="233045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0"/>
                </a:solidFill>
                <a:latin typeface="IBM Plex Sans" pitchFamily="34" charset="0"/>
                <a:ea typeface="IBM Plex Sans" pitchFamily="34" charset="-122"/>
                <a:cs typeface="IBM Plex Sans" pitchFamily="34" charset="-120"/>
              </a:rPr>
              <a:t>Version control from day one</a:t>
            </a:r>
            <a:endParaRPr lang="en-US" sz="1300" dirty="0"/>
          </a:p>
        </p:txBody>
      </p:sp>
      <p:sp>
        <p:nvSpPr>
          <p:cNvPr id="24" name="Shape 22"/>
          <p:cNvSpPr/>
          <p:nvPr/>
        </p:nvSpPr>
        <p:spPr>
          <a:xfrm>
            <a:off x="8832850" y="3128963"/>
            <a:ext cx="2546350" cy="1201241"/>
          </a:xfrm>
          <a:prstGeom prst="roundRect">
            <a:avLst>
              <a:gd name="adj" fmla="val 8458"/>
            </a:avLst>
          </a:prstGeom>
          <a:solidFill>
            <a:srgbClr val="2A64C8"/>
          </a:solidFill>
          <a:ln/>
        </p:spPr>
      </p:sp>
      <p:sp>
        <p:nvSpPr>
          <p:cNvPr id="25" name="Text 23"/>
          <p:cNvSpPr/>
          <p:nvPr/>
        </p:nvSpPr>
        <p:spPr>
          <a:xfrm>
            <a:off x="9036050" y="3332163"/>
            <a:ext cx="220414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Scope = truth</a:t>
            </a:r>
            <a:endParaRPr lang="en-US" sz="1600" dirty="0"/>
          </a:p>
        </p:txBody>
      </p:sp>
      <p:sp>
        <p:nvSpPr>
          <p:cNvPr id="26" name="Text 24"/>
          <p:cNvSpPr/>
          <p:nvPr/>
        </p:nvSpPr>
        <p:spPr>
          <a:xfrm>
            <a:off x="9036050" y="3652143"/>
            <a:ext cx="220414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3ECFB"/>
                </a:solidFill>
                <a:latin typeface="IBM Plex Sans" pitchFamily="34" charset="0"/>
                <a:ea typeface="IBM Plex Sans" pitchFamily="34" charset="-122"/>
                <a:cs typeface="IBM Plex Sans" pitchFamily="34" charset="-120"/>
              </a:rPr>
              <a:t>When world and doc disagree, fix one on purpose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317"/>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0A8E8"/>
                </a:solidFill>
                <a:latin typeface="JetBrains Mono" pitchFamily="49" charset="0"/>
                <a:ea typeface="JetBrains Mono" pitchFamily="49" charset="-122"/>
                <a:cs typeface="JetBrains Mono" pitchFamily="49" charset="-120"/>
              </a:rPr>
              <a:t>YOUR TURN · WORLD SEED: CREATE</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Build your world in the browser. No code.</a:t>
            </a:r>
            <a:endParaRPr lang="en-US" sz="3600" dirty="0"/>
          </a:p>
        </p:txBody>
      </p:sp>
      <p:sp>
        <p:nvSpPr>
          <p:cNvPr id="4" name="Shape 2"/>
          <p:cNvSpPr/>
          <p:nvPr/>
        </p:nvSpPr>
        <p:spPr>
          <a:xfrm>
            <a:off x="812800" y="1978521"/>
            <a:ext cx="2546350" cy="1988542"/>
          </a:xfrm>
          <a:prstGeom prst="roundRect">
            <a:avLst>
              <a:gd name="adj" fmla="val 6387"/>
            </a:avLst>
          </a:prstGeom>
          <a:solidFill>
            <a:srgbClr val="1A1E24"/>
          </a:solidFill>
          <a:ln/>
        </p:spPr>
      </p:sp>
      <p:sp>
        <p:nvSpPr>
          <p:cNvPr id="5" name="Shape 3"/>
          <p:cNvSpPr/>
          <p:nvPr/>
        </p:nvSpPr>
        <p:spPr>
          <a:xfrm>
            <a:off x="812800" y="1978521"/>
            <a:ext cx="2546350" cy="1988542"/>
          </a:xfrm>
          <a:custGeom>
            <a:avLst/>
            <a:gdLst/>
            <a:ahLst/>
            <a:cxnLst/>
            <a:rect l="l" t="t" r="r" b="b"/>
            <a:pathLst>
              <a:path w="2546350" h="1988542">
                <a:moveTo>
                  <a:pt x="0" y="127000"/>
                </a:moveTo>
                <a:lnTo>
                  <a:pt x="0" y="127000"/>
                </a:lnTo>
                <a:arcTo hR="127000" wR="127000" stAng="10800000" swAng="5400000"/>
                <a:lnTo>
                  <a:pt x="2419350" y="0"/>
                </a:lnTo>
                <a:arcTo hR="127000" wR="127000" stAng="16200000" swAng="5400000"/>
                <a:lnTo>
                  <a:pt x="2546350" y="127000"/>
                </a:lnTo>
                <a:arcTo hR="101600" wR="127000" stAng="0" swAng="-5400000"/>
                <a:lnTo>
                  <a:pt x="127000" y="25400"/>
                </a:lnTo>
                <a:arcTo hR="101600" wR="127000" stAng="16200000" swAng="-5400000"/>
                <a:close/>
              </a:path>
            </a:pathLst>
          </a:custGeom>
          <a:solidFill>
            <a:srgbClr val="00A8E8"/>
          </a:solidFill>
          <a:ln/>
        </p:spPr>
      </p:sp>
      <p:sp>
        <p:nvSpPr>
          <p:cNvPr id="6" name="Text 4"/>
          <p:cNvSpPr/>
          <p:nvPr/>
        </p:nvSpPr>
        <p:spPr>
          <a:xfrm>
            <a:off x="1041400" y="2232521"/>
            <a:ext cx="215182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1</a:t>
            </a:r>
            <a:endParaRPr lang="en-US" sz="2200" dirty="0"/>
          </a:p>
        </p:txBody>
      </p:sp>
      <p:sp>
        <p:nvSpPr>
          <p:cNvPr id="7" name="Text 5"/>
          <p:cNvSpPr/>
          <p:nvPr/>
        </p:nvSpPr>
        <p:spPr>
          <a:xfrm>
            <a:off x="1041400" y="2712541"/>
            <a:ext cx="21518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Greybox</a:t>
            </a:r>
            <a:endParaRPr lang="en-US" sz="1600" dirty="0"/>
          </a:p>
        </p:txBody>
      </p:sp>
      <p:sp>
        <p:nvSpPr>
          <p:cNvPr id="8" name="Text 6"/>
          <p:cNvSpPr/>
          <p:nvPr/>
        </p:nvSpPr>
        <p:spPr>
          <a:xfrm>
            <a:off x="1041400" y="3045222"/>
            <a:ext cx="2151825"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Block out zones, paths and the landmark with plain shapes</a:t>
            </a:r>
            <a:endParaRPr lang="en-US" sz="1300" dirty="0"/>
          </a:p>
        </p:txBody>
      </p:sp>
      <p:sp>
        <p:nvSpPr>
          <p:cNvPr id="9" name="Shape 7"/>
          <p:cNvSpPr/>
          <p:nvPr/>
        </p:nvSpPr>
        <p:spPr>
          <a:xfrm>
            <a:off x="3486150" y="1978521"/>
            <a:ext cx="2546350" cy="1988542"/>
          </a:xfrm>
          <a:prstGeom prst="roundRect">
            <a:avLst>
              <a:gd name="adj" fmla="val 6387"/>
            </a:avLst>
          </a:prstGeom>
          <a:solidFill>
            <a:srgbClr val="1A1E24"/>
          </a:solidFill>
          <a:ln/>
        </p:spPr>
      </p:sp>
      <p:sp>
        <p:nvSpPr>
          <p:cNvPr id="10" name="Shape 8"/>
          <p:cNvSpPr/>
          <p:nvPr/>
        </p:nvSpPr>
        <p:spPr>
          <a:xfrm>
            <a:off x="3486150" y="1978521"/>
            <a:ext cx="2546350" cy="1988542"/>
          </a:xfrm>
          <a:custGeom>
            <a:avLst/>
            <a:gdLst/>
            <a:ahLst/>
            <a:cxnLst/>
            <a:rect l="l" t="t" r="r" b="b"/>
            <a:pathLst>
              <a:path w="2546350" h="1988542">
                <a:moveTo>
                  <a:pt x="0" y="127000"/>
                </a:moveTo>
                <a:lnTo>
                  <a:pt x="0" y="127000"/>
                </a:lnTo>
                <a:arcTo hR="127000" wR="127000" stAng="10800000" swAng="5400000"/>
                <a:lnTo>
                  <a:pt x="2419350" y="0"/>
                </a:lnTo>
                <a:arcTo hR="127000" wR="127000" stAng="16200000" swAng="5400000"/>
                <a:lnTo>
                  <a:pt x="2546350" y="127000"/>
                </a:lnTo>
                <a:arcTo hR="101600" wR="127000" stAng="0" swAng="-5400000"/>
                <a:lnTo>
                  <a:pt x="127000" y="25400"/>
                </a:lnTo>
                <a:arcTo hR="101600" wR="127000" stAng="16200000" swAng="-5400000"/>
                <a:close/>
              </a:path>
            </a:pathLst>
          </a:custGeom>
          <a:solidFill>
            <a:srgbClr val="00A8E8"/>
          </a:solidFill>
          <a:ln/>
        </p:spPr>
      </p:sp>
      <p:sp>
        <p:nvSpPr>
          <p:cNvPr id="11" name="Text 9"/>
          <p:cNvSpPr/>
          <p:nvPr/>
        </p:nvSpPr>
        <p:spPr>
          <a:xfrm>
            <a:off x="3714750" y="2232521"/>
            <a:ext cx="215182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2</a:t>
            </a:r>
            <a:endParaRPr lang="en-US" sz="2200" dirty="0"/>
          </a:p>
        </p:txBody>
      </p:sp>
      <p:sp>
        <p:nvSpPr>
          <p:cNvPr id="12" name="Text 10"/>
          <p:cNvSpPr/>
          <p:nvPr/>
        </p:nvSpPr>
        <p:spPr>
          <a:xfrm>
            <a:off x="3714750" y="2712541"/>
            <a:ext cx="21518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Dress it</a:t>
            </a:r>
            <a:endParaRPr lang="en-US" sz="1600" dirty="0"/>
          </a:p>
        </p:txBody>
      </p:sp>
      <p:sp>
        <p:nvSpPr>
          <p:cNvPr id="13" name="Text 11"/>
          <p:cNvSpPr/>
          <p:nvPr/>
        </p:nvSpPr>
        <p:spPr>
          <a:xfrm>
            <a:off x="3714750" y="3045222"/>
            <a:ext cx="215182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Add objects, colours and your own GLB models</a:t>
            </a:r>
            <a:endParaRPr lang="en-US" sz="1300" dirty="0"/>
          </a:p>
        </p:txBody>
      </p:sp>
      <p:sp>
        <p:nvSpPr>
          <p:cNvPr id="14" name="Shape 12"/>
          <p:cNvSpPr/>
          <p:nvPr/>
        </p:nvSpPr>
        <p:spPr>
          <a:xfrm>
            <a:off x="6159500" y="1978521"/>
            <a:ext cx="2546350" cy="1988542"/>
          </a:xfrm>
          <a:prstGeom prst="roundRect">
            <a:avLst>
              <a:gd name="adj" fmla="val 6387"/>
            </a:avLst>
          </a:prstGeom>
          <a:solidFill>
            <a:srgbClr val="1A1E24"/>
          </a:solidFill>
          <a:ln/>
        </p:spPr>
      </p:sp>
      <p:sp>
        <p:nvSpPr>
          <p:cNvPr id="15" name="Shape 13"/>
          <p:cNvSpPr/>
          <p:nvPr/>
        </p:nvSpPr>
        <p:spPr>
          <a:xfrm>
            <a:off x="6159500" y="1978521"/>
            <a:ext cx="2546350" cy="1988542"/>
          </a:xfrm>
          <a:custGeom>
            <a:avLst/>
            <a:gdLst/>
            <a:ahLst/>
            <a:cxnLst/>
            <a:rect l="l" t="t" r="r" b="b"/>
            <a:pathLst>
              <a:path w="2546350" h="1988542">
                <a:moveTo>
                  <a:pt x="0" y="127000"/>
                </a:moveTo>
                <a:lnTo>
                  <a:pt x="0" y="127000"/>
                </a:lnTo>
                <a:arcTo hR="127000" wR="127000" stAng="10800000" swAng="5400000"/>
                <a:lnTo>
                  <a:pt x="2419350" y="0"/>
                </a:lnTo>
                <a:arcTo hR="127000" wR="127000" stAng="16200000" swAng="5400000"/>
                <a:lnTo>
                  <a:pt x="2546350" y="127000"/>
                </a:lnTo>
                <a:arcTo hR="101600" wR="127000" stAng="0" swAng="-5400000"/>
                <a:lnTo>
                  <a:pt x="127000" y="25400"/>
                </a:lnTo>
                <a:arcTo hR="101600" wR="127000" stAng="16200000" swAng="-5400000"/>
                <a:close/>
              </a:path>
            </a:pathLst>
          </a:custGeom>
          <a:solidFill>
            <a:srgbClr val="00A8E8"/>
          </a:solidFill>
          <a:ln/>
        </p:spPr>
      </p:sp>
      <p:sp>
        <p:nvSpPr>
          <p:cNvPr id="16" name="Text 14"/>
          <p:cNvSpPr/>
          <p:nvPr/>
        </p:nvSpPr>
        <p:spPr>
          <a:xfrm>
            <a:off x="6388100" y="2232521"/>
            <a:ext cx="215182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3</a:t>
            </a:r>
            <a:endParaRPr lang="en-US" sz="2200" dirty="0"/>
          </a:p>
        </p:txBody>
      </p:sp>
      <p:sp>
        <p:nvSpPr>
          <p:cNvPr id="17" name="Text 15"/>
          <p:cNvSpPr/>
          <p:nvPr/>
        </p:nvSpPr>
        <p:spPr>
          <a:xfrm>
            <a:off x="6388100" y="2712541"/>
            <a:ext cx="21518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Light it</a:t>
            </a:r>
            <a:endParaRPr lang="en-US" sz="1600" dirty="0"/>
          </a:p>
        </p:txBody>
      </p:sp>
      <p:sp>
        <p:nvSpPr>
          <p:cNvPr id="18" name="Text 16"/>
          <p:cNvSpPr/>
          <p:nvPr/>
        </p:nvSpPr>
        <p:spPr>
          <a:xfrm>
            <a:off x="6388100" y="3045222"/>
            <a:ext cx="215182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Set the mood your brief describes</a:t>
            </a:r>
            <a:endParaRPr lang="en-US" sz="1300" dirty="0"/>
          </a:p>
        </p:txBody>
      </p:sp>
      <p:sp>
        <p:nvSpPr>
          <p:cNvPr id="19" name="Shape 17"/>
          <p:cNvSpPr/>
          <p:nvPr/>
        </p:nvSpPr>
        <p:spPr>
          <a:xfrm>
            <a:off x="8832850" y="1978521"/>
            <a:ext cx="2546350" cy="1988542"/>
          </a:xfrm>
          <a:prstGeom prst="roundRect">
            <a:avLst>
              <a:gd name="adj" fmla="val 6387"/>
            </a:avLst>
          </a:prstGeom>
          <a:solidFill>
            <a:srgbClr val="1A1E24"/>
          </a:solidFill>
          <a:ln/>
        </p:spPr>
      </p:sp>
      <p:sp>
        <p:nvSpPr>
          <p:cNvPr id="20" name="Shape 18"/>
          <p:cNvSpPr/>
          <p:nvPr/>
        </p:nvSpPr>
        <p:spPr>
          <a:xfrm>
            <a:off x="8832850" y="1978521"/>
            <a:ext cx="2546350" cy="1988542"/>
          </a:xfrm>
          <a:custGeom>
            <a:avLst/>
            <a:gdLst/>
            <a:ahLst/>
            <a:cxnLst/>
            <a:rect l="l" t="t" r="r" b="b"/>
            <a:pathLst>
              <a:path w="2546350" h="1988542">
                <a:moveTo>
                  <a:pt x="0" y="127000"/>
                </a:moveTo>
                <a:lnTo>
                  <a:pt x="0" y="127000"/>
                </a:lnTo>
                <a:arcTo hR="127000" wR="127000" stAng="10800000" swAng="5400000"/>
                <a:lnTo>
                  <a:pt x="2419350" y="0"/>
                </a:lnTo>
                <a:arcTo hR="127000" wR="127000" stAng="16200000" swAng="5400000"/>
                <a:lnTo>
                  <a:pt x="2546350" y="127000"/>
                </a:lnTo>
                <a:arcTo hR="101600" wR="127000" stAng="0" swAng="-5400000"/>
                <a:lnTo>
                  <a:pt x="127000" y="25400"/>
                </a:lnTo>
                <a:arcTo hR="101600" wR="127000" stAng="16200000" swAng="-5400000"/>
                <a:close/>
              </a:path>
            </a:pathLst>
          </a:custGeom>
          <a:solidFill>
            <a:srgbClr val="00A8E8"/>
          </a:solidFill>
          <a:ln/>
        </p:spPr>
      </p:sp>
      <p:sp>
        <p:nvSpPr>
          <p:cNvPr id="21" name="Text 19"/>
          <p:cNvSpPr/>
          <p:nvPr/>
        </p:nvSpPr>
        <p:spPr>
          <a:xfrm>
            <a:off x="9061450" y="2232521"/>
            <a:ext cx="215182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0A8E8"/>
                </a:solidFill>
                <a:latin typeface="Space Grotesk" pitchFamily="34" charset="0"/>
                <a:ea typeface="Space Grotesk" pitchFamily="34" charset="-122"/>
                <a:cs typeface="Space Grotesk" pitchFamily="34" charset="-120"/>
              </a:rPr>
              <a:t>4</a:t>
            </a:r>
            <a:endParaRPr lang="en-US" sz="2200" dirty="0"/>
          </a:p>
        </p:txBody>
      </p:sp>
      <p:sp>
        <p:nvSpPr>
          <p:cNvPr id="22" name="Text 20"/>
          <p:cNvSpPr/>
          <p:nvPr/>
        </p:nvSpPr>
        <p:spPr>
          <a:xfrm>
            <a:off x="9061450" y="2712541"/>
            <a:ext cx="215182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4F6"/>
                </a:solidFill>
                <a:latin typeface="Space Grotesk" pitchFamily="34" charset="0"/>
                <a:ea typeface="Space Grotesk" pitchFamily="34" charset="-122"/>
                <a:cs typeface="Space Grotesk" pitchFamily="34" charset="-120"/>
              </a:rPr>
              <a:t>Save &amp; view</a:t>
            </a:r>
            <a:endParaRPr lang="en-US" sz="1600" dirty="0"/>
          </a:p>
        </p:txBody>
      </p:sp>
      <p:sp>
        <p:nvSpPr>
          <p:cNvPr id="23" name="Text 21"/>
          <p:cNvSpPr/>
          <p:nvPr/>
        </p:nvSpPr>
        <p:spPr>
          <a:xfrm>
            <a:off x="9061450" y="3045222"/>
            <a:ext cx="215182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7C0CC"/>
                </a:solidFill>
                <a:latin typeface="IBM Plex Sans" pitchFamily="34" charset="0"/>
                <a:ea typeface="IBM Plex Sans" pitchFamily="34" charset="-122"/>
                <a:cs typeface="IBM Plex Sans" pitchFamily="34" charset="-120"/>
              </a:rPr>
              <a:t>Save it, then view your world in the browser</a:t>
            </a:r>
            <a:endParaRPr lang="en-US" sz="1300" dirty="0"/>
          </a:p>
        </p:txBody>
      </p:sp>
      <p:sp>
        <p:nvSpPr>
          <p:cNvPr id="24" name="Text 22"/>
          <p:cNvSpPr/>
          <p:nvPr/>
        </p:nvSpPr>
        <p:spPr>
          <a:xfrm>
            <a:off x="812800" y="427186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4F6"/>
                </a:solidFill>
                <a:latin typeface="IBM Plex Sans" pitchFamily="34" charset="0"/>
                <a:ea typeface="IBM Plex Sans" pitchFamily="34" charset="-122"/>
                <a:cs typeface="IBM Plex Sans" pitchFamily="34" charset="-120"/>
              </a:rPr>
              <a:t>Your World Brief is the plan. Every object should answer to it.</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 HOW WE'LL USE AI TO BUILD</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Vibe coding vs AI co-authoring</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0421"/>
          <a:ext cx="10553700" cy="2063750"/>
        </p:xfrm>
        <a:graphic>
          <a:graphicData uri="http://schemas.openxmlformats.org/drawingml/2006/table">
            <a:tbl>
              <a:tblPr/>
              <a:tblGrid>
                <a:gridCol w="2532888"/>
                <a:gridCol w="4010406"/>
                <a:gridCol w="4010406"/>
              </a:tblGrid>
              <a:tr h="412750">
                <a:tc>
                  <a:txBody>
                    <a:bodyPr/>
                    <a:lstStyle/>
                    <a:p>
                      <a:pPr indent="0" marL="0">
                        <a:lnSpc>
                          <a:spcPts val="2100"/>
                        </a:lnSpc>
                        <a:buNone/>
                      </a:pP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2100"/>
                        </a:lnSpc>
                        <a:buNone/>
                      </a:pPr>
                      <a:r>
                        <a:rPr lang="en-US" sz="1500" b="1" dirty="0">
                          <a:solidFill>
                            <a:srgbClr val="14181D"/>
                          </a:solidFill>
                          <a:latin typeface="IBM Plex Sans" pitchFamily="34" charset="0"/>
                          <a:ea typeface="IBM Plex Sans" pitchFamily="34" charset="-122"/>
                          <a:cs typeface="IBM Plex Sans" pitchFamily="34" charset="-120"/>
                        </a:rPr>
                        <a:t>Vibe coding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c>
                  <a:txBody>
                    <a:bodyPr/>
                    <a:lstStyle/>
                    <a:p>
                      <a:pPr indent="0" marL="0">
                        <a:lnSpc>
                          <a:spcPts val="2100"/>
                        </a:lnSpc>
                        <a:buNone/>
                      </a:pPr>
                      <a:r>
                        <a:rPr lang="en-US" sz="1500" b="1" dirty="0">
                          <a:solidFill>
                            <a:srgbClr val="14181D"/>
                          </a:solidFill>
                          <a:latin typeface="IBM Plex Sans" pitchFamily="34" charset="0"/>
                          <a:ea typeface="IBM Plex Sans" pitchFamily="34" charset="-122"/>
                          <a:cs typeface="IBM Plex Sans" pitchFamily="34" charset="-120"/>
                        </a:rPr>
                        <a:t>AI co-authoring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2E4"/>
                    </a:solidFill>
                  </a:tcPr>
                </a:tc>
              </a:tr>
              <a:tr h="412750">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Who's the author?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The vibes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You are. Your name is on 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The output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Forget it exists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Read it, test it, own 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The goal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Make it look done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Make it right for here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r h="412750">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Best for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Throwaway experiments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c>
                  <a:txBody>
                    <a:bodyPr/>
                    <a:lstStyle/>
                    <a:p>
                      <a:pPr indent="0" marL="0">
                        <a:lnSpc>
                          <a:spcPts val="2100"/>
                        </a:lnSpc>
                        <a:buNone/>
                      </a:pPr>
                      <a:r>
                        <a:rPr lang="en-US" sz="1500" dirty="0">
                          <a:solidFill>
                            <a:srgbClr val="14181D"/>
                          </a:solidFill>
                          <a:latin typeface="IBM Plex Sans" pitchFamily="34" charset="0"/>
                          <a:ea typeface="IBM Plex Sans" pitchFamily="34" charset="-122"/>
                          <a:cs typeface="IBM Plex Sans" pitchFamily="34" charset="-120"/>
                        </a:rPr>
                        <a:t>Anything someone relies 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3C4"/>
                      </a:solidFill>
                      <a:prstDash val="solid"/>
                      <a:round/>
                      <a:headEnd type="none" w="med" len="med"/>
                      <a:tailEnd type="none" w="med" len="med"/>
                    </a:lnL>
                    <a:lnR w="12700" cap="flat" cmpd="sng" algn="ctr">
                      <a:solidFill>
                        <a:srgbClr val="C2C3C4"/>
                      </a:solidFill>
                      <a:prstDash val="solid"/>
                      <a:round/>
                      <a:headEnd type="none" w="med" len="med"/>
                      <a:tailEnd type="none" w="med" len="med"/>
                    </a:lnR>
                    <a:lnT w="12700" cap="flat" cmpd="sng" algn="ctr">
                      <a:solidFill>
                        <a:srgbClr val="C2C3C4"/>
                      </a:solidFill>
                      <a:prstDash val="solid"/>
                      <a:round/>
                      <a:headEnd type="none" w="med" len="med"/>
                      <a:tailEnd type="none" w="med" len="med"/>
                    </a:lnT>
                    <a:lnB w="12700" cap="flat" cmpd="sng" algn="ctr">
                      <a:solidFill>
                        <a:srgbClr val="C2C3C4"/>
                      </a:solidFill>
                      <a:prstDash val="solid"/>
                      <a:round/>
                      <a:headEnd type="none" w="med" len="med"/>
                      <a:tailEnd type="none" w="med" len="med"/>
                    </a:lnB>
                  </a:tcPr>
                </a:tc>
              </a:tr>
            </a:tbl>
          </a:graphicData>
        </a:graphic>
      </p:graphicFrame>
      <p:sp>
        <p:nvSpPr>
          <p:cNvPr id="5" name="Text 2"/>
          <p:cNvSpPr/>
          <p:nvPr/>
        </p:nvSpPr>
        <p:spPr>
          <a:xfrm>
            <a:off x="812800" y="425817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A64C8"/>
                </a:solidFill>
                <a:latin typeface="IBM Plex Sans" pitchFamily="34" charset="0"/>
                <a:ea typeface="IBM Plex Sans" pitchFamily="34" charset="-122"/>
                <a:cs typeface="IBM Plex Sans" pitchFamily="34" charset="-120"/>
              </a:rPr>
              <a:t>Rule of thumb:</a:t>
            </a:r>
            <a:r>
              <a:rPr lang="en-US" sz="1600" dirty="0">
                <a:solidFill>
                  <a:srgbClr val="14181D"/>
                </a:solidFill>
                <a:latin typeface="IBM Plex Sans" pitchFamily="34" charset="0"/>
                <a:ea typeface="IBM Plex Sans" pitchFamily="34" charset="-122"/>
                <a:cs typeface="IBM Plex Sans" pitchFamily="34" charset="-120"/>
              </a:rPr>
              <a:t> if your name is on it, you read all of it.</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IBM Plex Sans" pitchFamily="34" charset="0"/>
                <a:ea typeface="IBM Plex Sans" pitchFamily="34" charset="-122"/>
                <a:cs typeface="IBM Plex Sans" pitchFamily="34" charset="-120"/>
              </a:rPr>
              <a:t>Experienced developers using AI were 19% slower on real tasks, yet believed they were 20% faster. METR randomized trial, July 2025</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OPTIONAL CHALLENGE</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Extend the tool. Grow the world.</a:t>
            </a:r>
            <a:endParaRPr lang="en-US" sz="3600" dirty="0"/>
          </a:p>
        </p:txBody>
      </p:sp>
      <p:sp>
        <p:nvSpPr>
          <p:cNvPr id="4" name="Shape 2"/>
          <p:cNvSpPr/>
          <p:nvPr/>
        </p:nvSpPr>
        <p:spPr>
          <a:xfrm>
            <a:off x="815975" y="1981696"/>
            <a:ext cx="3414117" cy="2261791"/>
          </a:xfrm>
          <a:prstGeom prst="roundRect">
            <a:avLst>
              <a:gd name="adj" fmla="val 4352"/>
            </a:avLst>
          </a:prstGeom>
          <a:solidFill>
            <a:srgbClr val="FBFBFC"/>
          </a:solidFill>
          <a:ln w="6350">
            <a:solidFill>
              <a:srgbClr val="DDE1E6"/>
            </a:solidFill>
            <a:prstDash val="solid"/>
          </a:ln>
        </p:spPr>
      </p:sp>
      <p:pic>
        <p:nvPicPr>
          <p:cNvPr id="5" name="Image 0" descr="Code">    </p:cNvPr>
          <p:cNvPicPr>
            <a:picLocks noChangeAspect="1"/>
          </p:cNvPicPr>
          <p:nvPr/>
        </p:nvPicPr>
        <p:blipFill>
          <a:blip r:embed="rId1"/>
          <a:srcRect l="0" r="0" t="0" b="0"/>
          <a:stretch/>
        </p:blipFill>
        <p:spPr>
          <a:xfrm>
            <a:off x="1073150" y="2238871"/>
            <a:ext cx="355600" cy="355600"/>
          </a:xfrm>
          <a:prstGeom prst="rect">
            <a:avLst/>
          </a:prstGeom>
        </p:spPr>
      </p:pic>
      <p:sp>
        <p:nvSpPr>
          <p:cNvPr id="6" name="Text 3"/>
          <p:cNvSpPr/>
          <p:nvPr/>
        </p:nvSpPr>
        <p:spPr>
          <a:xfrm>
            <a:off x="1073150" y="2696071"/>
            <a:ext cx="29867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Take the repo</a:t>
            </a:r>
            <a:endParaRPr lang="en-US" sz="2200" dirty="0"/>
          </a:p>
        </p:txBody>
      </p:sp>
      <p:sp>
        <p:nvSpPr>
          <p:cNvPr id="7" name="Text 4"/>
          <p:cNvSpPr/>
          <p:nvPr/>
        </p:nvSpPr>
        <p:spPr>
          <a:xfrm>
            <a:off x="1073150" y="3132931"/>
            <a:ext cx="298676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Fork World Seed from GitHub and run it on your machine</a:t>
            </a:r>
            <a:endParaRPr lang="en-US" sz="1600" dirty="0"/>
          </a:p>
        </p:txBody>
      </p:sp>
      <p:sp>
        <p:nvSpPr>
          <p:cNvPr id="8" name="Shape 5"/>
          <p:cNvSpPr/>
          <p:nvPr/>
        </p:nvSpPr>
        <p:spPr>
          <a:xfrm>
            <a:off x="4388842" y="1981696"/>
            <a:ext cx="3414216" cy="2261791"/>
          </a:xfrm>
          <a:prstGeom prst="roundRect">
            <a:avLst>
              <a:gd name="adj" fmla="val 4352"/>
            </a:avLst>
          </a:prstGeom>
          <a:solidFill>
            <a:srgbClr val="FBFBFC"/>
          </a:solidFill>
          <a:ln w="6350">
            <a:solidFill>
              <a:srgbClr val="DDE1E6"/>
            </a:solidFill>
            <a:prstDash val="solid"/>
          </a:ln>
        </p:spPr>
      </p:sp>
      <p:pic>
        <p:nvPicPr>
          <p:cNvPr id="9" name="Image 1" descr="Wrench">    </p:cNvPr>
          <p:cNvPicPr>
            <a:picLocks noChangeAspect="1"/>
          </p:cNvPicPr>
          <p:nvPr/>
        </p:nvPicPr>
        <p:blipFill>
          <a:blip r:embed="rId2"/>
          <a:srcRect l="0" r="0" t="0" b="0"/>
          <a:stretch/>
        </p:blipFill>
        <p:spPr>
          <a:xfrm>
            <a:off x="4646017" y="2238871"/>
            <a:ext cx="355600" cy="355600"/>
          </a:xfrm>
          <a:prstGeom prst="rect">
            <a:avLst/>
          </a:prstGeom>
        </p:spPr>
      </p:pic>
      <p:sp>
        <p:nvSpPr>
          <p:cNvPr id="10" name="Text 6"/>
          <p:cNvSpPr/>
          <p:nvPr/>
        </p:nvSpPr>
        <p:spPr>
          <a:xfrm>
            <a:off x="4646017" y="269607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Extend the tool</a:t>
            </a:r>
            <a:endParaRPr lang="en-US" sz="2200" dirty="0"/>
          </a:p>
        </p:txBody>
      </p:sp>
      <p:sp>
        <p:nvSpPr>
          <p:cNvPr id="11" name="Text 7"/>
          <p:cNvSpPr/>
          <p:nvPr/>
        </p:nvSpPr>
        <p:spPr>
          <a:xfrm>
            <a:off x="4646017" y="3132931"/>
            <a:ext cx="2986862"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Add a feature your world needs: a new object, an interaction, sound</a:t>
            </a:r>
            <a:endParaRPr lang="en-US" sz="1600" dirty="0"/>
          </a:p>
        </p:txBody>
      </p:sp>
      <p:sp>
        <p:nvSpPr>
          <p:cNvPr id="12" name="Shape 8"/>
          <p:cNvSpPr/>
          <p:nvPr/>
        </p:nvSpPr>
        <p:spPr>
          <a:xfrm>
            <a:off x="7958634" y="1978521"/>
            <a:ext cx="3420566" cy="2268141"/>
          </a:xfrm>
          <a:prstGeom prst="roundRect">
            <a:avLst>
              <a:gd name="adj" fmla="val 4479"/>
            </a:avLst>
          </a:prstGeom>
          <a:solidFill>
            <a:srgbClr val="2A64C8"/>
          </a:solidFill>
          <a:ln/>
        </p:spPr>
      </p:sp>
      <p:pic>
        <p:nvPicPr>
          <p:cNvPr id="13" name="Image 2" descr="Globe">    </p:cNvPr>
          <p:cNvPicPr>
            <a:picLocks noChangeAspect="1"/>
          </p:cNvPicPr>
          <p:nvPr/>
        </p:nvPicPr>
        <p:blipFill>
          <a:blip r:embed="rId3"/>
          <a:srcRect l="0" r="0" t="0" b="0"/>
          <a:stretch/>
        </p:blipFill>
        <p:spPr>
          <a:xfrm>
            <a:off x="8212634" y="2232521"/>
            <a:ext cx="355600" cy="355600"/>
          </a:xfrm>
          <a:prstGeom prst="rect">
            <a:avLst/>
          </a:prstGeom>
        </p:spPr>
      </p:pic>
      <p:sp>
        <p:nvSpPr>
          <p:cNvPr id="14" name="Text 9"/>
          <p:cNvSpPr/>
          <p:nvPr/>
        </p:nvSpPr>
        <p:spPr>
          <a:xfrm>
            <a:off x="8212634" y="2689721"/>
            <a:ext cx="299994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4F6"/>
                </a:solidFill>
                <a:latin typeface="Space Grotesk" pitchFamily="34" charset="0"/>
                <a:ea typeface="Space Grotesk" pitchFamily="34" charset="-122"/>
                <a:cs typeface="Space Grotesk" pitchFamily="34" charset="-120"/>
              </a:rPr>
              <a:t>Build bigger</a:t>
            </a:r>
            <a:endParaRPr lang="en-US" sz="2200" dirty="0"/>
          </a:p>
        </p:txBody>
      </p:sp>
      <p:sp>
        <p:nvSpPr>
          <p:cNvPr id="15" name="Text 10"/>
          <p:cNvSpPr/>
          <p:nvPr/>
        </p:nvSpPr>
        <p:spPr>
          <a:xfrm>
            <a:off x="8212634" y="3126581"/>
            <a:ext cx="299994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ECFB"/>
                </a:solidFill>
                <a:latin typeface="IBM Plex Sans" pitchFamily="34" charset="0"/>
                <a:ea typeface="IBM Plex Sans" pitchFamily="34" charset="-122"/>
                <a:cs typeface="IBM Plex Sans" pitchFamily="34" charset="-120"/>
              </a:rPr>
              <a:t>A larger, multi-zone world, published to a link</a:t>
            </a:r>
            <a:endParaRPr lang="en-US" sz="1600" dirty="0"/>
          </a:p>
        </p:txBody>
      </p:sp>
      <p:sp>
        <p:nvSpPr>
          <p:cNvPr id="16" name="Text 11"/>
          <p:cNvSpPr/>
          <p:nvPr/>
        </p:nvSpPr>
        <p:spPr>
          <a:xfrm>
            <a:off x="812800" y="455146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Use Claude Code as a co-author. </a:t>
            </a:r>
            <a:r>
              <a:rPr lang="en-US" sz="1600" b="1" dirty="0">
                <a:solidFill>
                  <a:srgbClr val="2A64C8"/>
                </a:solidFill>
                <a:latin typeface="IBM Plex Sans" pitchFamily="34" charset="0"/>
                <a:ea typeface="IBM Plex Sans" pitchFamily="34" charset="-122"/>
                <a:cs typeface="IBM Plex Sans" pitchFamily="34" charset="-120"/>
              </a:rPr>
              <a:t>Your name is on it, so read every line.</a:t>
            </a:r>
            <a:endParaRPr lang="en-US" sz="1600" dirty="0"/>
          </a:p>
        </p:txBody>
      </p:sp>
      <p:sp>
        <p:nvSpPr>
          <p:cNvPr id="17"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0"/>
                </a:solidFill>
                <a:latin typeface="JetBrains Mono" pitchFamily="49" charset="0"/>
                <a:ea typeface="JetBrains Mono" pitchFamily="49" charset="-122"/>
                <a:cs typeface="JetBrains Mono" pitchFamily="49" charset="-120"/>
              </a:rPr>
              <a:t>github.com/CMDann/digital-world-building</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3F4F6"/>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2A64C8"/>
                </a:solidFill>
                <a:latin typeface="JetBrains Mono" pitchFamily="49" charset="0"/>
                <a:ea typeface="JetBrains Mono" pitchFamily="49" charset="-122"/>
                <a:cs typeface="JetBrains Mono" pitchFamily="49" charset="-120"/>
              </a:rPr>
              <a:t>PLAYTEST · 15 MINUTES</a:t>
            </a:r>
            <a:endParaRPr lang="en-US" sz="1300" dirty="0"/>
          </a:p>
        </p:txBody>
      </p:sp>
      <p:sp>
        <p:nvSpPr>
          <p:cNvPr id="3" name="Text 1"/>
          <p:cNvSpPr/>
          <p:nvPr>
            <p:ph type="title"/>
          </p:nvPr>
        </p:nvSpPr>
        <p:spPr>
          <a:xfrm>
            <a:off x="812800" y="11708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Walk it, then give three notes</a:t>
            </a:r>
            <a:endParaRPr lang="en-US" sz="3600" dirty="0"/>
          </a:p>
        </p:txBody>
      </p:sp>
      <p:sp>
        <p:nvSpPr>
          <p:cNvPr id="4" name="Shape 2"/>
          <p:cNvSpPr/>
          <p:nvPr/>
        </p:nvSpPr>
        <p:spPr>
          <a:xfrm>
            <a:off x="815975" y="2032496"/>
            <a:ext cx="3414117" cy="1977330"/>
          </a:xfrm>
          <a:prstGeom prst="roundRect">
            <a:avLst>
              <a:gd name="adj" fmla="val 4978"/>
            </a:avLst>
          </a:prstGeom>
          <a:solidFill>
            <a:srgbClr val="FBFBFC"/>
          </a:solidFill>
          <a:ln w="6350">
            <a:solidFill>
              <a:srgbClr val="DDE1E6"/>
            </a:solidFill>
            <a:prstDash val="solid"/>
          </a:ln>
        </p:spPr>
      </p:sp>
      <p:pic>
        <p:nvPicPr>
          <p:cNvPr id="5" name="Image 0" descr="ThumbsUp">    </p:cNvPr>
          <p:cNvPicPr>
            <a:picLocks noChangeAspect="1"/>
          </p:cNvPicPr>
          <p:nvPr/>
        </p:nvPicPr>
        <p:blipFill>
          <a:blip r:embed="rId1"/>
          <a:srcRect l="0" r="0" t="0" b="0"/>
          <a:stretch/>
        </p:blipFill>
        <p:spPr>
          <a:xfrm>
            <a:off x="1073150" y="2289671"/>
            <a:ext cx="355600" cy="355600"/>
          </a:xfrm>
          <a:prstGeom prst="rect">
            <a:avLst/>
          </a:prstGeom>
        </p:spPr>
      </p:pic>
      <p:sp>
        <p:nvSpPr>
          <p:cNvPr id="6" name="Text 3"/>
          <p:cNvSpPr/>
          <p:nvPr/>
        </p:nvSpPr>
        <p:spPr>
          <a:xfrm>
            <a:off x="1073150" y="2746871"/>
            <a:ext cx="29867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One that reads</a:t>
            </a:r>
            <a:endParaRPr lang="en-US" sz="2200" dirty="0"/>
          </a:p>
        </p:txBody>
      </p:sp>
      <p:sp>
        <p:nvSpPr>
          <p:cNvPr id="7" name="Text 4"/>
          <p:cNvSpPr/>
          <p:nvPr/>
        </p:nvSpPr>
        <p:spPr>
          <a:xfrm>
            <a:off x="1073150" y="3183731"/>
            <a:ext cx="298676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What did you understand without being told?</a:t>
            </a:r>
            <a:endParaRPr lang="en-US" sz="1600" dirty="0"/>
          </a:p>
        </p:txBody>
      </p:sp>
      <p:sp>
        <p:nvSpPr>
          <p:cNvPr id="8" name="Shape 5"/>
          <p:cNvSpPr/>
          <p:nvPr/>
        </p:nvSpPr>
        <p:spPr>
          <a:xfrm>
            <a:off x="4388842" y="2032496"/>
            <a:ext cx="3414216" cy="1977330"/>
          </a:xfrm>
          <a:prstGeom prst="roundRect">
            <a:avLst>
              <a:gd name="adj" fmla="val 4978"/>
            </a:avLst>
          </a:prstGeom>
          <a:solidFill>
            <a:srgbClr val="FBFBFC"/>
          </a:solidFill>
          <a:ln w="6350">
            <a:solidFill>
              <a:srgbClr val="DDE1E6"/>
            </a:solidFill>
            <a:prstDash val="solid"/>
          </a:ln>
        </p:spPr>
      </p:sp>
      <p:pic>
        <p:nvPicPr>
          <p:cNvPr id="9" name="Image 1" descr="Search">    </p:cNvPr>
          <p:cNvPicPr>
            <a:picLocks noChangeAspect="1"/>
          </p:cNvPicPr>
          <p:nvPr/>
        </p:nvPicPr>
        <p:blipFill>
          <a:blip r:embed="rId2"/>
          <a:srcRect l="0" r="0" t="0" b="0"/>
          <a:stretch/>
        </p:blipFill>
        <p:spPr>
          <a:xfrm>
            <a:off x="4646017" y="2289671"/>
            <a:ext cx="355600" cy="355600"/>
          </a:xfrm>
          <a:prstGeom prst="rect">
            <a:avLst/>
          </a:prstGeom>
        </p:spPr>
      </p:pic>
      <p:sp>
        <p:nvSpPr>
          <p:cNvPr id="10" name="Text 6"/>
          <p:cNvSpPr/>
          <p:nvPr/>
        </p:nvSpPr>
        <p:spPr>
          <a:xfrm>
            <a:off x="4646017" y="274687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One that confuses</a:t>
            </a:r>
            <a:endParaRPr lang="en-US" sz="2200" dirty="0"/>
          </a:p>
        </p:txBody>
      </p:sp>
      <p:sp>
        <p:nvSpPr>
          <p:cNvPr id="11" name="Text 7"/>
          <p:cNvSpPr/>
          <p:nvPr/>
        </p:nvSpPr>
        <p:spPr>
          <a:xfrm>
            <a:off x="4646017" y="3183731"/>
            <a:ext cx="298686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Where did you get lost or stuck?</a:t>
            </a:r>
            <a:endParaRPr lang="en-US" sz="1600" dirty="0"/>
          </a:p>
        </p:txBody>
      </p:sp>
      <p:sp>
        <p:nvSpPr>
          <p:cNvPr id="12" name="Shape 8"/>
          <p:cNvSpPr/>
          <p:nvPr/>
        </p:nvSpPr>
        <p:spPr>
          <a:xfrm>
            <a:off x="7961809" y="2032496"/>
            <a:ext cx="3414216" cy="1977330"/>
          </a:xfrm>
          <a:prstGeom prst="roundRect">
            <a:avLst>
              <a:gd name="adj" fmla="val 4978"/>
            </a:avLst>
          </a:prstGeom>
          <a:solidFill>
            <a:srgbClr val="FBFBFC"/>
          </a:solidFill>
          <a:ln w="6350">
            <a:solidFill>
              <a:srgbClr val="DDE1E6"/>
            </a:solidFill>
            <a:prstDash val="solid"/>
          </a:ln>
        </p:spPr>
      </p:sp>
      <p:pic>
        <p:nvPicPr>
          <p:cNvPr id="13" name="Image 2" descr="Wrench">    </p:cNvPr>
          <p:cNvPicPr>
            <a:picLocks noChangeAspect="1"/>
          </p:cNvPicPr>
          <p:nvPr/>
        </p:nvPicPr>
        <p:blipFill>
          <a:blip r:embed="rId3"/>
          <a:srcRect l="0" r="0" t="0" b="0"/>
          <a:stretch/>
        </p:blipFill>
        <p:spPr>
          <a:xfrm>
            <a:off x="8218984" y="2289671"/>
            <a:ext cx="355600" cy="355600"/>
          </a:xfrm>
          <a:prstGeom prst="rect">
            <a:avLst/>
          </a:prstGeom>
        </p:spPr>
      </p:pic>
      <p:sp>
        <p:nvSpPr>
          <p:cNvPr id="14" name="Text 9"/>
          <p:cNvSpPr/>
          <p:nvPr/>
        </p:nvSpPr>
        <p:spPr>
          <a:xfrm>
            <a:off x="8218984" y="2746871"/>
            <a:ext cx="29868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D"/>
                </a:solidFill>
                <a:latin typeface="Space Grotesk" pitchFamily="34" charset="0"/>
                <a:ea typeface="Space Grotesk" pitchFamily="34" charset="-122"/>
                <a:cs typeface="Space Grotesk" pitchFamily="34" charset="-120"/>
              </a:rPr>
              <a:t>One to cut</a:t>
            </a:r>
            <a:endParaRPr lang="en-US" sz="2200" dirty="0"/>
          </a:p>
        </p:txBody>
      </p:sp>
      <p:sp>
        <p:nvSpPr>
          <p:cNvPr id="15" name="Text 10"/>
          <p:cNvSpPr/>
          <p:nvPr/>
        </p:nvSpPr>
        <p:spPr>
          <a:xfrm>
            <a:off x="8218984" y="3183731"/>
            <a:ext cx="298686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260"/>
                </a:solidFill>
                <a:latin typeface="IBM Plex Sans" pitchFamily="34" charset="0"/>
                <a:ea typeface="IBM Plex Sans" pitchFamily="34" charset="-122"/>
                <a:cs typeface="IBM Plex Sans" pitchFamily="34" charset="-120"/>
              </a:rPr>
              <a:t>What would you remove to make it stronger?</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0131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4F6"/>
                </a:solidFill>
                <a:latin typeface="Space Grotesk" pitchFamily="34" charset="0"/>
                <a:ea typeface="Space Grotesk" pitchFamily="34" charset="-122"/>
                <a:cs typeface="Space Grotesk" pitchFamily="34" charset="-120"/>
              </a:rPr>
              <a:t>The scope is the product before the product</a:t>
            </a:r>
            <a:endParaRPr lang="en-US" sz="3600" dirty="0"/>
          </a:p>
        </p:txBody>
      </p:sp>
      <p:sp>
        <p:nvSpPr>
          <p:cNvPr id="3" name="Shape 1"/>
          <p:cNvSpPr/>
          <p:nvPr/>
        </p:nvSpPr>
        <p:spPr>
          <a:xfrm>
            <a:off x="812800" y="1671241"/>
            <a:ext cx="3048000" cy="1488380"/>
          </a:xfrm>
          <a:prstGeom prst="roundRect">
            <a:avLst>
              <a:gd name="adj" fmla="val 8533"/>
            </a:avLst>
          </a:prstGeom>
          <a:solidFill>
            <a:srgbClr val="1A1E24"/>
          </a:solidFill>
          <a:ln/>
        </p:spPr>
      </p:sp>
      <p:sp>
        <p:nvSpPr>
          <p:cNvPr id="4" name="Text 2"/>
          <p:cNvSpPr/>
          <p:nvPr/>
        </p:nvSpPr>
        <p:spPr>
          <a:xfrm>
            <a:off x="1066800" y="1925241"/>
            <a:ext cx="26162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A8E8"/>
                </a:solidFill>
                <a:latin typeface="Space Grotesk" pitchFamily="34" charset="0"/>
                <a:ea typeface="Space Grotesk" pitchFamily="34" charset="-122"/>
                <a:cs typeface="Space Grotesk" pitchFamily="34" charset="-120"/>
              </a:rPr>
              <a:t>Consider</a:t>
            </a:r>
            <a:endParaRPr lang="en-US" sz="2200" dirty="0"/>
          </a:p>
        </p:txBody>
      </p:sp>
      <p:sp>
        <p:nvSpPr>
          <p:cNvPr id="5" name="Text 3"/>
          <p:cNvSpPr/>
          <p:nvPr/>
        </p:nvSpPr>
        <p:spPr>
          <a:xfrm>
            <a:off x="1066800" y="2336701"/>
            <a:ext cx="26162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Ten questions, answered on purpose</a:t>
            </a:r>
            <a:endParaRPr lang="en-US" sz="1600" dirty="0"/>
          </a:p>
        </p:txBody>
      </p:sp>
      <p:pic>
        <p:nvPicPr>
          <p:cNvPr id="6" name="Image 0" descr="arrow-right">    </p:cNvPr>
          <p:cNvPicPr>
            <a:picLocks noChangeAspect="1"/>
          </p:cNvPicPr>
          <p:nvPr/>
        </p:nvPicPr>
        <p:blipFill>
          <a:blip r:embed="rId1"/>
          <a:srcRect l="0" r="0" t="0" b="0"/>
          <a:stretch/>
        </p:blipFill>
        <p:spPr>
          <a:xfrm>
            <a:off x="4013200" y="2313781"/>
            <a:ext cx="406400" cy="203200"/>
          </a:xfrm>
          <a:prstGeom prst="rect">
            <a:avLst/>
          </a:prstGeom>
        </p:spPr>
      </p:pic>
      <p:sp>
        <p:nvSpPr>
          <p:cNvPr id="7" name="Shape 4"/>
          <p:cNvSpPr/>
          <p:nvPr/>
        </p:nvSpPr>
        <p:spPr>
          <a:xfrm>
            <a:off x="4572000" y="1671241"/>
            <a:ext cx="3048000" cy="1488380"/>
          </a:xfrm>
          <a:prstGeom prst="roundRect">
            <a:avLst>
              <a:gd name="adj" fmla="val 8533"/>
            </a:avLst>
          </a:prstGeom>
          <a:solidFill>
            <a:srgbClr val="1A1E24"/>
          </a:solidFill>
          <a:ln/>
        </p:spPr>
      </p:sp>
      <p:sp>
        <p:nvSpPr>
          <p:cNvPr id="8" name="Text 5"/>
          <p:cNvSpPr/>
          <p:nvPr/>
        </p:nvSpPr>
        <p:spPr>
          <a:xfrm>
            <a:off x="4826000" y="1925241"/>
            <a:ext cx="26162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A8E8"/>
                </a:solidFill>
                <a:latin typeface="Space Grotesk" pitchFamily="34" charset="0"/>
                <a:ea typeface="Space Grotesk" pitchFamily="34" charset="-122"/>
                <a:cs typeface="Space Grotesk" pitchFamily="34" charset="-120"/>
              </a:rPr>
              <a:t>Scope</a:t>
            </a:r>
            <a:endParaRPr lang="en-US" sz="2200" dirty="0"/>
          </a:p>
        </p:txBody>
      </p:sp>
      <p:sp>
        <p:nvSpPr>
          <p:cNvPr id="9" name="Text 6"/>
          <p:cNvSpPr/>
          <p:nvPr/>
        </p:nvSpPr>
        <p:spPr>
          <a:xfrm>
            <a:off x="4826000" y="2336701"/>
            <a:ext cx="26162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Written down, by hand or with AI</a:t>
            </a:r>
            <a:endParaRPr lang="en-US" sz="1600" dirty="0"/>
          </a:p>
        </p:txBody>
      </p:sp>
      <p:pic>
        <p:nvPicPr>
          <p:cNvPr id="10" name="Image 1" descr="arrow-right">    </p:cNvPr>
          <p:cNvPicPr>
            <a:picLocks noChangeAspect="1"/>
          </p:cNvPicPr>
          <p:nvPr/>
        </p:nvPicPr>
        <p:blipFill>
          <a:blip r:embed="rId2"/>
          <a:srcRect l="0" r="0" t="0" b="0"/>
          <a:stretch/>
        </p:blipFill>
        <p:spPr>
          <a:xfrm>
            <a:off x="7772400" y="2313781"/>
            <a:ext cx="406400" cy="203200"/>
          </a:xfrm>
          <a:prstGeom prst="rect">
            <a:avLst/>
          </a:prstGeom>
        </p:spPr>
      </p:pic>
      <p:sp>
        <p:nvSpPr>
          <p:cNvPr id="11" name="Shape 7"/>
          <p:cNvSpPr/>
          <p:nvPr/>
        </p:nvSpPr>
        <p:spPr>
          <a:xfrm>
            <a:off x="8331200" y="1671241"/>
            <a:ext cx="3048000" cy="1488380"/>
          </a:xfrm>
          <a:prstGeom prst="roundRect">
            <a:avLst>
              <a:gd name="adj" fmla="val 8533"/>
            </a:avLst>
          </a:prstGeom>
          <a:solidFill>
            <a:srgbClr val="1A1E24"/>
          </a:solidFill>
          <a:ln/>
        </p:spPr>
      </p:sp>
      <p:sp>
        <p:nvSpPr>
          <p:cNvPr id="12" name="Text 8"/>
          <p:cNvSpPr/>
          <p:nvPr/>
        </p:nvSpPr>
        <p:spPr>
          <a:xfrm>
            <a:off x="8585200" y="1925241"/>
            <a:ext cx="261620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0A8E8"/>
                </a:solidFill>
                <a:latin typeface="Space Grotesk" pitchFamily="34" charset="0"/>
                <a:ea typeface="Space Grotesk" pitchFamily="34" charset="-122"/>
                <a:cs typeface="Space Grotesk" pitchFamily="34" charset="-120"/>
              </a:rPr>
              <a:t>Build</a:t>
            </a:r>
            <a:endParaRPr lang="en-US" sz="2200" dirty="0"/>
          </a:p>
        </p:txBody>
      </p:sp>
      <p:sp>
        <p:nvSpPr>
          <p:cNvPr id="13" name="Text 9"/>
          <p:cNvSpPr/>
          <p:nvPr/>
        </p:nvSpPr>
        <p:spPr>
          <a:xfrm>
            <a:off x="8585200" y="2336701"/>
            <a:ext cx="26162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7C0CC"/>
                </a:solidFill>
                <a:latin typeface="IBM Plex Sans" pitchFamily="34" charset="0"/>
                <a:ea typeface="IBM Plex Sans" pitchFamily="34" charset="-122"/>
                <a:cs typeface="IBM Plex Sans" pitchFamily="34" charset="-120"/>
              </a:rPr>
              <a:t>In stages, to budget, playtested</a:t>
            </a:r>
            <a:endParaRPr lang="en-US" sz="1600" dirty="0"/>
          </a:p>
        </p:txBody>
      </p:sp>
      <p:sp>
        <p:nvSpPr>
          <p:cNvPr id="14" name="Text 10"/>
          <p:cNvSpPr/>
          <p:nvPr/>
        </p:nvSpPr>
        <p:spPr>
          <a:xfrm>
            <a:off x="812800" y="3515221"/>
            <a:ext cx="10883392" cy="3302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F3F4F6"/>
                </a:solidFill>
                <a:latin typeface="IBM Plex Sans" pitchFamily="34" charset="0"/>
                <a:ea typeface="IBM Plex Sans" pitchFamily="34" charset="-122"/>
                <a:cs typeface="IBM Plex Sans" pitchFamily="34" charset="-120"/>
              </a:rPr>
              <a:t>Take home:</a:t>
            </a:r>
            <a:r>
              <a:rPr lang="en-US" sz="1600" dirty="0">
                <a:solidFill>
                  <a:srgbClr val="F3F4F6"/>
                </a:solidFill>
                <a:latin typeface="IBM Plex Sans" pitchFamily="34" charset="0"/>
                <a:ea typeface="IBM Plex Sans" pitchFamily="34" charset="-122"/>
                <a:cs typeface="IBM Plex Sans" pitchFamily="34" charset="-120"/>
              </a:rPr>
              <a:t> the ten questions, the 4 Ds, and a World Brief of your own.</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01317"/>
        </a:solidFill>
      </p:bgPr>
    </p:bg>
    <p:spTree>
      <p:nvGrpSpPr>
        <p:cNvPr id="1" name=""/>
        <p:cNvGrpSpPr/>
        <p:nvPr/>
      </p:nvGrpSpPr>
      <p:grpSpPr>
        <a:xfrm>
          <a:off x="0" y="0"/>
          <a:ext cx="0" cy="0"/>
          <a:chOff x="0" y="0"/>
          <a:chExt cx="0" cy="0"/>
        </a:xfrm>
      </p:grpSpPr>
      <p:pic>
        <p:nvPicPr>
          <p:cNvPr id="2" name="Image 0" descr="Rail bridge crossing a lake in a BSD XR training world">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01317">
                  <a:alpha val="96000"/>
                </a:srgbClr>
              </a:gs>
              <a:gs pos="45000">
                <a:srgbClr val="101317">
                  <a:alpha val="85000"/>
                </a:srgbClr>
              </a:gs>
              <a:gs pos="100000">
                <a:srgbClr val="101317">
                  <a:alpha val="20000"/>
                </a:srgbClr>
              </a:gs>
            </a:gsLst>
            <a:lin ang="16200000" scaled="0"/>
          </a:gradFill>
          <a:ln/>
        </p:spPr>
      </p:sp>
      <p:sp>
        <p:nvSpPr>
          <p:cNvPr id="4" name="Text 1"/>
          <p:cNvSpPr/>
          <p:nvPr>
            <p:ph type="title"/>
          </p:nvPr>
        </p:nvSpPr>
        <p:spPr>
          <a:xfrm>
            <a:off x="812800" y="4229199"/>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F4F6"/>
                </a:solidFill>
                <a:latin typeface="Space Grotesk" pitchFamily="34" charset="0"/>
                <a:ea typeface="Space Grotesk" pitchFamily="34" charset="-122"/>
                <a:cs typeface="Space Grotesk" pitchFamily="34" charset="-120"/>
              </a:rPr>
              <a:t>Go build a world.</a:t>
            </a:r>
            <a:endParaRPr lang="en-US" sz="6000" dirty="0"/>
          </a:p>
        </p:txBody>
      </p:sp>
      <p:sp>
        <p:nvSpPr>
          <p:cNvPr id="5" name="Text 2"/>
          <p:cNvSpPr/>
          <p:nvPr/>
        </p:nvSpPr>
        <p:spPr>
          <a:xfrm>
            <a:off x="812800" y="5194399"/>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7C0CC"/>
                </a:solidFill>
                <a:latin typeface="IBM Plex Sans" pitchFamily="34" charset="0"/>
                <a:ea typeface="IBM Plex Sans" pitchFamily="34" charset="-122"/>
                <a:cs typeface="IBM Plex Sans" pitchFamily="34" charset="-120"/>
              </a:rPr>
              <a:t>Dann Blair · Founder &amp; CTO, BSD XR</a:t>
            </a:r>
            <a:endParaRPr lang="en-US" sz="2200" dirty="0"/>
          </a:p>
        </p:txBody>
      </p:sp>
      <p:sp>
        <p:nvSpPr>
          <p:cNvPr id="6" name="Text 3"/>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A8E8"/>
                </a:solidFill>
                <a:latin typeface="JetBrains Mono" pitchFamily="49" charset="0"/>
                <a:ea typeface="JetBrains Mono" pitchFamily="49" charset="-122"/>
                <a:cs typeface="JetBrains Mono" pitchFamily="49" charset="-120"/>
              </a:rPr>
              <a:t>dann@bsdxr.com · bsdxr.com</a:t>
            </a:r>
            <a:endParaRPr lang="en-US" sz="1600" dirty="0"/>
          </a:p>
        </p:txBody>
      </p:sp>
    </p:spTree>
  </p:cSld>
  <p:clrMapOvr>
    <a:masterClrMapping/>
  </p:clrMapOvr>
</p:sld>
</file>

<file path=ppt/theme/theme1.xml><?xml version="1.0" encoding="utf-8"?>
<a:theme xmlns:a="http://schemas.openxmlformats.org/drawingml/2006/main" name="Digital World Building — RRC Polytech">
  <a:themeElements>
    <a:clrScheme name="Digital World Building — RRC Polytech">
      <a:dk1>
        <a:srgbClr val="14181D"/>
      </a:dk1>
      <a:lt1>
        <a:srgbClr val="F3F4F6"/>
      </a:lt1>
      <a:dk2>
        <a:srgbClr val="4C4F53"/>
      </a:dk2>
      <a:lt2>
        <a:srgbClr val="DDDEE0"/>
      </a:lt2>
      <a:accent1>
        <a:srgbClr val="2A64C8"/>
      </a:accent1>
      <a:accent2>
        <a:srgbClr val="00A8E8"/>
      </a:accent2>
      <a:accent3>
        <a:srgbClr val="1B3D9E"/>
      </a:accent3>
      <a:accent4>
        <a:srgbClr val="7FA6E8"/>
      </a:accent4>
      <a:accent5>
        <a:srgbClr val="3D7FE8"/>
      </a:accent5>
      <a:accent6>
        <a:srgbClr val="1D3554"/>
      </a:accent6>
      <a:hlink>
        <a:srgbClr val="0563C1"/>
      </a:hlink>
      <a:folHlink>
        <a:srgbClr val="954F72"/>
      </a:folHlink>
    </a:clrScheme>
    <a:fontScheme name="Digital World Building — RRC Polytech">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World Building — RRC Polytech</dc:title>
  <dc:subject/>
  <dc:creator/>
  <cp:lastModifiedBy/>
  <cp:revision>1</cp:revision>
  <dcterms:created xsi:type="dcterms:W3CDTF">2026-10-13T04:08:52Z</dcterms:created>
  <dcterms:modified xsi:type="dcterms:W3CDTF">2026-10-13T04:08:52Z</dcterms:modified>
</cp:coreProperties>
</file>